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4"/>
  </p:sldMasterIdLst>
  <p:notesMasterIdLst>
    <p:notesMasterId r:id="rId137"/>
  </p:notesMasterIdLst>
  <p:handoutMasterIdLst>
    <p:handoutMasterId r:id="rId138"/>
  </p:handoutMasterIdLst>
  <p:sldIdLst>
    <p:sldId id="2580" r:id="rId5"/>
    <p:sldId id="2582" r:id="rId6"/>
    <p:sldId id="2583" r:id="rId7"/>
    <p:sldId id="2584" r:id="rId8"/>
    <p:sldId id="2585" r:id="rId9"/>
    <p:sldId id="2586" r:id="rId10"/>
    <p:sldId id="2587" r:id="rId11"/>
    <p:sldId id="2589" r:id="rId12"/>
    <p:sldId id="2590" r:id="rId13"/>
    <p:sldId id="2591" r:id="rId14"/>
    <p:sldId id="2592" r:id="rId15"/>
    <p:sldId id="2593" r:id="rId16"/>
    <p:sldId id="2594" r:id="rId17"/>
    <p:sldId id="2595" r:id="rId18"/>
    <p:sldId id="2597" r:id="rId19"/>
    <p:sldId id="2598" r:id="rId20"/>
    <p:sldId id="2599" r:id="rId21"/>
    <p:sldId id="2600" r:id="rId22"/>
    <p:sldId id="2601" r:id="rId23"/>
    <p:sldId id="2602" r:id="rId24"/>
    <p:sldId id="2603" r:id="rId25"/>
    <p:sldId id="2604" r:id="rId26"/>
    <p:sldId id="2588" r:id="rId27"/>
    <p:sldId id="2606" r:id="rId28"/>
    <p:sldId id="2607" r:id="rId29"/>
    <p:sldId id="2609" r:id="rId30"/>
    <p:sldId id="2610" r:id="rId31"/>
    <p:sldId id="2611" r:id="rId32"/>
    <p:sldId id="2596" r:id="rId33"/>
    <p:sldId id="2612" r:id="rId34"/>
    <p:sldId id="2613" r:id="rId35"/>
    <p:sldId id="2614" r:id="rId36"/>
    <p:sldId id="2615" r:id="rId37"/>
    <p:sldId id="2616" r:id="rId38"/>
    <p:sldId id="2617" r:id="rId39"/>
    <p:sldId id="2618" r:id="rId40"/>
    <p:sldId id="2619" r:id="rId41"/>
    <p:sldId id="2620" r:id="rId42"/>
    <p:sldId id="2621" r:id="rId43"/>
    <p:sldId id="2622" r:id="rId44"/>
    <p:sldId id="2623" r:id="rId45"/>
    <p:sldId id="2624" r:id="rId46"/>
    <p:sldId id="2625" r:id="rId47"/>
    <p:sldId id="2626" r:id="rId48"/>
    <p:sldId id="2628" r:id="rId49"/>
    <p:sldId id="2629" r:id="rId50"/>
    <p:sldId id="2630" r:id="rId51"/>
    <p:sldId id="2631" r:id="rId52"/>
    <p:sldId id="2632" r:id="rId53"/>
    <p:sldId id="2633" r:id="rId54"/>
    <p:sldId id="2634" r:id="rId55"/>
    <p:sldId id="2635" r:id="rId56"/>
    <p:sldId id="2636" r:id="rId57"/>
    <p:sldId id="2637" r:id="rId58"/>
    <p:sldId id="2638" r:id="rId59"/>
    <p:sldId id="2639" r:id="rId60"/>
    <p:sldId id="2641" r:id="rId61"/>
    <p:sldId id="2642" r:id="rId62"/>
    <p:sldId id="2643" r:id="rId63"/>
    <p:sldId id="2644" r:id="rId64"/>
    <p:sldId id="2645" r:id="rId65"/>
    <p:sldId id="2646" r:id="rId66"/>
    <p:sldId id="2581" r:id="rId67"/>
    <p:sldId id="2647" r:id="rId68"/>
    <p:sldId id="2648" r:id="rId69"/>
    <p:sldId id="2649" r:id="rId70"/>
    <p:sldId id="2650" r:id="rId71"/>
    <p:sldId id="2651" r:id="rId72"/>
    <p:sldId id="2652" r:id="rId73"/>
    <p:sldId id="2653" r:id="rId74"/>
    <p:sldId id="2654" r:id="rId75"/>
    <p:sldId id="2655" r:id="rId76"/>
    <p:sldId id="2656" r:id="rId77"/>
    <p:sldId id="2657" r:id="rId78"/>
    <p:sldId id="2659" r:id="rId79"/>
    <p:sldId id="2660" r:id="rId80"/>
    <p:sldId id="2661" r:id="rId81"/>
    <p:sldId id="2605" r:id="rId82"/>
    <p:sldId id="2662" r:id="rId83"/>
    <p:sldId id="2663" r:id="rId84"/>
    <p:sldId id="2664" r:id="rId85"/>
    <p:sldId id="2665" r:id="rId86"/>
    <p:sldId id="2666" r:id="rId87"/>
    <p:sldId id="2667" r:id="rId88"/>
    <p:sldId id="2668" r:id="rId89"/>
    <p:sldId id="2669" r:id="rId90"/>
    <p:sldId id="2670" r:id="rId91"/>
    <p:sldId id="2671" r:id="rId92"/>
    <p:sldId id="2672" r:id="rId93"/>
    <p:sldId id="2674" r:id="rId94"/>
    <p:sldId id="2675" r:id="rId95"/>
    <p:sldId id="2676" r:id="rId96"/>
    <p:sldId id="2677" r:id="rId97"/>
    <p:sldId id="2679" r:id="rId98"/>
    <p:sldId id="2680" r:id="rId99"/>
    <p:sldId id="2681" r:id="rId100"/>
    <p:sldId id="2682" r:id="rId101"/>
    <p:sldId id="2683" r:id="rId102"/>
    <p:sldId id="2684" r:id="rId103"/>
    <p:sldId id="2685" r:id="rId104"/>
    <p:sldId id="2686" r:id="rId105"/>
    <p:sldId id="2687" r:id="rId106"/>
    <p:sldId id="2688" r:id="rId107"/>
    <p:sldId id="2689" r:id="rId108"/>
    <p:sldId id="2690" r:id="rId109"/>
    <p:sldId id="2691" r:id="rId110"/>
    <p:sldId id="2692" r:id="rId111"/>
    <p:sldId id="2693" r:id="rId112"/>
    <p:sldId id="2694" r:id="rId113"/>
    <p:sldId id="2695" r:id="rId114"/>
    <p:sldId id="2696" r:id="rId115"/>
    <p:sldId id="2697" r:id="rId116"/>
    <p:sldId id="2698" r:id="rId117"/>
    <p:sldId id="2699" r:id="rId118"/>
    <p:sldId id="2700" r:id="rId119"/>
    <p:sldId id="2701" r:id="rId120"/>
    <p:sldId id="2702" r:id="rId121"/>
    <p:sldId id="2703" r:id="rId122"/>
    <p:sldId id="2704" r:id="rId123"/>
    <p:sldId id="2705" r:id="rId124"/>
    <p:sldId id="2706" r:id="rId125"/>
    <p:sldId id="2707" r:id="rId126"/>
    <p:sldId id="2708" r:id="rId127"/>
    <p:sldId id="2709" r:id="rId128"/>
    <p:sldId id="2710" r:id="rId129"/>
    <p:sldId id="2711" r:id="rId130"/>
    <p:sldId id="2712" r:id="rId131"/>
    <p:sldId id="2713" r:id="rId132"/>
    <p:sldId id="2714" r:id="rId133"/>
    <p:sldId id="2715" r:id="rId134"/>
    <p:sldId id="2716" r:id="rId135"/>
    <p:sldId id="2717" r:id="rId1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s" id="{C7096EA7-3C19-4043-8044-919E80557B30}">
          <p14:sldIdLst>
            <p14:sldId id="2580"/>
            <p14:sldId id="2582"/>
            <p14:sldId id="2583"/>
            <p14:sldId id="2584"/>
            <p14:sldId id="2585"/>
            <p14:sldId id="2586"/>
            <p14:sldId id="2587"/>
            <p14:sldId id="2589"/>
            <p14:sldId id="2590"/>
            <p14:sldId id="2591"/>
            <p14:sldId id="2592"/>
            <p14:sldId id="2593"/>
            <p14:sldId id="2594"/>
            <p14:sldId id="2595"/>
            <p14:sldId id="2597"/>
            <p14:sldId id="2598"/>
            <p14:sldId id="2599"/>
            <p14:sldId id="2600"/>
            <p14:sldId id="2601"/>
            <p14:sldId id="2602"/>
            <p14:sldId id="2603"/>
            <p14:sldId id="2604"/>
            <p14:sldId id="2588"/>
            <p14:sldId id="2606"/>
            <p14:sldId id="2607"/>
            <p14:sldId id="2609"/>
            <p14:sldId id="2610"/>
            <p14:sldId id="2611"/>
            <p14:sldId id="2596"/>
            <p14:sldId id="2612"/>
            <p14:sldId id="2613"/>
            <p14:sldId id="2614"/>
            <p14:sldId id="2615"/>
            <p14:sldId id="2616"/>
            <p14:sldId id="2617"/>
            <p14:sldId id="2618"/>
            <p14:sldId id="2619"/>
            <p14:sldId id="2620"/>
            <p14:sldId id="2621"/>
            <p14:sldId id="2622"/>
            <p14:sldId id="2623"/>
            <p14:sldId id="2624"/>
            <p14:sldId id="2625"/>
            <p14:sldId id="2626"/>
            <p14:sldId id="2628"/>
            <p14:sldId id="2629"/>
            <p14:sldId id="2630"/>
            <p14:sldId id="2631"/>
            <p14:sldId id="2632"/>
            <p14:sldId id="2633"/>
            <p14:sldId id="2634"/>
            <p14:sldId id="2635"/>
            <p14:sldId id="2636"/>
            <p14:sldId id="2637"/>
            <p14:sldId id="2638"/>
            <p14:sldId id="2639"/>
            <p14:sldId id="2641"/>
            <p14:sldId id="2642"/>
            <p14:sldId id="2643"/>
            <p14:sldId id="2644"/>
            <p14:sldId id="2645"/>
            <p14:sldId id="2646"/>
            <p14:sldId id="2581"/>
            <p14:sldId id="2647"/>
            <p14:sldId id="2648"/>
            <p14:sldId id="2649"/>
            <p14:sldId id="2650"/>
            <p14:sldId id="2651"/>
            <p14:sldId id="2652"/>
            <p14:sldId id="2653"/>
            <p14:sldId id="2654"/>
            <p14:sldId id="2655"/>
            <p14:sldId id="2656"/>
            <p14:sldId id="2657"/>
            <p14:sldId id="2659"/>
            <p14:sldId id="2660"/>
            <p14:sldId id="2661"/>
            <p14:sldId id="2605"/>
            <p14:sldId id="2662"/>
            <p14:sldId id="2663"/>
            <p14:sldId id="2664"/>
            <p14:sldId id="2665"/>
            <p14:sldId id="2666"/>
            <p14:sldId id="2667"/>
            <p14:sldId id="2668"/>
            <p14:sldId id="2669"/>
            <p14:sldId id="2670"/>
            <p14:sldId id="2671"/>
            <p14:sldId id="2672"/>
            <p14:sldId id="2674"/>
            <p14:sldId id="2675"/>
            <p14:sldId id="2676"/>
            <p14:sldId id="2677"/>
            <p14:sldId id="2679"/>
            <p14:sldId id="2680"/>
            <p14:sldId id="2681"/>
            <p14:sldId id="2682"/>
            <p14:sldId id="2683"/>
            <p14:sldId id="2684"/>
            <p14:sldId id="2685"/>
            <p14:sldId id="2686"/>
            <p14:sldId id="2687"/>
            <p14:sldId id="2688"/>
            <p14:sldId id="2689"/>
            <p14:sldId id="2690"/>
            <p14:sldId id="2691"/>
            <p14:sldId id="2692"/>
            <p14:sldId id="2693"/>
            <p14:sldId id="2694"/>
            <p14:sldId id="2695"/>
            <p14:sldId id="2696"/>
            <p14:sldId id="2697"/>
            <p14:sldId id="2698"/>
            <p14:sldId id="2699"/>
            <p14:sldId id="2700"/>
            <p14:sldId id="2701"/>
            <p14:sldId id="2702"/>
            <p14:sldId id="2703"/>
            <p14:sldId id="2704"/>
            <p14:sldId id="2705"/>
            <p14:sldId id="2706"/>
            <p14:sldId id="2707"/>
            <p14:sldId id="2708"/>
            <p14:sldId id="2709"/>
            <p14:sldId id="2710"/>
            <p14:sldId id="2711"/>
            <p14:sldId id="2712"/>
            <p14:sldId id="2713"/>
            <p14:sldId id="2714"/>
            <p14:sldId id="2715"/>
            <p14:sldId id="2716"/>
            <p14:sldId id="2717"/>
          </p14:sldIdLst>
        </p14:section>
        <p14:section name="Optional Layouts" id="{06CC3140-8FC6-084B-A5CE-CF002997860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EF(GHI" userId="S::v-felizabeth@microsoft.com::ba5aea11-28e4-484d-8e49-c15efb1bd2e9" providerId="AD"/>
  <p188:author id="{98C28768-C62F-F64F-6347-87559A624ABE}" name="Kaila Orsucci" initials="K" userId="S::kaila@andersenconsultants.com::11b61a15-dbbf-4176-9673-5e6d6ac372ec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3D"/>
    <a:srgbClr val="6CC24A"/>
    <a:srgbClr val="0079DF"/>
    <a:srgbClr val="0070C0"/>
    <a:srgbClr val="FFFFFF"/>
    <a:srgbClr val="FFC32D"/>
    <a:srgbClr val="00AFEF"/>
    <a:srgbClr val="90C84B"/>
    <a:srgbClr val="F26B35"/>
    <a:srgbClr val="79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96F592-D243-B745-8A8E-3ABE9628FF27}" v="4" dt="2026-07-30T19:10:51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6"/>
    <p:restoredTop sz="94625"/>
  </p:normalViewPr>
  <p:slideViewPr>
    <p:cSldViewPr snapToGrid="0">
      <p:cViewPr varScale="1">
        <p:scale>
          <a:sx n="57" d="100"/>
          <a:sy n="57" d="100"/>
        </p:scale>
        <p:origin x="48" y="10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handoutMaster" Target="handoutMasters/handoutMaster1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slide" Target="slides/slide124.xml"/><Relationship Id="rId144" Type="http://schemas.microsoft.com/office/2018/10/relationships/authors" Target="authors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slide" Target="slides/slide130.xml"/><Relationship Id="rId139" Type="http://schemas.openxmlformats.org/officeDocument/2006/relationships/presProps" Target="pres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tableStyles" Target="tableStyles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6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21396-D1EE-C5D2-51E7-67E6B0231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56E4D-538D-74DD-87CC-5A9D4A19A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BF593-A18E-16B9-2A1E-EC2994C49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47B7D-A8CE-2837-CE50-96492EE13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200231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8ECD5-7424-03F7-54A8-3AF7896A0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865DC-5A8D-2F57-1687-AEE32853F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E0D7D-8322-8799-2110-98889614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CEA0D-AC28-6474-6912-3A4167D0D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175152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BC754-4CD4-D980-BAB5-9AD0306FA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34C8F-EE7E-0ACA-3587-34A702D2D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FE022-8035-06E4-2FE9-BD397B55A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2EB7B-4F6F-3623-982D-EAD23EA78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075463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AD6C2-AAEB-91EC-37FA-D0FDC8703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3AFAA-AE59-3127-6C7D-4284522357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F6B4E-F998-0229-3E11-E7A476BAC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93587-2DA7-5302-4830-7A73CB39F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36950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22BE9-6EA0-64F9-9855-434AE7B7C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1585FC-529F-F649-8307-77350540F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24D30-759D-1656-6D69-4112EC636D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7E983-D5D8-8C1A-1159-7FFECC380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6286042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2187F-9685-255C-1ADD-988CBCB94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9D5F3-D33D-3010-E431-1982063B20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379E36-6EFA-539A-28C3-735B77597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6C259-ABCA-F3C9-131B-01D8D7479E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6787763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S Headshot/Dem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032E92-E690-3EF2-6485-F2DF15E39903}"/>
              </a:ext>
            </a:extLst>
          </p:cNvPr>
          <p:cNvSpPr/>
          <p:nvPr userDrawn="1"/>
        </p:nvSpPr>
        <p:spPr>
          <a:xfrm>
            <a:off x="152401" y="180716"/>
            <a:ext cx="11887199" cy="6496568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06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4D38536-57AB-5EAB-9CE8-9796DAF1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85800"/>
            <a:ext cx="9052560" cy="1508760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160C0A1-5692-F2A8-A18C-A2194E5352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8" y="2286000"/>
            <a:ext cx="10058400" cy="4023360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DFACEC5-4969-F3A0-4BA7-BFFD0245B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10B99AC-155F-3A58-AB62-070ACE105579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464553C6-B8E8-FE32-AF30-0A1591CA3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5D9B330B-7590-B21F-FCF4-74387F173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F40F2BA8-9C33-77BE-CC02-0ED983F5F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909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-roll with Multiple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4E4ACA-29F5-C83F-5764-FD89B1F4E828}"/>
              </a:ext>
            </a:extLst>
          </p:cNvPr>
          <p:cNvSpPr/>
          <p:nvPr userDrawn="1"/>
        </p:nvSpPr>
        <p:spPr>
          <a:xfrm>
            <a:off x="7090064" y="1659491"/>
            <a:ext cx="4587898" cy="4415743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9CCDAF-14B9-0D6E-071B-33A6643E178C}"/>
              </a:ext>
            </a:extLst>
          </p:cNvPr>
          <p:cNvCxnSpPr>
            <a:cxnSpLocks/>
          </p:cNvCxnSpPr>
          <p:nvPr/>
        </p:nvCxnSpPr>
        <p:spPr>
          <a:xfrm>
            <a:off x="-4875379" y="6378417"/>
            <a:ext cx="105156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42">
            <a:extLst>
              <a:ext uri="{FF2B5EF4-FFF2-40B4-BE49-F238E27FC236}">
                <a16:creationId xmlns:a16="http://schemas.microsoft.com/office/drawing/2014/main" id="{C7C7C8E9-FEB4-209E-EAD7-6BC6CB8E95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275" y="1718955"/>
            <a:ext cx="2208612" cy="391061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2">
            <a:extLst>
              <a:ext uri="{FF2B5EF4-FFF2-40B4-BE49-F238E27FC236}">
                <a16:creationId xmlns:a16="http://schemas.microsoft.com/office/drawing/2014/main" id="{BC996D52-2E93-F9D8-A886-A01A83DD1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275" y="2110016"/>
            <a:ext cx="2208612" cy="1466167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2">
            <a:extLst>
              <a:ext uri="{FF2B5EF4-FFF2-40B4-BE49-F238E27FC236}">
                <a16:creationId xmlns:a16="http://schemas.microsoft.com/office/drawing/2014/main" id="{5DC7264E-E2D6-671E-B9C8-A414A85DAE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55771" y="1718955"/>
            <a:ext cx="2208612" cy="391061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3689FD6F-655A-D6A8-1737-574978BD91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55771" y="2110016"/>
            <a:ext cx="2208612" cy="1466167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733429DA-67C0-6FE0-823C-85CE3005BA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9275" y="3742828"/>
            <a:ext cx="2208612" cy="442302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2">
            <a:extLst>
              <a:ext uri="{FF2B5EF4-FFF2-40B4-BE49-F238E27FC236}">
                <a16:creationId xmlns:a16="http://schemas.microsoft.com/office/drawing/2014/main" id="{F67AE1BD-0EA2-83E4-1CDD-25AA52342B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9275" y="4248686"/>
            <a:ext cx="2208612" cy="974250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2">
            <a:extLst>
              <a:ext uri="{FF2B5EF4-FFF2-40B4-BE49-F238E27FC236}">
                <a16:creationId xmlns:a16="http://schemas.microsoft.com/office/drawing/2014/main" id="{C55217DB-FE37-17F4-A822-C83DA878DC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55771" y="3742828"/>
            <a:ext cx="2208612" cy="442302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42">
            <a:extLst>
              <a:ext uri="{FF2B5EF4-FFF2-40B4-BE49-F238E27FC236}">
                <a16:creationId xmlns:a16="http://schemas.microsoft.com/office/drawing/2014/main" id="{5D503262-4B9C-D6DB-D846-CE6423FFF36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55771" y="4248686"/>
            <a:ext cx="2208612" cy="974250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A337E456-4BEB-B2DF-0DF4-D0E9B0DBE4E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49275" y="5433775"/>
            <a:ext cx="5439151" cy="294800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8FE9EA60-14EE-1EE6-7912-4994FB26F3C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9275" y="5792130"/>
            <a:ext cx="5439151" cy="403534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BCFC70CF-89AB-2A62-E0D7-6008642E6B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0029253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059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-roll with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D725A4B-76B5-3FBB-9BAA-70260131915B}"/>
              </a:ext>
            </a:extLst>
          </p:cNvPr>
          <p:cNvSpPr/>
          <p:nvPr userDrawn="1"/>
        </p:nvSpPr>
        <p:spPr>
          <a:xfrm>
            <a:off x="5910834" y="111868"/>
            <a:ext cx="6151294" cy="6634264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46304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19" y="1568741"/>
            <a:ext cx="4847159" cy="460345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627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 with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B49CE33-B8B3-2D75-95E4-7E6D376D8E78}"/>
              </a:ext>
            </a:extLst>
          </p:cNvPr>
          <p:cNvSpPr/>
          <p:nvPr userDrawn="1"/>
        </p:nvSpPr>
        <p:spPr>
          <a:xfrm>
            <a:off x="7327686" y="723129"/>
            <a:ext cx="3817856" cy="5411741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4911D5E0-19C5-9584-815B-507E057942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4431" y="723129"/>
            <a:ext cx="6146586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42">
            <a:extLst>
              <a:ext uri="{FF2B5EF4-FFF2-40B4-BE49-F238E27FC236}">
                <a16:creationId xmlns:a16="http://schemas.microsoft.com/office/drawing/2014/main" id="{10C0D632-510F-3DE6-4496-83F41BABFB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4431" y="1375794"/>
            <a:ext cx="6146586" cy="4759075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54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_with Tex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42">
            <a:extLst>
              <a:ext uri="{FF2B5EF4-FFF2-40B4-BE49-F238E27FC236}">
                <a16:creationId xmlns:a16="http://schemas.microsoft.com/office/drawing/2014/main" id="{16CD5EB2-C966-9CE5-B2EF-DC57A3EDF5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08941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2">
            <a:extLst>
              <a:ext uri="{FF2B5EF4-FFF2-40B4-BE49-F238E27FC236}">
                <a16:creationId xmlns:a16="http://schemas.microsoft.com/office/drawing/2014/main" id="{4D1CD856-FB4D-247B-850C-15FDC2AE30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941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2">
            <a:extLst>
              <a:ext uri="{FF2B5EF4-FFF2-40B4-BE49-F238E27FC236}">
                <a16:creationId xmlns:a16="http://schemas.microsoft.com/office/drawing/2014/main" id="{5EAD42C6-911D-9028-DDDE-ED7EC2EDC6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08941" y="4215848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2">
            <a:extLst>
              <a:ext uri="{FF2B5EF4-FFF2-40B4-BE49-F238E27FC236}">
                <a16:creationId xmlns:a16="http://schemas.microsoft.com/office/drawing/2014/main" id="{D564146D-BC49-92E0-396D-89ED83F08F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08941" y="4548247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2">
            <a:extLst>
              <a:ext uri="{FF2B5EF4-FFF2-40B4-BE49-F238E27FC236}">
                <a16:creationId xmlns:a16="http://schemas.microsoft.com/office/drawing/2014/main" id="{D767864E-6A31-8E42-F96B-9D66308275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13279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2">
            <a:extLst>
              <a:ext uri="{FF2B5EF4-FFF2-40B4-BE49-F238E27FC236}">
                <a16:creationId xmlns:a16="http://schemas.microsoft.com/office/drawing/2014/main" id="{B5436DB4-D46F-AB47-30BA-CDFFB6B49FF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13279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2">
            <a:extLst>
              <a:ext uri="{FF2B5EF4-FFF2-40B4-BE49-F238E27FC236}">
                <a16:creationId xmlns:a16="http://schemas.microsoft.com/office/drawing/2014/main" id="{D2D2CF00-3BEB-912A-7690-FEBD9090DD9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113279" y="4215848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42">
            <a:extLst>
              <a:ext uri="{FF2B5EF4-FFF2-40B4-BE49-F238E27FC236}">
                <a16:creationId xmlns:a16="http://schemas.microsoft.com/office/drawing/2014/main" id="{E164BD6D-AECC-321A-E90D-FF1C0143865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113279" y="4548247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7412933-24E0-59C1-F8F1-B61D91DF16C1}"/>
              </a:ext>
            </a:extLst>
          </p:cNvPr>
          <p:cNvSpPr/>
          <p:nvPr userDrawn="1"/>
        </p:nvSpPr>
        <p:spPr>
          <a:xfrm>
            <a:off x="6235083" y="4215848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3768A1-D02A-96FE-29B5-D21CCF781C0D}"/>
              </a:ext>
            </a:extLst>
          </p:cNvPr>
          <p:cNvSpPr/>
          <p:nvPr userDrawn="1"/>
        </p:nvSpPr>
        <p:spPr>
          <a:xfrm>
            <a:off x="830745" y="4215848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9C4F6D-A0FC-D651-701A-2830B673DC51}"/>
              </a:ext>
            </a:extLst>
          </p:cNvPr>
          <p:cNvSpPr/>
          <p:nvPr userDrawn="1"/>
        </p:nvSpPr>
        <p:spPr>
          <a:xfrm>
            <a:off x="6235083" y="2081241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FDA3E61-FBF4-0B4E-E307-2D0CFB2383AB}"/>
              </a:ext>
            </a:extLst>
          </p:cNvPr>
          <p:cNvSpPr/>
          <p:nvPr userDrawn="1"/>
        </p:nvSpPr>
        <p:spPr>
          <a:xfrm>
            <a:off x="830745" y="2081241"/>
            <a:ext cx="2739716" cy="1730225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EF3240BB-1BE2-D3FA-71B3-6B911A31583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0029253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C1CA91-7871-7EEF-850C-A2E078054761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5" name="Graphic 12">
              <a:extLst>
                <a:ext uri="{FF2B5EF4-FFF2-40B4-BE49-F238E27FC236}">
                  <a16:creationId xmlns:a16="http://schemas.microsoft.com/office/drawing/2014/main" id="{44126652-E4C7-3337-7D65-36D70EF9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" name="Graphic 13">
              <a:extLst>
                <a:ext uri="{FF2B5EF4-FFF2-40B4-BE49-F238E27FC236}">
                  <a16:creationId xmlns:a16="http://schemas.microsoft.com/office/drawing/2014/main" id="{5C7837FF-55AE-5C42-0052-95B901085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" name="Graphic 15">
              <a:extLst>
                <a:ext uri="{FF2B5EF4-FFF2-40B4-BE49-F238E27FC236}">
                  <a16:creationId xmlns:a16="http://schemas.microsoft.com/office/drawing/2014/main" id="{158A825B-27A9-8B2F-5DA2-60C926A3A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681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6" grpId="0" animBg="1"/>
      <p:bldP spid="10" grpId="0" animBg="1"/>
      <p:bldP spid="4" grpId="0" animBg="1"/>
      <p:bldP spid="2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Top with Text O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032E92-E690-3EF2-6485-F2DF15E39903}"/>
              </a:ext>
            </a:extLst>
          </p:cNvPr>
          <p:cNvSpPr/>
          <p:nvPr userDrawn="1"/>
        </p:nvSpPr>
        <p:spPr>
          <a:xfrm>
            <a:off x="152399" y="164032"/>
            <a:ext cx="11887199" cy="4046705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4687536"/>
            <a:ext cx="9973455" cy="9387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5656642"/>
            <a:ext cx="9973455" cy="457200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0072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HS with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FA245D79-8386-DABE-53EC-D23D2D196FB9}"/>
              </a:ext>
            </a:extLst>
          </p:cNvPr>
          <p:cNvSpPr/>
          <p:nvPr userDrawn="1"/>
        </p:nvSpPr>
        <p:spPr>
          <a:xfrm>
            <a:off x="1316427" y="1655064"/>
            <a:ext cx="3649273" cy="3649272"/>
          </a:xfrm>
          <a:prstGeom prst="ellipse">
            <a:avLst/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F46A82-71BF-F4CF-0CCA-F8EDE46E12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5891" y="685800"/>
            <a:ext cx="5910407" cy="175259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C3E55B71-84F9-223B-46EC-202E6DCC1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68946" y="2971800"/>
            <a:ext cx="5910417" cy="320039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685800" indent="-457200">
              <a:buFont typeface="+mj-lt"/>
              <a:buAutoNum type="arabicPeriod"/>
              <a:defRPr sz="1600"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41F9AE9-4D1B-F10A-6C35-328127A91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58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/H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F39E82-A876-DB43-2155-B467EEC7495E}"/>
              </a:ext>
            </a:extLst>
          </p:cNvPr>
          <p:cNvSpPr/>
          <p:nvPr userDrawn="1"/>
        </p:nvSpPr>
        <p:spPr>
          <a:xfrm>
            <a:off x="7010401" y="1721141"/>
            <a:ext cx="4571999" cy="4154370"/>
          </a:xfrm>
          <a:prstGeom prst="roundRect">
            <a:avLst>
              <a:gd name="adj" fmla="val 3969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EFD2888-AFCC-8F6C-23EA-6CC9E518F2B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74430" y="1721141"/>
            <a:ext cx="5977130" cy="415625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D7B2E1-3857-60DC-4A59-90051A146598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695288CE-EA3E-77BC-98EF-17D52D2BB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4" name="Graphic 13">
              <a:extLst>
                <a:ext uri="{FF2B5EF4-FFF2-40B4-BE49-F238E27FC236}">
                  <a16:creationId xmlns:a16="http://schemas.microsoft.com/office/drawing/2014/main" id="{6906A4B7-5DDC-1476-CFD5-2F5DFFD4B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5">
              <a:extLst>
                <a:ext uri="{FF2B5EF4-FFF2-40B4-BE49-F238E27FC236}">
                  <a16:creationId xmlns:a16="http://schemas.microsoft.com/office/drawing/2014/main" id="{4375CD8A-A423-E39D-3A64-2E26D3323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D01C904B-D90B-04B0-5AA7-E2CF9756D89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1007970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898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7B80538-E0C0-8B37-2CBC-715464FE8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442" y="731520"/>
            <a:ext cx="10052958" cy="96259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C0431DD-A630-224B-A787-6BF3732EE15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2400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B9CDF450-BB1A-E96B-F44C-F881C731657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3608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E2D18C-90AA-6695-2849-42F0DF3B0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112520"/>
            <a:ext cx="0" cy="57454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012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pisode Title">
    <p:bg>
      <p:bgPr>
        <a:solidFill>
          <a:srgbClr val="0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EC42AA-27BF-B007-BB04-09C8C9EC4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824" y="1821900"/>
            <a:ext cx="10058376" cy="230332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8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D02356A-0FAC-18A7-430E-172D662A1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824" y="4337220"/>
            <a:ext cx="8229593" cy="123576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341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n'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435440-213B-C667-2EBF-8629860DBD4D}"/>
              </a:ext>
            </a:extLst>
          </p:cNvPr>
          <p:cNvSpPr/>
          <p:nvPr userDrawn="1"/>
        </p:nvSpPr>
        <p:spPr>
          <a:xfrm>
            <a:off x="645111" y="1476738"/>
            <a:ext cx="4039848" cy="471694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>
            <a:noFill/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1833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195401-05E7-2FB1-B1F7-AA9B27AD52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1" y="0"/>
            <a:ext cx="12223751" cy="6858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E2FF643-8127-476F-F25A-C06D05518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893BF79-CC69-E772-9BF9-DAB9ECC07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18FE52-BA7D-6403-12A9-AB2F150B7C18}"/>
              </a:ext>
            </a:extLst>
          </p:cNvPr>
          <p:cNvCxnSpPr>
            <a:cxnSpLocks/>
          </p:cNvCxnSpPr>
          <p:nvPr/>
        </p:nvCxnSpPr>
        <p:spPr>
          <a:xfrm>
            <a:off x="838200" y="6336472"/>
            <a:ext cx="105156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row of different colors&#10;&#10;AI-generated content may be incorrect.">
            <a:extLst>
              <a:ext uri="{FF2B5EF4-FFF2-40B4-BE49-F238E27FC236}">
                <a16:creationId xmlns:a16="http://schemas.microsoft.com/office/drawing/2014/main" id="{51267AAB-D7A7-4439-B78C-82E20D4F0A19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45066" y="2457681"/>
            <a:ext cx="6867093" cy="195173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86F249-C031-21A6-4EBB-289339D6FBBA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97A1ACA9-1A1F-C402-ABCA-CE07E1AF3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348E2D1C-60C8-B3BB-2FD2-73893F612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C29DD7D2-2DD0-8394-2C58-02C9D289F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59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908" r:id="rId2"/>
    <p:sldLayoutId id="2147483960" r:id="rId3"/>
    <p:sldLayoutId id="2147483916" r:id="rId4"/>
    <p:sldLayoutId id="2147483965" r:id="rId5"/>
    <p:sldLayoutId id="2147483967" r:id="rId6"/>
    <p:sldLayoutId id="2147483975" r:id="rId7"/>
    <p:sldLayoutId id="2147483903" r:id="rId8"/>
    <p:sldLayoutId id="2147483923" r:id="rId9"/>
    <p:sldLayoutId id="2147483939" r:id="rId10"/>
    <p:sldLayoutId id="2147483969" r:id="rId11"/>
    <p:sldLayoutId id="214748395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/>
          </a:solidFill>
          <a:latin typeface="Segoe Sans Text ExtraBold" pitchFamily="2" charset="0"/>
          <a:ea typeface="+mj-ea"/>
          <a:cs typeface="Segoe Sans Text ExtraBold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6CC24A"/>
          </p15:clr>
        </p15:guide>
        <p15:guide id="2" pos="3840" userDrawn="1">
          <p15:clr>
            <a:srgbClr val="6CC24A"/>
          </p15:clr>
        </p15:guide>
        <p15:guide id="3" pos="7296" userDrawn="1">
          <p15:clr>
            <a:srgbClr val="6CC24A"/>
          </p15:clr>
        </p15:guide>
        <p15:guide id="4" pos="384" userDrawn="1">
          <p15:clr>
            <a:srgbClr val="6CC24A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9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9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9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9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5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5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9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5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Incident Classification &amp; Severity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04 · Episode 1 — Dr. Michael Solomon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What This Episode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Classification vs. severity</a:t>
            </a:r>
          </a:p>
          <a:p>
            <a:r>
              <a:t>Six-category taxonomy</a:t>
            </a:r>
          </a:p>
          <a:p>
            <a:r>
              <a:t>Five-dimension severity scoring</a:t>
            </a:r>
          </a:p>
          <a:p>
            <a:r>
              <a:t>Response matrix (category × severity)</a:t>
            </a:r>
          </a:p>
          <a:p>
            <a:r>
              <a:t>Mid-incident reclassification</a:t>
            </a:r>
          </a:p>
          <a:p>
            <a:r>
              <a:t>Classification decision record</a:t>
            </a:r>
          </a:p>
          <a:p>
            <a:r>
              <a:t>Four exam failure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Classification Is the Foundation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Determines escalation, SLA, notification, resources</a:t>
            </a:r>
          </a:p>
          <a:p>
            <a:r>
              <a:t>Misclassification = governance failure</a:t>
            </a:r>
          </a:p>
          <a:p>
            <a:r>
              <a:t>Must be documented at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Model integrity — highest impact, persists until remediated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B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Data breach — GDPR 72-hr + EU AI Act notification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C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Service disruption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Privacy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49BFE7-42BA-4A4A-6C59-3299F8FE45E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Six Incident Categories (A–D)</a:t>
            </a:r>
            <a:endParaRPr lang="en-US" b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Categories E–F + Exam Note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E Compliance  ·  F Reputational</a:t>
            </a:r>
          </a:p>
          <a:p>
            <a:r>
              <a:t>Category A persists until remediated; Category B triggers GDPR 72-hr + EU AI Act</a:t>
            </a:r>
          </a:p>
          <a:p>
            <a:r>
              <a:t>Know all six categories + one example each — directly testable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Five-Dimension Severity Scoring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Data sensitivity  ·  User impact  ·  Operational impact</a:t>
            </a:r>
          </a:p>
          <a:p>
            <a:r>
              <a:t>Regulatory exposure  ·  Reputational impact</a:t>
            </a:r>
          </a:p>
          <a:p>
            <a:r>
              <a:t>Each scored 1–5 → aggregate = Low / Medium / High / Critical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Critical → immediate CSO + board notification, BCP activation assessment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 dirty="0">
                <a:latin typeface="Segoe Sans Text"/>
                <a:cs typeface="Segoe Sans Text"/>
              </a:rPr>
              <a:t>High → AI security lead within 1 </a:t>
            </a:r>
            <a:r>
              <a:rPr sz="2000" dirty="0" err="1">
                <a:latin typeface="Segoe Sans Text"/>
                <a:cs typeface="Segoe Sans Text"/>
              </a:rPr>
              <a:t>hr</a:t>
            </a:r>
            <a:r>
              <a:rPr sz="2000" dirty="0">
                <a:latin typeface="Segoe Sans Text"/>
                <a:cs typeface="Segoe Sans Text"/>
              </a:rPr>
              <a:t>, steering committee at next meeting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SEVERITY LEVELS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Procedure 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Category A → red-button assessment</a:t>
            </a:r>
          </a:p>
          <a:p>
            <a:r>
              <a:t>Category B → GDPR/DPO notification, 72-hr clock</a:t>
            </a:r>
          </a:p>
          <a:p>
            <a:r>
              <a:t>Category C → BCP activation assessment</a:t>
            </a:r>
          </a:p>
          <a:p>
            <a:r>
              <a:t>Connects every incident to the right procedure —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Decision Record — 7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Incident ID</a:t>
            </a:r>
          </a:p>
          <a:p>
            <a:r>
              <a:t>Initial classification</a:t>
            </a:r>
          </a:p>
          <a:p>
            <a:r>
              <a:t>Classification rationale</a:t>
            </a:r>
          </a:p>
          <a:p>
            <a:r>
              <a:t>Reclassification log</a:t>
            </a:r>
          </a:p>
          <a:p>
            <a:r>
              <a:t>Regulatory trigger assessment</a:t>
            </a:r>
          </a:p>
          <a:p>
            <a:r>
              <a:t>Classification authority</a:t>
            </a:r>
          </a:p>
          <a:p>
            <a:r>
              <a:t>Closed classification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Incident ID — unique, cross-referenced to asset inventory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Initial classification — category, severity, date/time, officer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dirty="0"/>
              <a:t>Classification rationale — evidence, indicators, dimension scores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Reclassification log — trigger, evidence, approver, timestamp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387F9D8-F612-7EA9-4EAD-61A32E962D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D4F3AD4-9FCC-9A56-274F-F01ABF34E3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Fields 1–4</a:t>
            </a:r>
            <a:endParaRPr lang="en-US" b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Regulatory trigger assessment — obligations, determination, clock position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Classification authority — cannot delegate below AI security lead (tier 1/2)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1652360" y="3648485"/>
            <a:ext cx="2208612" cy="442302"/>
          </a:xfrm>
        </p:spPr>
        <p:txBody>
          <a:bodyPr/>
          <a:lstStyle/>
          <a:p>
            <a:pPr algn="ctr"/>
            <a:r>
              <a:t>7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1652360" y="4089029"/>
            <a:ext cx="2208612" cy="974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t>Closed classification — final category/severity for annual stats &amp; reporting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BBA8916-356E-06A0-1667-2A0CDDB530B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Fields 5–7</a:t>
            </a:r>
            <a:endParaRPr lang="en-US" b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Closing the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rPr dirty="0"/>
              <a:t>Closed classification may differ </a:t>
            </a:r>
            <a:br>
              <a:rPr lang="en-US" dirty="0"/>
            </a:br>
            <a:r>
              <a:rPr dirty="0"/>
              <a:t>from initial</a:t>
            </a:r>
          </a:p>
          <a:p>
            <a:r>
              <a:rPr dirty="0"/>
              <a:t>Regulatory trigger assessment must document the clock position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sz="2800">
                <a:latin typeface="Segoe Sans Text"/>
                <a:cs typeface="Segoe Sans Text"/>
              </a:rPr>
              <a:t>Exam Failure Patterns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rPr dirty="0"/>
              <a:t>1 Misclassification at detection — e.g., discriminatory output miscalled Category C</a:t>
            </a:r>
          </a:p>
          <a:p>
            <a:r>
              <a:rPr dirty="0"/>
              <a:t>Actually Category A + D → wrong SLA, </a:t>
            </a:r>
            <a:br>
              <a:rPr lang="en-US" dirty="0"/>
            </a:br>
            <a:r>
              <a:rPr dirty="0"/>
              <a:t>escalation, notification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Failures 2–3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rPr dirty="0"/>
              <a:t>2 Severity underscored to dodge escalation — score to the 5-dimension framework, not to </a:t>
            </a:r>
            <a:br>
              <a:rPr lang="en-US" dirty="0"/>
            </a:br>
            <a:r>
              <a:rPr dirty="0"/>
              <a:t>avoid consequences</a:t>
            </a:r>
          </a:p>
          <a:p>
            <a:r>
              <a:rPr dirty="0"/>
              <a:t>3 Not updated as investigation reveals more — GDPR clock runs from detection, not reclassification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Module Close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Six categories, one example each</a:t>
            </a:r>
          </a:p>
          <a:p>
            <a:r>
              <a:t>Five severity dimensions</a:t>
            </a:r>
          </a:p>
          <a:p>
            <a:r>
              <a:t>Classification at detection, updated as investigation proceeds</a:t>
            </a:r>
          </a:p>
          <a:p>
            <a:r>
              <a:t>Procedure integration (A/B/C triggers)</a:t>
            </a:r>
          </a:p>
          <a:p>
            <a:r>
              <a:t>Four failure patterns</a:t>
            </a:r>
          </a:p>
          <a:p>
            <a:r>
              <a:t>GDPR clock starts at awareness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AI Resiliency &amp; Business Continuity Planning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04 · Episode 2 — Dr. Michael Solomon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What This Episode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AI resiliency's three pillars</a:t>
            </a:r>
          </a:p>
          <a:p>
            <a:r>
              <a:t>Four AI asset layers</a:t>
            </a:r>
          </a:p>
          <a:p>
            <a:r>
              <a:t>RTO/RPO per system</a:t>
            </a:r>
          </a:p>
          <a:p>
            <a:r>
              <a:t>Three recovery paths</a:t>
            </a:r>
          </a:p>
          <a:p>
            <a:r>
              <a:t>Five required BCP sections</a:t>
            </a:r>
          </a:p>
          <a:p>
            <a:r>
              <a:t>Three BCP test types</a:t>
            </a:r>
          </a:p>
          <a:p>
            <a:r>
              <a:t>Four BCP failure patterns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Standard IT BCP Isn't Enough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Standard IT BCP covers infrastructure only</a:t>
            </a:r>
          </a:p>
          <a:p>
            <a:r>
              <a:t>AI BCP must also cover model artifacts, training data, inference capability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Training data stores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Model registry &amp; artifacts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Inference infrastructure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dirty="0"/>
              <a:t>Governance &amp; monitoring — each layer needs its own </a:t>
            </a:r>
            <a:br>
              <a:rPr lang="en-US" dirty="0"/>
            </a:br>
            <a:r>
              <a:rPr dirty="0"/>
              <a:t>BCP provisions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808FFD7-6BC0-82D5-7F31-41A6ADF7FF3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Four AI Asset Layers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Five Required BCP Sections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Risk assessment  ·  Recovery objectives  ·  Recovery procedures</a:t>
            </a:r>
          </a:p>
          <a:p>
            <a:r>
              <a:t>Testing  ·  Maintenance</a:t>
            </a:r>
          </a:p>
          <a:p>
            <a:r>
              <a:t>RTO/RPO defined per system &amp; per layer — not program-wide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5FA0D-12A0-77B3-19AD-265B3D97D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9D0261-18B4-004F-2E87-82973FA1D55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Three Recovery Path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61C8E-7DFE-E114-8A81-F2B89D509E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Segoe Sans Text"/>
                <a:cs typeface="Segoe Sans Text"/>
              </a:rPr>
              <a:t>Rollback</a:t>
            </a:r>
            <a:endParaRPr lang="en-US" dirty="0">
              <a:latin typeface="Segoe Sans Text"/>
              <a:cs typeface="Segoe Sans Text"/>
            </a:endParaRPr>
          </a:p>
          <a:p>
            <a:pPr lvl="1"/>
            <a:r>
              <a:rPr dirty="0">
                <a:latin typeface="Segoe Sans Text"/>
                <a:cs typeface="Segoe Sans Text"/>
              </a:rPr>
              <a:t>Fastest — needs a verified clean </a:t>
            </a:r>
            <a:r>
              <a:rPr>
                <a:latin typeface="Segoe Sans Text"/>
                <a:cs typeface="Segoe Sans Text"/>
              </a:rPr>
              <a:t>pre-disruption </a:t>
            </a:r>
            <a:br>
              <a:rPr lang="en-US">
                <a:latin typeface="Segoe Sans Text"/>
                <a:cs typeface="Segoe Sans Text"/>
              </a:rPr>
            </a:br>
            <a:r>
              <a:rPr>
                <a:latin typeface="Segoe Sans Text"/>
                <a:cs typeface="Segoe Sans Text"/>
              </a:rPr>
              <a:t>model </a:t>
            </a:r>
            <a:r>
              <a:rPr lang="en-US" dirty="0">
                <a:latin typeface="Segoe Sans Text"/>
                <a:cs typeface="Segoe Sans Text"/>
              </a:rPr>
              <a:t>version</a:t>
            </a:r>
          </a:p>
          <a:p>
            <a:pPr lvl="1"/>
            <a:endParaRPr lang="en-US" dirty="0">
              <a:latin typeface="Segoe Sans Text"/>
              <a:cs typeface="Segoe Sans Text"/>
            </a:endParaRPr>
          </a:p>
          <a:p>
            <a:r>
              <a:rPr lang="en-US" b="1" dirty="0">
                <a:latin typeface="Segoe Sans Text"/>
                <a:cs typeface="Segoe Sans Text"/>
              </a:rPr>
              <a:t>Retraining</a:t>
            </a:r>
            <a:endParaRPr lang="en-US" dirty="0">
              <a:latin typeface="Segoe Sans Text"/>
              <a:cs typeface="Segoe Sans Text"/>
            </a:endParaRPr>
          </a:p>
          <a:p>
            <a:pPr lvl="1"/>
            <a:r>
              <a:rPr lang="en-US" dirty="0">
                <a:latin typeface="Segoe Sans Text"/>
                <a:cs typeface="Segoe Sans Text"/>
              </a:rPr>
              <a:t>Slowest — required when training data integrity </a:t>
            </a:r>
            <a:br>
              <a:rPr lang="en-US" dirty="0">
                <a:latin typeface="Segoe Sans Text"/>
                <a:cs typeface="Segoe Sans Text"/>
              </a:rPr>
            </a:br>
            <a:r>
              <a:rPr lang="en-US" dirty="0">
                <a:latin typeface="Segoe Sans Text"/>
                <a:cs typeface="Segoe Sans Text"/>
              </a:rPr>
              <a:t>is unconfirmed</a:t>
            </a:r>
          </a:p>
          <a:p>
            <a:pPr lvl="1"/>
            <a:endParaRPr lang="en-US" dirty="0">
              <a:latin typeface="Segoe Sans Text"/>
              <a:cs typeface="Segoe Sans Text"/>
            </a:endParaRPr>
          </a:p>
          <a:p>
            <a:r>
              <a:rPr lang="en-US" b="1" dirty="0">
                <a:latin typeface="Segoe Sans Text"/>
                <a:cs typeface="Segoe Sans Text"/>
              </a:rPr>
              <a:t>Manual substitution</a:t>
            </a:r>
            <a:endParaRPr lang="en-US" dirty="0">
              <a:latin typeface="Segoe Sans Text"/>
              <a:cs typeface="Segoe Sans Text"/>
            </a:endParaRPr>
          </a:p>
          <a:p>
            <a:pPr lvl="1"/>
            <a:r>
              <a:rPr lang="en-US" sz="1600" dirty="0">
                <a:latin typeface="Segoe Sans Text"/>
                <a:cs typeface="Segoe Sans Text"/>
              </a:rPr>
              <a:t>Used when recovery isn't possible within RTO — highest operational cost</a:t>
            </a:r>
          </a:p>
          <a:p>
            <a:endParaRPr lang="en-US" sz="1600" b="1" dirty="0">
              <a:latin typeface="Segoe Sans Text"/>
              <a:cs typeface="Segoe Sans Text"/>
            </a:endParaRPr>
          </a:p>
          <a:p>
            <a:endParaRPr lang="en-US" dirty="0">
              <a:latin typeface="Segoe Sans Text"/>
              <a:cs typeface="Segoe Sans Text"/>
            </a:endParaRPr>
          </a:p>
          <a:p>
            <a:endParaRPr lang="en-US" b="1" dirty="0">
              <a:latin typeface="Segoe Sans Text"/>
              <a:cs typeface="Segoe Sans Text"/>
            </a:endParaRPr>
          </a:p>
          <a:p>
            <a:endParaRPr lang="en-US" dirty="0">
              <a:latin typeface="Segoe Sans Text"/>
              <a:cs typeface="Sego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984603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Testing Cadence &amp; Evidence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Tabletop minimum; full failover for tier-1 systems</a:t>
            </a:r>
          </a:p>
          <a:p>
            <a:r>
              <a:t>Annual (tier 1) / biennial (tier 2–3)</a:t>
            </a:r>
          </a:p>
          <a:p>
            <a:r>
              <a:t>Gaps → BCP update obligations</a:t>
            </a:r>
          </a:p>
          <a:p>
            <a:r>
              <a:t>Test records = regulatory evidence for auditors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One tier-1 AI vendor lost → BCP must cover simultaneous loss of every system built on it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Connects to the concentration-risk framework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VENDOR RISK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E7A2F-39E7-9642-C45C-0E68C675D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B15350-7D30-1355-EEA7-F305DC10CB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Three BCP Test Levels</a:t>
            </a:r>
            <a:endParaRPr lang="en-US" b="0">
              <a:latin typeface="Segoe Sans Text"/>
              <a:cs typeface="Segoe Sans Text"/>
            </a:endParaRP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55844-FF69-FA9A-F238-F42EA30751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Segoe Sans Text"/>
                <a:cs typeface="Segoe Sans Text"/>
              </a:rPr>
              <a:t>Tabletop</a:t>
            </a:r>
            <a:endParaRPr lang="en-US">
              <a:latin typeface="Segoe Sans Text"/>
              <a:cs typeface="Segoe Sans Text"/>
            </a:endParaRPr>
          </a:p>
          <a:p>
            <a:pPr lvl="1"/>
            <a:r>
              <a:rPr lang="en-US">
                <a:latin typeface="Segoe Sans Text"/>
                <a:cs typeface="Segoe Sans Text"/>
              </a:rPr>
              <a:t>Discuss the scenario — no systems involved</a:t>
            </a:r>
          </a:p>
          <a:p>
            <a:pPr lvl="1"/>
            <a:endParaRPr lang="en-US" dirty="0">
              <a:latin typeface="Segoe Sans Text"/>
              <a:cs typeface="Segoe Sans Text"/>
            </a:endParaRPr>
          </a:p>
          <a:p>
            <a:r>
              <a:rPr lang="en-US" b="1">
                <a:latin typeface="Segoe Sans Text"/>
                <a:cs typeface="Segoe Sans Text"/>
              </a:rPr>
              <a:t>Simulation</a:t>
            </a:r>
            <a:endParaRPr lang="en-US">
              <a:latin typeface="Segoe Sans Text"/>
              <a:cs typeface="Segoe Sans Text"/>
            </a:endParaRPr>
          </a:p>
          <a:p>
            <a:pPr lvl="1"/>
            <a:r>
              <a:rPr lang="en-US">
                <a:latin typeface="Segoe Sans Text"/>
                <a:cs typeface="Segoe Sans Text"/>
              </a:rPr>
              <a:t>Procedures activated — production unaffected</a:t>
            </a:r>
          </a:p>
          <a:p>
            <a:pPr lvl="1"/>
            <a:endParaRPr lang="en-US" dirty="0">
              <a:latin typeface="Segoe Sans Text"/>
              <a:cs typeface="Segoe Sans Text"/>
            </a:endParaRPr>
          </a:p>
          <a:p>
            <a:r>
              <a:rPr lang="en-US" b="1">
                <a:latin typeface="Segoe Sans Text"/>
                <a:cs typeface="Segoe Sans Text"/>
              </a:rPr>
              <a:t>Full failover</a:t>
            </a:r>
          </a:p>
          <a:p>
            <a:pPr lvl="1"/>
            <a:r>
              <a:rPr lang="en-US">
                <a:latin typeface="Segoe Sans Text"/>
                <a:cs typeface="Segoe Sans Text"/>
              </a:rPr>
              <a:t>Actual cutover — required annually for tier-1</a:t>
            </a:r>
          </a:p>
          <a:p>
            <a:endParaRPr lang="en-US" dirty="0">
              <a:latin typeface="Segoe Sans Text"/>
              <a:cs typeface="Sego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610983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Testing Must Cover All Four Layers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Infra-only tests don't validate model-artifact recovery or the vendor gate</a:t>
            </a:r>
          </a:p>
          <a:p>
            <a:r>
              <a:t>Document expected vs. actual RTO/RPO per layer</a:t>
            </a:r>
          </a:p>
          <a:p>
            <a:r>
              <a:t>Any gap = a BCP update obligation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Four BCP Failure Patterns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1 Covers infrastructure only — e.g., tested data-center recovery</a:t>
            </a:r>
          </a:p>
          <a:p>
            <a:r>
              <a:t>But not model-artifact recovery, training-data restoration, or pre-production V&amp;V — 3 of 4 layers unprotected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Failure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RTO not defined per AI system — e.g., same 4-hr RTO for a consumer-credit model and an internal tool</a:t>
            </a:r>
          </a:p>
          <a:p>
            <a:r>
              <a:t>No proportionality — regulators focus on the high-risk system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Failure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Recovery procedure never tested — e.g., rollback exists on paper only</a:t>
            </a:r>
          </a:p>
          <a:p>
            <a:r>
              <a:t>During a real incident, it referenced a model-registry process changed 6 months earlier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Failure 4 + The Fix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Retraining path not documented — rollback alone can't fix a training-data compromise</a:t>
            </a:r>
          </a:p>
          <a:p>
            <a:r>
              <a:t>Fix: cover all 4 layers · RTO/RPO per system &amp; layer · test annually · document the retraining path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Know Cold for the Exam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4 layers · 3 recovery paths</a:t>
            </a:r>
          </a:p>
          <a:p>
            <a:r>
              <a:t>Retraining required when data integrity is unconfirmed</a:t>
            </a:r>
          </a:p>
          <a:p>
            <a:r>
              <a:t>BCP must be tested, not just documented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Module Close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Four AI asset layers</a:t>
            </a:r>
          </a:p>
          <a:p>
            <a:r>
              <a:t>Five BCP sections</a:t>
            </a:r>
          </a:p>
          <a:p>
            <a:r>
              <a:t>Three recovery paths</a:t>
            </a:r>
          </a:p>
          <a:p>
            <a:r>
              <a:t>Testing obligations &amp; vendor concentration</a:t>
            </a:r>
          </a:p>
          <a:p>
            <a:r>
              <a:t>Four failure patterns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Red Button &amp; Break Glass Controls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04 · Episode 3 — Dr. Michael Solomon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What This Episode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Red button vs. break glass distinction</a:t>
            </a:r>
          </a:p>
          <a:p>
            <a:r>
              <a:t>Red button trigger categories</a:t>
            </a:r>
          </a:p>
          <a:p>
            <a:r>
              <a:t>7-step activation procedure</a:t>
            </a:r>
          </a:p>
          <a:p>
            <a:r>
              <a:t>7 break-glass design requirements</a:t>
            </a:r>
          </a:p>
          <a:p>
            <a:r>
              <a:t>3-category recovery gate</a:t>
            </a:r>
          </a:p>
          <a:p>
            <a:r>
              <a:t>Documentation for both controls</a:t>
            </a:r>
          </a:p>
          <a:p>
            <a:r>
              <a:t>4 exam failure patterns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Core Distinction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Red button → suspends AI operation (restriction)</a:t>
            </a:r>
          </a:p>
          <a:p>
            <a:r>
              <a:t>Break glass → grants emergency access (permission)</a:t>
            </a:r>
          </a:p>
          <a:p>
            <a:r>
              <a:t>Both are pre-designed, not ad hoc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ABDF0-1A3F-690E-F657-61BD941F9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8EEFD7-CA63-B2E6-136D-914E90AE85A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4431" y="723129"/>
            <a:ext cx="6552986" cy="65266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Red Button Trigger Conditions</a:t>
            </a:r>
            <a:endParaRPr lang="en-US" b="0">
              <a:latin typeface="Segoe Sans Text"/>
              <a:cs typeface="Segoe Sans Text"/>
            </a:endParaRPr>
          </a:p>
          <a:p>
            <a:endParaRPr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F00F9-FE87-152C-C03E-3586FB2ADB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latin typeface="Segoe Sans Text"/>
              <a:cs typeface="Segoe Sans Text"/>
            </a:endParaRPr>
          </a:p>
          <a:p>
            <a:r>
              <a:rPr lang="en-US">
                <a:latin typeface="Segoe Sans Text"/>
                <a:cs typeface="Segoe Sans Text"/>
              </a:rPr>
              <a:t>1. </a:t>
            </a:r>
            <a:r>
              <a:rPr lang="en-US" sz="1400">
                <a:latin typeface="Segoe Sans Text"/>
                <a:cs typeface="Segoe Sans Text"/>
              </a:rPr>
              <a:t>Confirmed model compromise</a:t>
            </a:r>
          </a:p>
          <a:p>
            <a:r>
              <a:rPr lang="en-US">
                <a:latin typeface="Segoe Sans Text"/>
                <a:cs typeface="Segoe Sans Text"/>
              </a:rPr>
              <a:t>2. </a:t>
            </a:r>
            <a:r>
              <a:rPr lang="en-US" sz="1400">
                <a:latin typeface="Segoe Sans Text"/>
                <a:cs typeface="Segoe Sans Text"/>
              </a:rPr>
              <a:t>Data poisoning</a:t>
            </a:r>
            <a:endParaRPr lang="en-US"/>
          </a:p>
          <a:p>
            <a:r>
              <a:rPr lang="en-US">
                <a:latin typeface="Segoe Sans Text"/>
                <a:cs typeface="Segoe Sans Text"/>
              </a:rPr>
              <a:t>3.</a:t>
            </a:r>
            <a:r>
              <a:rPr lang="en-US" sz="1400">
                <a:latin typeface="Segoe Sans Text"/>
                <a:cs typeface="Segoe Sans Text"/>
              </a:rPr>
              <a:t> Regulatory directive</a:t>
            </a:r>
          </a:p>
          <a:p>
            <a:r>
              <a:rPr lang="en-US">
                <a:latin typeface="Segoe Sans Text"/>
                <a:cs typeface="Segoe Sans Text"/>
              </a:rPr>
              <a:t>4.</a:t>
            </a:r>
            <a:r>
              <a:rPr lang="en-US" sz="1400">
                <a:latin typeface="Segoe Sans Text"/>
                <a:cs typeface="Segoe Sans Text"/>
              </a:rPr>
              <a:t> Critical safety failure</a:t>
            </a:r>
          </a:p>
          <a:p>
            <a:endParaRPr lang="en-US" sz="1400" dirty="0">
              <a:latin typeface="Segoe Sans Text"/>
              <a:cs typeface="Segoe Sans Text"/>
            </a:endParaRPr>
          </a:p>
          <a:p>
            <a:endParaRPr lang="en-US" sz="1400" dirty="0">
              <a:latin typeface="Segoe Sans Text"/>
              <a:cs typeface="Segoe Sans Text"/>
            </a:endParaRPr>
          </a:p>
          <a:p>
            <a:endParaRPr lang="en-US" sz="1600" b="1" dirty="0">
              <a:latin typeface="Segoe Sans Text"/>
              <a:cs typeface="Segoe Sans Text"/>
            </a:endParaRPr>
          </a:p>
          <a:p>
            <a:endParaRPr lang="en-US" sz="1400" dirty="0">
              <a:latin typeface="Segoe Sans Text"/>
              <a:cs typeface="Segoe Sans Tex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55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BED29-3CBE-EDC0-53D8-F7637BA80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925662-8FD3-E0F0-6B7F-CB32C1D41C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4431" y="723129"/>
            <a:ext cx="6552986" cy="65266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Design Requirements</a:t>
            </a:r>
            <a:endParaRPr lang="en-US" b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8E697-582D-43D7-0858-D673037A8B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latin typeface="Segoe Sans Text"/>
              <a:cs typeface="Segoe Sans Text"/>
            </a:endParaRPr>
          </a:p>
          <a:p>
            <a:r>
              <a:rPr lang="en-US">
                <a:latin typeface="Segoe Sans Text"/>
                <a:cs typeface="Segoe Sans Text"/>
              </a:rPr>
              <a:t>1. </a:t>
            </a:r>
            <a:r>
              <a:rPr lang="en-US" sz="1400">
                <a:latin typeface="Segoe Sans Text"/>
                <a:cs typeface="Segoe Sans Text"/>
              </a:rPr>
              <a:t>Documented triggers</a:t>
            </a:r>
          </a:p>
          <a:p>
            <a:r>
              <a:rPr lang="en-US">
                <a:latin typeface="Segoe Sans Text"/>
                <a:cs typeface="Segoe Sans Text"/>
              </a:rPr>
              <a:t>2. </a:t>
            </a:r>
            <a:r>
              <a:rPr lang="en-US" sz="1400">
                <a:latin typeface="Segoe Sans Text"/>
                <a:cs typeface="Segoe Sans Text"/>
              </a:rPr>
              <a:t>Named activation authority</a:t>
            </a:r>
          </a:p>
          <a:p>
            <a:r>
              <a:rPr lang="en-US">
                <a:latin typeface="Segoe Sans Text"/>
                <a:cs typeface="Segoe Sans Text"/>
              </a:rPr>
              <a:t>3.</a:t>
            </a:r>
            <a:r>
              <a:rPr lang="en-US" sz="1400">
                <a:latin typeface="Segoe Sans Text"/>
                <a:cs typeface="Segoe Sans Text"/>
              </a:rPr>
              <a:t> Defined scope</a:t>
            </a:r>
          </a:p>
          <a:p>
            <a:r>
              <a:rPr lang="en-US">
                <a:latin typeface="Segoe Sans Text"/>
                <a:cs typeface="Segoe Sans Text"/>
              </a:rPr>
              <a:t>4.</a:t>
            </a:r>
            <a:r>
              <a:rPr lang="en-US" sz="1400">
                <a:latin typeface="Segoe Sans Text"/>
                <a:cs typeface="Segoe Sans Text"/>
              </a:rPr>
              <a:t> Suspension procedure</a:t>
            </a:r>
          </a:p>
          <a:p>
            <a:r>
              <a:rPr lang="en-US">
                <a:latin typeface="Segoe Sans Text"/>
                <a:cs typeface="Segoe Sans Text"/>
              </a:rPr>
              <a:t>5.</a:t>
            </a:r>
            <a:r>
              <a:rPr lang="en-US" sz="1400">
                <a:latin typeface="Segoe Sans Text"/>
                <a:cs typeface="Segoe Sans Text"/>
              </a:rPr>
              <a:t> Communication plan</a:t>
            </a:r>
          </a:p>
          <a:p>
            <a:r>
              <a:rPr lang="en-US">
                <a:latin typeface="Segoe Sans Text"/>
                <a:cs typeface="Segoe Sans Text"/>
              </a:rPr>
              <a:t>6.</a:t>
            </a:r>
            <a:r>
              <a:rPr lang="en-US" sz="1400">
                <a:latin typeface="Segoe Sans Text"/>
                <a:cs typeface="Segoe Sans Text"/>
              </a:rPr>
              <a:t> Evidence preservation — before suspension begins</a:t>
            </a:r>
          </a:p>
          <a:p>
            <a:r>
              <a:rPr lang="en-US">
                <a:latin typeface="Segoe Sans Text"/>
                <a:cs typeface="Segoe Sans Text"/>
              </a:rPr>
              <a:t>7.</a:t>
            </a:r>
            <a:r>
              <a:rPr lang="en-US" sz="1400">
                <a:latin typeface="Segoe Sans Text"/>
                <a:cs typeface="Segoe Sans Text"/>
              </a:rPr>
              <a:t> Recovery criteria</a:t>
            </a:r>
          </a:p>
          <a:p>
            <a:endParaRPr lang="en-US" sz="1400" dirty="0">
              <a:latin typeface="Segoe Sans Text"/>
              <a:cs typeface="Segoe Sans Text"/>
            </a:endParaRPr>
          </a:p>
          <a:p>
            <a:endParaRPr lang="en-US" sz="1400" dirty="0">
              <a:latin typeface="Segoe Sans Text"/>
              <a:cs typeface="Segoe Sans Text"/>
            </a:endParaRPr>
          </a:p>
          <a:p>
            <a:endParaRPr lang="en-US" sz="1400" dirty="0">
              <a:latin typeface="Segoe Sans Text"/>
              <a:cs typeface="Segoe Sans Text"/>
            </a:endParaRPr>
          </a:p>
          <a:p>
            <a:endParaRPr lang="en-US" sz="1400" dirty="0">
              <a:latin typeface="Segoe Sans Text"/>
              <a:cs typeface="Segoe Sans Text"/>
            </a:endParaRPr>
          </a:p>
          <a:p>
            <a:endParaRPr lang="en-US" sz="1400" dirty="0">
              <a:latin typeface="Segoe Sans Text"/>
              <a:cs typeface="Segoe Sans Text"/>
            </a:endParaRPr>
          </a:p>
          <a:p>
            <a:endParaRPr lang="en-US" sz="1600" b="1" dirty="0">
              <a:latin typeface="Segoe Sans Text"/>
              <a:cs typeface="Segoe Sans Text"/>
            </a:endParaRPr>
          </a:p>
          <a:p>
            <a:endParaRPr lang="en-US" sz="1400" dirty="0">
              <a:latin typeface="Segoe Sans Text"/>
              <a:cs typeface="Segoe Sans Tex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8815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Break-Glass Procedure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Justification documented → verbal approval → access granted → action logged → post-use review</a:t>
            </a:r>
          </a:p>
          <a:p>
            <a:r>
              <a:t>Access log is immutable evidence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Occurs within 48 hours — review all actions taken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High break-glass frequency = bottleneck signal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POST-USE REVIEW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Connects to Incident Response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Category A incidents trigger red-button assessment</a:t>
            </a:r>
          </a:p>
          <a:p>
            <a:r>
              <a:t>Suspension doesn't end the incident — investigation/recovery run in parallel</a:t>
            </a:r>
          </a:p>
          <a:p>
            <a:r>
              <a:t>Every event needs a governance record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Button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Incident ID</a:t>
            </a:r>
          </a:p>
          <a:p>
            <a:r>
              <a:t>Trigger condition met</a:t>
            </a:r>
          </a:p>
          <a:p>
            <a:r>
              <a:t>Activation timestamp</a:t>
            </a:r>
          </a:p>
          <a:p>
            <a:r>
              <a:t>Activating officer</a:t>
            </a:r>
          </a:p>
          <a:p>
            <a:r>
              <a:t>Scope of suspension</a:t>
            </a:r>
          </a:p>
          <a:p>
            <a:r>
              <a:t>Evidence preserved before activation</a:t>
            </a:r>
          </a:p>
          <a:p>
            <a:r>
              <a:t>Notifications sent (DPO/CSO/Steering)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Justification, documented before access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Verbal approval authority + timestamp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Access timestamp + immutable action log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Post-use review date + findings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A04059-8B16-5471-8A9A-BB4E0366CBD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Break-Glass Record Fields</a:t>
            </a:r>
            <a:endParaRPr lang="en-US" b="0"/>
          </a:p>
          <a:p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Both Are Governance Evidence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Provided to regulators/auditors on request</a:t>
            </a:r>
          </a:p>
          <a:p>
            <a:r>
              <a:t>Retained for the same period as incident records</a:t>
            </a:r>
          </a:p>
          <a:p>
            <a:r>
              <a:t>High frequency = program health signal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sz="2800">
                <a:latin typeface="Segoe Sans Text"/>
                <a:cs typeface="Segoe Sans Text"/>
              </a:rPr>
              <a:t>Exam Failure Patterns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1 Red button triggered without predefined criteria</a:t>
            </a:r>
          </a:p>
          <a:p>
            <a:r>
              <a:t>Defensible decision, but undocumented — governance record incomplete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800">
                <a:latin typeface="Segoe Sans Text"/>
                <a:cs typeface="Segoe Sans Text"/>
              </a:rPr>
              <a:t>Exam Failure Patterns</a:t>
            </a:r>
            <a:endParaRPr lang="en-US" sz="2800" b="0">
              <a:latin typeface="Segoe Sans Text"/>
              <a:cs typeface="Segoe Sans Text"/>
            </a:endParaRPr>
          </a:p>
          <a:p>
            <a:endParaRPr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>
                <a:latin typeface="Segoe Sans Text"/>
                <a:cs typeface="Segoe Sans Text"/>
              </a:rPr>
              <a:t>2</a:t>
            </a:r>
            <a:r>
              <a:rPr lang="en-US">
                <a:latin typeface="Segoe Sans Text"/>
                <a:cs typeface="Segoe Sans Text"/>
              </a:rPr>
              <a:t>.</a:t>
            </a:r>
            <a:r>
              <a:rPr>
                <a:latin typeface="Segoe Sans Text"/>
                <a:cs typeface="Segoe Sans Text"/>
              </a:rPr>
              <a:t> Evidence not preserved before suspension — forensic evidence destroyed</a:t>
            </a:r>
          </a:p>
          <a:p>
            <a:r>
              <a:rPr>
                <a:latin typeface="Segoe Sans Text"/>
                <a:cs typeface="Segoe Sans Text"/>
              </a:rPr>
              <a:t>3</a:t>
            </a:r>
            <a:r>
              <a:rPr lang="en-US">
                <a:latin typeface="Segoe Sans Text"/>
                <a:cs typeface="Segoe Sans Text"/>
              </a:rPr>
              <a:t>.</a:t>
            </a:r>
            <a:r>
              <a:rPr>
                <a:latin typeface="Segoe Sans Text"/>
                <a:cs typeface="Segoe Sans Text"/>
              </a:rPr>
              <a:t> Break-glass not reviewed post-use — actions never audited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Module Close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Restriction vs. permission</a:t>
            </a:r>
          </a:p>
          <a:p>
            <a:r>
              <a:t>7 design requirements</a:t>
            </a:r>
          </a:p>
          <a:p>
            <a:r>
              <a:t>Evidence preservation is step zero</a:t>
            </a:r>
          </a:p>
          <a:p>
            <a:r>
              <a:t>Break-glass review within 48 hrs</a:t>
            </a:r>
          </a:p>
          <a:p>
            <a:r>
              <a:t>Integration with classification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Disaster Recovery for AI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04 · Episode 4 — Dr. Michael Solomon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What This Episode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BCP–DR relationship</a:t>
            </a:r>
          </a:p>
          <a:p>
            <a:r>
              <a:t>Deriving RTO/RPO from business impact</a:t>
            </a:r>
          </a:p>
          <a:p>
            <a:r>
              <a:t>3 DR architecture tiers</a:t>
            </a:r>
          </a:p>
          <a:p>
            <a:r>
              <a:t>5-section DR runbook</a:t>
            </a:r>
          </a:p>
          <a:p>
            <a:r>
              <a:t>5 AI-specific DR challenges</a:t>
            </a:r>
          </a:p>
          <a:p>
            <a:r>
              <a:t>4-level DR test framework</a:t>
            </a:r>
          </a:p>
          <a:p>
            <a:r>
              <a:t>4 failure patterns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BCP vs. DR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BCP → continuity during disruption (organizational)</a:t>
            </a:r>
          </a:p>
          <a:p>
            <a:r>
              <a:t>DR → restoration after catastrophic failure (technical)</a:t>
            </a:r>
          </a:p>
          <a:p>
            <a:r>
              <a:t>DR must cover all 4 AI asset layers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Warm standby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Parallel environment maintained — fastest, highest cost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Cold standby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Backup artifacts maintained, not running — moderate recovery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1862818" y="3430771"/>
            <a:ext cx="2208612" cy="427788"/>
          </a:xfrm>
        </p:spPr>
        <p:txBody>
          <a:bodyPr>
            <a:noAutofit/>
          </a:bodyPr>
          <a:lstStyle/>
          <a:p>
            <a:pPr algn="ctr"/>
            <a:r>
              <a:rPr>
                <a:latin typeface="Segoe Sans Text"/>
                <a:cs typeface="Segoe Sans Text"/>
              </a:rPr>
              <a:t>Rebuild from source</a:t>
            </a:r>
            <a:endParaRPr lang="en-US">
              <a:latin typeface="Segoe Sans Text"/>
              <a:cs typeface="Segoe Sans Tex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1862818" y="3922115"/>
            <a:ext cx="2208612" cy="974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t>Only source data/procedures retained — slowest, lowest cost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D8E11EA-6D38-1727-43FA-DB395F1FED1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Three DR Architecture Tiers</a:t>
            </a:r>
            <a:endParaRPr lang="en-US" b="0"/>
          </a:p>
          <a:p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Tier Assignment Must Match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Architecture tier should match the system's RTO tier</a:t>
            </a:r>
          </a:p>
          <a:p>
            <a:r>
              <a:t>Tier-1 AI systems require warm or cold standby</a:t>
            </a:r>
          </a:p>
          <a:p>
            <a:r>
              <a:t>A DR runbook is required for every tier-1 system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DR Runbook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System description &amp; dependencies</a:t>
            </a:r>
          </a:p>
          <a:p>
            <a:r>
              <a:t>RTO/RPO targets per layer</a:t>
            </a:r>
          </a:p>
          <a:p>
            <a:r>
              <a:t>Recovery procedures per layer</a:t>
            </a:r>
          </a:p>
          <a:p>
            <a:r>
              <a:t>Testing schedule &amp; results</a:t>
            </a:r>
          </a:p>
          <a:p>
            <a:r>
              <a:t>Owner, review date, approval authority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Testing Cadence &amp; Evidence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Annual full DR test for tier-1; tabletop minimum for tier 2/3</a:t>
            </a:r>
          </a:p>
          <a:p>
            <a:r>
              <a:t>Must cover all 4 asset layers</a:t>
            </a:r>
          </a:p>
          <a:p>
            <a:r>
              <a:t>Gaps → runbook update obligations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V&amp;V report required on the recovered system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DR recovery does not bypass the architecture review checklist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V&amp;V GATE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D3B87-5F69-508E-87F6-7D61A241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D2A7F9-E8F2-F34A-9742-454411508DA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800">
                <a:latin typeface="Segoe Sans Text"/>
                <a:cs typeface="Segoe Sans Text"/>
              </a:rPr>
              <a:t>Three DR Test Levels</a:t>
            </a:r>
            <a:endParaRPr lang="en-US" sz="2800" b="0">
              <a:latin typeface="Segoe Sans Text"/>
              <a:cs typeface="Segoe Sans Text"/>
            </a:endParaRPr>
          </a:p>
          <a:p>
            <a:endParaRPr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8DE3B-12F7-994A-D847-95F1C27B43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Segoe Sans Text"/>
                <a:cs typeface="Segoe Sans Text"/>
              </a:rPr>
              <a:t>Walkthrough</a:t>
            </a:r>
            <a:endParaRPr lang="en-US" b="1"/>
          </a:p>
          <a:p>
            <a:pPr lvl="1"/>
            <a:r>
              <a:rPr lang="en-US">
                <a:latin typeface="Segoe Sans Text"/>
                <a:cs typeface="Segoe Sans Text"/>
              </a:rPr>
              <a:t>Review the runbook for accuracy and completeness</a:t>
            </a:r>
          </a:p>
          <a:p>
            <a:pPr lvl="1"/>
            <a:endParaRPr lang="en-US" dirty="0">
              <a:latin typeface="Segoe Sans Text"/>
              <a:cs typeface="Segoe Sans Text"/>
            </a:endParaRPr>
          </a:p>
          <a:p>
            <a:r>
              <a:rPr lang="en-US" b="1">
                <a:latin typeface="Segoe Sans Text"/>
                <a:cs typeface="Segoe Sans Text"/>
              </a:rPr>
              <a:t>Component test</a:t>
            </a:r>
          </a:p>
          <a:p>
            <a:pPr lvl="1"/>
            <a:r>
              <a:rPr lang="en-US">
                <a:latin typeface="Segoe Sans Text"/>
                <a:cs typeface="Segoe Sans Text"/>
              </a:rPr>
              <a:t>Test individual recovery steps — no full cutover</a:t>
            </a:r>
          </a:p>
          <a:p>
            <a:pPr lvl="1"/>
            <a:endParaRPr lang="en-US" dirty="0">
              <a:latin typeface="Segoe Sans Text"/>
              <a:cs typeface="Segoe Sans Text"/>
            </a:endParaRPr>
          </a:p>
          <a:p>
            <a:r>
              <a:rPr lang="en-US" b="1">
                <a:latin typeface="Segoe Sans Text"/>
                <a:cs typeface="Segoe Sans Text"/>
              </a:rPr>
              <a:t>Full DR test</a:t>
            </a:r>
            <a:endParaRPr lang="en-US">
              <a:latin typeface="Segoe Sans Text"/>
              <a:cs typeface="Segoe Sans Text"/>
            </a:endParaRPr>
          </a:p>
          <a:p>
            <a:pPr lvl="1"/>
            <a:r>
              <a:rPr lang="en-US">
                <a:latin typeface="Segoe Sans Text"/>
                <a:cs typeface="Segoe Sans Text"/>
              </a:rPr>
              <a:t>Complete failover to the recovery environment</a:t>
            </a:r>
          </a:p>
          <a:p>
            <a:endParaRPr lang="en-US" sz="1600" b="1" dirty="0"/>
          </a:p>
          <a:p>
            <a:endParaRPr lang="en-US" sz="1400" dirty="0"/>
          </a:p>
          <a:p>
            <a:endParaRPr lang="en-US" sz="1600" b="1" dirty="0"/>
          </a:p>
          <a:p>
            <a:endParaRPr lang="en-US" sz="1400" dirty="0"/>
          </a:p>
          <a:p>
            <a:endParaRPr lang="en-US" sz="16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9570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Full Coverage, Every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Annual full test for tier-1; component test minimum for tier 2/3</a:t>
            </a:r>
          </a:p>
          <a:p>
            <a:r>
              <a:t>Inference-only restoration ≠ fully tested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V&amp;V Is the Recovery 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DR test isn't complete until the recovered system passes V&amp;V</a:t>
            </a:r>
          </a:p>
          <a:p>
            <a:r>
              <a:t>Document expected vs. actual RTO/RPO per layer</a:t>
            </a:r>
          </a:p>
          <a:p>
            <a:r>
              <a:t>Test records = regulatory evidence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Four DR Failure Patterns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1 DR plan covers infrastructure only</a:t>
            </a:r>
          </a:p>
          <a:p>
            <a:r>
              <a:t>3 of the 4 AI asset layers have no DR coverage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Failures 2–3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2 RTO not achievable with the architecture — e.g., 2-hr RTO on cold standby (needs 4–8 hrs)</a:t>
            </a:r>
          </a:p>
          <a:p>
            <a:r>
              <a:t>3 DR never tested — stale credentials found mid-event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Failure 4 + The Fix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4 V&amp;V not included in recovery — returned to production unverified</a:t>
            </a:r>
          </a:p>
          <a:p>
            <a:r>
              <a:t>Fix: cover all 4 layers · validate RTO/architecture fit · test annually · V&amp;V gate before production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Know Cold for the Exam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3 architecture tiers</a:t>
            </a:r>
          </a:p>
          <a:p>
            <a:r>
              <a:t>V&amp;V required after recovery, before production</a:t>
            </a:r>
          </a:p>
          <a:p>
            <a:r>
              <a:t>RTO must match the DR architecture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Module Close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BCP vs. DR distinction</a:t>
            </a:r>
          </a:p>
          <a:p>
            <a:r>
              <a:t>3 architecture tiers</a:t>
            </a:r>
          </a:p>
          <a:p>
            <a:r>
              <a:t>5-section runbook</a:t>
            </a:r>
          </a:p>
          <a:p>
            <a:r>
              <a:t>Testing obligations</a:t>
            </a:r>
          </a:p>
          <a:p>
            <a:r>
              <a:t>V&amp;V as the recovery gate</a:t>
            </a:r>
          </a:p>
          <a:p>
            <a:r>
              <a:t>4 failure patterns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AI Risk Assessment &amp; Impact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04 · Episode 5 — Dr. Michael Solomon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Extends IT Risk Assessment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Adds four AI-specific dimensions</a:t>
            </a:r>
          </a:p>
          <a:p>
            <a:r>
              <a:t>Feeds the risk register</a:t>
            </a:r>
          </a:p>
          <a:p>
            <a:r>
              <a:t>Register → treatment · controls · reporting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DATA INTEGRITY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Compromised · biased · unlicensed?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MODEL BEHAVIOR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Harmful/unfair outputs at scale?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INFERENCE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Attack surface at the endpoint?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GOV ADEQUACY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Controls proportionate to risk?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Four AI Risk Dimensions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Assessment Triggers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New intake · material change · annual</a:t>
            </a:r>
          </a:p>
          <a:p>
            <a:r>
              <a:t>Incident · new threat intel</a:t>
            </a:r>
          </a:p>
          <a:p>
            <a:r>
              <a:t>Five triggers — not optional</a:t>
            </a:r>
          </a:p>
          <a:p>
            <a:r>
              <a:t>The record = evidence of response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Impact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Financial · regulatory · reputational · ops</a:t>
            </a:r>
          </a:p>
          <a:p>
            <a:r>
              <a:t>High-risk: EU AI Act + Liability Directive</a:t>
            </a:r>
          </a:p>
          <a:p>
            <a:r>
              <a:t>Rebuttable presumption raises exposure</a:t>
            </a:r>
          </a:p>
          <a:p>
            <a:r>
              <a:t>Known + untreated = stronger liability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EB0DAF8-1405-3C01-443B-309768CAB94D}"/>
              </a:ext>
            </a:extLst>
          </p:cNvPr>
          <p:cNvSpPr>
            <a:spLocks noGrp="1"/>
          </p:cNvSpPr>
          <p:nvPr/>
        </p:nvSpPr>
        <p:spPr>
          <a:xfrm>
            <a:off x="651690" y="648829"/>
            <a:ext cx="4847160" cy="10972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Segoe Sans Text ExtraBold" pitchFamily="2" charset="0"/>
                <a:ea typeface="+mj-ea"/>
                <a:cs typeface="Segoe Sans Text ExtraBold" pitchFamily="2" charset="0"/>
              </a:defRPr>
            </a:lvl1pPr>
          </a:lstStyle>
          <a:p>
            <a:r>
              <a:rPr sz="2800"/>
              <a:t>US Liability Context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7D7BA7-C3B2-2292-B686-037E77E09CA8}"/>
              </a:ext>
            </a:extLst>
          </p:cNvPr>
          <p:cNvSpPr>
            <a:spLocks noGrp="1"/>
          </p:cNvSpPr>
          <p:nvPr/>
        </p:nvSpPr>
        <p:spPr>
          <a:xfrm>
            <a:off x="651690" y="1907177"/>
            <a:ext cx="4847159" cy="4526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228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685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No US federal rebuttable presumption</a:t>
            </a:r>
          </a:p>
          <a:p>
            <a:r>
              <a:t>Flows via negligence + products liability</a:t>
            </a:r>
          </a:p>
          <a:p>
            <a:r>
              <a:t>Documented assessment = your defense</a:t>
            </a:r>
          </a:p>
          <a:p>
            <a:r>
              <a:t>Negligence doctrine increasingly used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Risk Scoring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Likelihood × impact + AI modifiers</a:t>
            </a:r>
          </a:p>
          <a:p>
            <a:r>
              <a:t>Drift risk (no monitoring) raises it</a:t>
            </a:r>
          </a:p>
          <a:p>
            <a:r>
              <a:t>Supply-chain risk (multi-vendor) raises it</a:t>
            </a:r>
          </a:p>
          <a:p>
            <a:r>
              <a:t>Above appetite → treat; accept = board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Risk Register Entry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ID · description · system · score</a:t>
            </a:r>
          </a:p>
          <a:p>
            <a:r>
              <a:t>Treatment · owner · review date</a:t>
            </a:r>
          </a:p>
          <a:p>
            <a:r>
              <a:t>Mitigate · transfer · accept · avoid</a:t>
            </a:r>
          </a:p>
          <a:p>
            <a:r>
              <a:t>Every open risk: owner + review date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EU AI Act 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Impact assessment for Annex III candidates</a:t>
            </a:r>
          </a:p>
          <a:p>
            <a:r>
              <a:t>High-risk → FRIA + conformity activate</a:t>
            </a:r>
          </a:p>
          <a:p>
            <a:r>
              <a:t>Classification change → escalation</a:t>
            </a:r>
          </a:p>
          <a:p>
            <a:r>
              <a:t>A governance gate, not just planning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NO TRIGGER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Material change, no assessment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NO REG DIMENSION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EU AI Act impact not assessed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NO SIGN-OFF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Above-appetite risk self-accepted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NO TIMELINE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Treatment deadline passed, silent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0A8CE6E-6A99-83F1-B178-F1A20B1BC9A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Four Assessment Failures</a:t>
            </a:r>
            <a:endParaRPr lang="en-US" b="0">
              <a:latin typeface="Segoe Sans Text"/>
              <a:cs typeface="Segoe Sans Text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Fixes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Triggered assessment for all five events</a:t>
            </a:r>
          </a:p>
          <a:p>
            <a:r>
              <a:t>Impact analysis includes EU AI Act class</a:t>
            </a:r>
          </a:p>
          <a:p>
            <a:r>
              <a:t>Above appetite → board sign-off</a:t>
            </a:r>
          </a:p>
          <a:p>
            <a:r>
              <a:t>Treatment timelines tracked as a KPI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Five triggers mandatory; class is an output</a:t>
            </a:r>
          </a:p>
          <a:p>
            <a:r>
              <a:t>Risk assessments = regulator evidence</a:t>
            </a:r>
          </a:p>
          <a:p>
            <a:r>
              <a:t>Updated after every assessment + action</a:t>
            </a:r>
          </a:p>
          <a:p>
            <a:r>
              <a:t>Annual register-adequacy review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73314" y="771979"/>
            <a:ext cx="4846638" cy="1096963"/>
          </a:xfrm>
        </p:spPr>
        <p:txBody>
          <a:bodyPr/>
          <a:lstStyle/>
          <a:p>
            <a:r>
              <a:rPr sz="2800"/>
              <a:t>Register = Living Evidence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Risk Documentation &amp; Treatment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04 · Episode 6 — Dr. Michael Solomon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What This Episode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10-field risk register</a:t>
            </a:r>
          </a:p>
          <a:p>
            <a:r>
              <a:t>Register governance</a:t>
            </a:r>
          </a:p>
          <a:p>
            <a:r>
              <a:t>6-step treatment planning</a:t>
            </a:r>
          </a:p>
          <a:p>
            <a:r>
              <a:t>Risk acceptance &amp; authority levels</a:t>
            </a:r>
          </a:p>
          <a:p>
            <a:r>
              <a:t>5 governance integrations</a:t>
            </a:r>
          </a:p>
          <a:p>
            <a:r>
              <a:t>Treatment tracking &amp; escalation</a:t>
            </a:r>
          </a:p>
          <a:p>
            <a:r>
              <a:t>4 documentation failure patterns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Risk Register Is Central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10 required fields — ID, description, system, category, likelihood, impact, score, decision, owner, review date</a:t>
            </a:r>
          </a:p>
          <a:p>
            <a:r>
              <a:t>Above-appetite risk can't sit "accepted" without board sign-off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Every Entry Needs an Owner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Risks without owners are documented concerns, not governance risks</a:t>
            </a:r>
          </a:p>
          <a:p>
            <a:r>
              <a:t>A living document — updated after every assessment, treatment, review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7DFBF-0B83-EE10-3510-B00525276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D0C3D2-C0A1-BBA8-A906-C84DC0B91A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800">
                <a:latin typeface="Segoe Sans Text"/>
                <a:cs typeface="Segoe Sans Text"/>
              </a:rPr>
              <a:t>Register Governance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A6C35-3725-B7ED-9E1E-196C8F92791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Segoe Sans Text"/>
                <a:cs typeface="Segoe Sans Text"/>
              </a:rPr>
              <a:t>Ownership</a:t>
            </a:r>
          </a:p>
          <a:p>
            <a:pPr lvl="1"/>
            <a:r>
              <a:rPr lang="en-US">
                <a:latin typeface="Segoe Sans Text"/>
                <a:cs typeface="Segoe Sans Text"/>
              </a:rPr>
              <a:t>AI risk analyst maintains; AI security lead approves entries</a:t>
            </a:r>
          </a:p>
          <a:p>
            <a:pPr lvl="1"/>
            <a:endParaRPr lang="en-US" dirty="0">
              <a:latin typeface="Segoe Sans Text"/>
              <a:cs typeface="Segoe Sans Text"/>
            </a:endParaRPr>
          </a:p>
          <a:p>
            <a:r>
              <a:rPr lang="en-US" b="1">
                <a:latin typeface="Segoe Sans Text"/>
                <a:cs typeface="Segoe Sans Text"/>
              </a:rPr>
              <a:t>Cadence</a:t>
            </a:r>
            <a:endParaRPr lang="en-US">
              <a:latin typeface="Segoe Sans Text"/>
              <a:cs typeface="Segoe Sans Text"/>
            </a:endParaRPr>
          </a:p>
          <a:p>
            <a:pPr lvl="1"/>
            <a:r>
              <a:rPr lang="en-US">
                <a:latin typeface="Segoe Sans Text"/>
                <a:cs typeface="Segoe Sans Text"/>
              </a:rPr>
              <a:t>New assessment, treatment completion, material change, incident, periodic review</a:t>
            </a:r>
          </a:p>
          <a:p>
            <a:pPr lvl="1"/>
            <a:endParaRPr lang="en-US" dirty="0">
              <a:latin typeface="Segoe Sans Text"/>
              <a:cs typeface="Segoe Sans Text"/>
            </a:endParaRPr>
          </a:p>
          <a:p>
            <a:r>
              <a:rPr lang="en-US" b="1">
                <a:latin typeface="Segoe Sans Text"/>
                <a:cs typeface="Segoe Sans Text"/>
              </a:rPr>
              <a:t>Reporting</a:t>
            </a:r>
          </a:p>
          <a:p>
            <a:pPr lvl="1"/>
            <a:r>
              <a:rPr lang="en-US">
                <a:latin typeface="Segoe Sans Text"/>
                <a:cs typeface="Segoe Sans Text"/>
              </a:rPr>
              <a:t>Monthly ops dashboard; quarterly steering summary</a:t>
            </a:r>
          </a:p>
          <a:p>
            <a:endParaRPr lang="en-US" sz="1600" b="1" dirty="0"/>
          </a:p>
          <a:p>
            <a:endParaRPr lang="en-US" sz="1400" dirty="0"/>
          </a:p>
          <a:p>
            <a:endParaRPr lang="en-US" sz="16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3945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Above-appetite risk open &gt;90 days → steering committee notified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Critical risks → immediate CSO notification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ESCALATION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Four Treatment Options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Mitigate — reduce likelihood/impact</a:t>
            </a:r>
          </a:p>
          <a:p>
            <a:r>
              <a:t>Transfer — insurance/contract</a:t>
            </a:r>
          </a:p>
          <a:p>
            <a:r>
              <a:t>Accept — document residual risk</a:t>
            </a:r>
          </a:p>
          <a:p>
            <a:r>
              <a:t>Avoid — decommission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Option selected + specific actions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Named owner + milestone dates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Success criteria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Residual risk after treatment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71E214-837A-7DC9-7B85-E54016B3FE4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Treatment Plan Elements</a:t>
            </a:r>
            <a:endParaRPr lang="en-US" b="0"/>
          </a:p>
          <a:p>
            <a:endParaRPr 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Acceptance Is Not a Default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Risk acceptance is a governance decision</a:t>
            </a:r>
          </a:p>
          <a:p>
            <a:r>
              <a:t>Requires a formal acceptance record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Acceptance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Risk ID</a:t>
            </a:r>
          </a:p>
          <a:p>
            <a:r>
              <a:t>Current risk score</a:t>
            </a:r>
          </a:p>
          <a:p>
            <a:r>
              <a:t>Residual risk after controls</a:t>
            </a:r>
          </a:p>
          <a:p>
            <a:r>
              <a:t>Business justification</a:t>
            </a:r>
          </a:p>
          <a:p>
            <a:r>
              <a:t>Accepting authority (board if above appetite)</a:t>
            </a:r>
          </a:p>
          <a:p>
            <a:r>
              <a:t>Acceptance date</a:t>
            </a:r>
          </a:p>
          <a:p>
            <a:r>
              <a:t>Review date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Acceptance Isn't Permanent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Every accepted risk has a scheduled review date</a:t>
            </a:r>
          </a:p>
          <a:p>
            <a:r>
              <a:t>Material changes trigger immediate reassessment</a:t>
            </a:r>
          </a:p>
          <a:p>
            <a:r>
              <a:t>Above-appetite acceptance without board sign-off = governance failure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Asset inventory — every entry references a system ID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DPIA — privacy risks trigger/update the DPA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Control framework — entries drive control selection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Incident register — confirmed incidents update entries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800175-BEFD-A26A-74E7-94C445FF738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Five Governance Integrations</a:t>
            </a:r>
            <a:endParaRPr lang="en-US" b="0"/>
          </a:p>
          <a:p>
            <a:endParaRPr 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…And the Monitoring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>
                <a:latin typeface="Segoe Sans Text"/>
                <a:cs typeface="Segoe Sans Text"/>
              </a:rPr>
              <a:t>5</a:t>
            </a:r>
            <a:r>
              <a:rPr lang="en-US">
                <a:latin typeface="Segoe Sans Text"/>
                <a:cs typeface="Segoe Sans Text"/>
              </a:rPr>
              <a:t> </a:t>
            </a:r>
            <a:r>
              <a:rPr>
                <a:latin typeface="Segoe Sans Text"/>
                <a:cs typeface="Segoe Sans Text"/>
              </a:rPr>
              <a:t>Above-appetite risks feed the CRE dashboard</a:t>
            </a:r>
            <a:endParaRPr lang="en-US">
              <a:latin typeface="Segoe Sans Text"/>
              <a:cs typeface="Segoe Sans Text"/>
            </a:endParaRPr>
          </a:p>
          <a:p>
            <a:r>
              <a:t>The risk register is the connective tissue of the whole program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Treatment Plan Tracking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Unique action ID, parent risk ID, owner, completion date, status</a:t>
            </a:r>
          </a:p>
          <a:p>
            <a:r>
              <a:t>Monthly ops report: overdue actions</a:t>
            </a:r>
          </a:p>
          <a:p>
            <a:r>
              <a:t>Quarterly steering report: summary by risk tier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AI security lead notified at milestone slip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Steering committee notified if overdue + above appetite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MILESTONE SLIP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Treatment Closure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Residual risk reassessed against new controls</a:t>
            </a:r>
          </a:p>
          <a:p>
            <a:r>
              <a:t>Within appetite → moves to "treated"</a:t>
            </a:r>
          </a:p>
          <a:p>
            <a:r>
              <a:t>Not within appetite → new treatment cycle begins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Four Regulatory Failures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1 Compliance obligation map not maintained</a:t>
            </a:r>
          </a:p>
          <a:p>
            <a:r>
              <a:t>e.g., EU AI Act prohibited-practices list updated, map wasn't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Failures 2–3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2 Deployer obligations assumed transferred by vendor warranty — FRIA/oversight left out of the plan</a:t>
            </a:r>
          </a:p>
          <a:p>
            <a:r>
              <a:t>3 GDPR Article 22 not mapped — explanation mechanisms missing from model cards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Failure 4 + The Fix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4 Sector-specific regulation out of scope entirely</a:t>
            </a:r>
          </a:p>
          <a:p>
            <a:r>
              <a:t>Fix: review compliance map annually · document deployer obligations regardless of warranty · map Article 22 · include sector regulation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Know Cold for the Exam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Deployer obligations are nontransferable</a:t>
            </a:r>
          </a:p>
          <a:p>
            <a:r>
              <a:t>Article 22 applies to all automated-decision systems</a:t>
            </a:r>
          </a:p>
          <a:p>
            <a:r>
              <a:t>Compliance map must include sector-specific regulation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Module Close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Deployer obligations nontransferable</a:t>
            </a:r>
          </a:p>
          <a:p>
            <a:r>
              <a:t>4 deemed-provider scenarios</a:t>
            </a:r>
          </a:p>
          <a:p>
            <a:r>
              <a:t>Rebuttable presumption needs documented governance</a:t>
            </a:r>
          </a:p>
          <a:p>
            <a:r>
              <a:t>Article 22 applies to automated decisions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Penetration Testing &amp; Vulnerability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04 · Episode 7 — Dr. Michael Solomon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 dirty="0"/>
              <a:t>Automated Penetration </a:t>
            </a:r>
            <a:r>
              <a:rPr lang="en-US" sz="2800" dirty="0"/>
              <a:t>        </a:t>
            </a:r>
            <a:r>
              <a:rPr sz="2800" dirty="0"/>
              <a:t>Testing (CART)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Traditional pen testing is time-constrained</a:t>
            </a:r>
          </a:p>
          <a:p>
            <a:r>
              <a:t>AI = continuous automated red teaming</a:t>
            </a:r>
          </a:p>
          <a:p>
            <a:r>
              <a:t>Probes attack surface as infrastructure changes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AI-Assisted Reconnaissance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Enumerate attack surface at scale</a:t>
            </a:r>
          </a:p>
          <a:p>
            <a:r>
              <a:t>OSINT: DNS, cert logs, GitHub, job posts, social</a:t>
            </a:r>
          </a:p>
          <a:p>
            <a:r>
              <a:t>Flags external assets not in your inventory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Exploit Discovery &amp; Fuzzing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Analyze services against exploit databases</a:t>
            </a:r>
          </a:p>
          <a:p>
            <a:r>
              <a:t>Intelligent fuzzing — learned input structure</a:t>
            </a:r>
          </a:p>
          <a:p>
            <a:r>
              <a:t>Exploit chaining — low-severity → high-severity path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AI-Augmented &amp; Purple Teaming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AI handles volume; humans bring creativity</a:t>
            </a:r>
          </a:p>
          <a:p>
            <a:r>
              <a:t>Broader coverage + deeper quality</a:t>
            </a:r>
          </a:p>
          <a:p>
            <a:r>
              <a:t>Purple teaming validates detection at scale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Governance: Scope Authorization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Explicit scope — or it's unauthorized access</a:t>
            </a:r>
          </a:p>
          <a:p>
            <a:r>
              <a:t>Safe harbor + rules of engagement first</a:t>
            </a:r>
          </a:p>
          <a:p>
            <a:r>
              <a:t>Scoped, time-limited, revoked credentials</a:t>
            </a:r>
          </a:p>
          <a:p>
            <a:r>
              <a:t>Structured findings + human validation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Tier-1 AI: annual pen test minimum + triggered retest</a:t>
            </a:r>
          </a:p>
          <a:p>
            <a:r>
              <a:t>Reports retained as governance evidence for regulators</a:t>
            </a:r>
          </a:p>
          <a:p>
            <a:r>
              <a:t>A program-plan obligation, not ad hoc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PEN-TEST CADENCE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Accuracy = average performance on the test distribution</a:t>
            </a:r>
          </a:p>
          <a:p>
            <a:r>
              <a:t>Security = resilience under adversarial pressure</a:t>
            </a:r>
          </a:p>
          <a:p>
            <a:r>
              <a:t>A 97%-accurate IDS can still be evaded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ACCURATE ≠ SECURE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Metrics Must Reflect Asymmetry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 false positive inconveniences; a false negative breaches</a:t>
            </a:r>
          </a:p>
          <a:p>
            <a:r>
              <a:t>Precision &amp; recall over overall accuracy</a:t>
            </a:r>
          </a:p>
          <a:p>
            <a:r>
              <a:t>FN rate on highest-severity threats = posture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Independent Evaluation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Holdout sets are the only honest baseline</a:t>
            </a:r>
          </a:p>
          <a:p>
            <a:r>
              <a:t>Cross-validation catches overfitting</a:t>
            </a:r>
          </a:p>
          <a:p>
            <a:r>
              <a:t>Evaluation bias: clean lab data fails in production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Adversarial Robustness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Adversarial-example testing probes decision boundaries</a:t>
            </a:r>
          </a:p>
          <a:p>
            <a:r>
              <a:t>Stress testing — unusual/extreme/ambiguous inputs</a:t>
            </a:r>
          </a:p>
          <a:p>
            <a:r>
              <a:t>Red teaming — injection, extraction, jailbreak, leakage</a:t>
            </a:r>
          </a:p>
          <a:p>
            <a:r>
              <a:t>Guardrail validation under adversarial pressure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Bias, Fairness &amp; Explainability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Bias is a security vulnerability — an evasion path</a:t>
            </a:r>
          </a:p>
          <a:p>
            <a:r>
              <a:t>Inconsistent fairness is what attackers look for</a:t>
            </a:r>
          </a:p>
          <a:p>
            <a:r>
              <a:t>Explainability enables root-cause analysis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Evaluation Is Continuous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Not a pre-deployment gate — a continuous control</a:t>
            </a:r>
          </a:p>
          <a:p>
            <a:r>
              <a:t>Post-deploy monitoring: drift, confidence, anomalies</a:t>
            </a:r>
          </a:p>
          <a:p>
            <a:r>
              <a:t>Regression test after every optimization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AI Pen Test Covers Four Layers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Extends standard pen-test methodology to AI</a:t>
            </a:r>
          </a:p>
          <a:p>
            <a:r>
              <a:t>Must cover all four architectural layers</a:t>
            </a:r>
          </a:p>
          <a:p>
            <a:r>
              <a:t>Inference-only coverage is incomplete governance</a:t>
            </a:r>
          </a:p>
          <a:p>
            <a:r>
              <a:t>Results feed the risk register + the TEVV cycle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Red Teaming &amp; Adversarial Threats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04 · Episode 8 — Dr. Michael Solomon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Threat Modeling for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Tells you what to secure, in what order, and why</a:t>
            </a:r>
          </a:p>
          <a:p>
            <a:r>
              <a:t>STRIDE, attack trees, DFDs are the foundation</a:t>
            </a:r>
          </a:p>
          <a:p>
            <a:r>
              <a:t>But AI breaks their deterministic assumptions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Why AI Threat Modeling Differs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Non-deterministic — same input, different output</a:t>
            </a:r>
          </a:p>
          <a:p>
            <a:r>
              <a:t>Attack surface includes data, not just code</a:t>
            </a:r>
          </a:p>
          <a:p>
            <a:r>
              <a:t>Training-time attacks surface later at inference</a:t>
            </a:r>
          </a:p>
          <a:p>
            <a:r>
              <a:t>The model itself is an IP asset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1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Poisoning, label manipulation, supply chain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2 Model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Inversion, membership inference, extraction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3 Inference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Prompt injection, jailbreaking, context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4 Integration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Excessive agency, indirect injection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0D65694-2781-0038-7A6D-B5A1D9B5DFF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Four AI Attack Surfaces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Six-Step Process · 1–3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1 Scope — function, data, connections, consequences</a:t>
            </a:r>
          </a:p>
          <a:p>
            <a:r>
              <a:t>2 Decompose — map data flows across all surfaces</a:t>
            </a:r>
          </a:p>
          <a:p>
            <a:r>
              <a:t>3 Identify threats per surface (OWASP LLM / ATLAS)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Six-Step Process · 4–6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4 Assess likelihood + impact; prioritize</a:t>
            </a:r>
          </a:p>
          <a:p>
            <a:r>
              <a:t>5 Select controls — each maps to a threat</a:t>
            </a:r>
          </a:p>
          <a:p>
            <a:r>
              <a:t>6 Document + review — a living artifact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Trust Boundaries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Training/inference — no runtime check for training-time attacks</a:t>
            </a:r>
          </a:p>
          <a:p>
            <a:r>
              <a:t>System-prompt boundary — prompt injection exploits it</a:t>
            </a:r>
          </a:p>
          <a:p>
            <a:r>
              <a:t>Tool-invocation boundary — crosses into real-world action</a:t>
            </a:r>
          </a:p>
          <a:p>
            <a:r>
              <a:t>Identify which boundary was crossed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Model Drives Every Control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 prioritized list of exposures drives control decisions</a:t>
            </a:r>
          </a:p>
          <a:p>
            <a:r>
              <a:t>Guardrails, access, encryption, monitoring map to surfaces</a:t>
            </a:r>
          </a:p>
          <a:p>
            <a:r>
              <a:t>Without it, controls are just a checklist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Single Vendor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All AI from one provider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Same Model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All systems on one foundation model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/>
          </a:bodyPr>
          <a:lstStyle/>
          <a:p>
            <a:r>
              <a:t>Same Infrastructure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Shared hosting / compute dependency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Geographic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Jurisdictional / regulatory concentration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282F7E-4DB6-B933-D44C-3FE9E649FE8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Four Concentration Types</a:t>
            </a:r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MITRE ATLAS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The AI-specific counterpart to ATT&amp;CK</a:t>
            </a:r>
          </a:p>
          <a:p>
            <a:r>
              <a:t>Tactic → technique hierarchy</a:t>
            </a:r>
          </a:p>
          <a:p>
            <a:r>
              <a:t>Exploits the mathematical properties of ML</a:t>
            </a:r>
          </a:p>
          <a:p>
            <a:r>
              <a:t>Some techniques have no ATT&amp;CK equivalent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ATLAS — how adversaries attack AI</a:t>
            </a:r>
          </a:p>
          <a:p>
            <a:r>
              <a:t>OWASP Top 10 — what vulnerabilities exist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ATLAS vs OWASP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ATLAS · Data-Layer Techniques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Data poisoning — attacker-influenced outputs</a:t>
            </a:r>
          </a:p>
          <a:p>
            <a:r>
              <a:t>Label manipulation — wrong decision boundaries</a:t>
            </a:r>
          </a:p>
          <a:p>
            <a:r>
              <a:t>Backdoor insertion — trigger-only, passes testing</a:t>
            </a:r>
          </a:p>
          <a:p>
            <a:r>
              <a:t>Control window is before training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ATLAS · Model-Layer Techniques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Model inversion — reconstruct training data</a:t>
            </a:r>
          </a:p>
          <a:p>
            <a:r>
              <a:t>Membership inference — was this record trained on?</a:t>
            </a:r>
          </a:p>
          <a:p>
            <a:r>
              <a:t>Model extraction — IP theft via API querying</a:t>
            </a:r>
          </a:p>
          <a:p>
            <a:r>
              <a:t>Adversarial examples — evasion via perturbation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ATLAS · Interface/Integration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Prompt injection — direct + indirect</a:t>
            </a:r>
          </a:p>
          <a:p>
            <a:r>
              <a:t>Jailbreaking — removes guardrails voluntarily</a:t>
            </a:r>
          </a:p>
          <a:p>
            <a:r>
              <a:t>API abuse — token flooding, extraction querying</a:t>
            </a:r>
          </a:p>
          <a:p>
            <a:r>
              <a:t>Privilege escalation via tool integration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Attack-Chain Mapping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Techniques sequence across lifecycle stages</a:t>
            </a:r>
          </a:p>
          <a:p>
            <a:r>
              <a:t>Recon → extraction → adversarial → evasion</a:t>
            </a:r>
          </a:p>
          <a:p>
            <a:r>
              <a:t>Supply-chain backdoor → trigger in production</a:t>
            </a:r>
          </a:p>
          <a:p>
            <a:r>
              <a:t>Control gaps appear at stage transitions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Vendor Risk = Incident Trigger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Vendor risk feeds the dashboard KRI</a:t>
            </a:r>
          </a:p>
          <a:p>
            <a:r>
              <a:t>Distress / acquisition → out-of-cycle DD review</a:t>
            </a:r>
          </a:p>
          <a:p>
            <a:r>
              <a:t>Vendor incidents → immediate classification</a:t>
            </a:r>
          </a:p>
          <a:p>
            <a:r>
              <a:t>Treat as if internal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Document Five Things First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1 Function + consequences of wrong decisions</a:t>
            </a:r>
          </a:p>
          <a:p>
            <a:r>
              <a:t>2 Data touched (sources, inputs, stores, outputs)</a:t>
            </a:r>
          </a:p>
          <a:p>
            <a:r>
              <a:t>3 Integrations + tool permissions</a:t>
            </a:r>
          </a:p>
          <a:p>
            <a:r>
              <a:t>4 Deployment context (who can reach it)</a:t>
            </a:r>
          </a:p>
          <a:p>
            <a:r>
              <a:t>5 Consequence of failure — the impact ceiling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 dirty="0"/>
              <a:t>Systematic Threat Identification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rPr dirty="0"/>
              <a:t>Walk all four surfaces with OWASP + ATLAS checklists</a:t>
            </a:r>
          </a:p>
          <a:p>
            <a:r>
              <a:rPr dirty="0"/>
              <a:t>Data: external training → poisoning (LLM03 / AML.T0020)</a:t>
            </a:r>
          </a:p>
          <a:p>
            <a:r>
              <a:rPr dirty="0"/>
              <a:t>Model: public API → extraction (LLM10 / AML.T0005)</a:t>
            </a:r>
          </a:p>
          <a:p>
            <a:r>
              <a:rPr dirty="0"/>
              <a:t>Interface: free text → injection (LLM01)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If condition, then consequence, affecting asset</a:t>
            </a:r>
          </a:p>
          <a:p>
            <a:r>
              <a:t>Each maps directly to a compensating control</a:t>
            </a:r>
          </a:p>
          <a:p>
            <a:r>
              <a:t>Vague threats can't be prioritized or mitigated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RISK-STATEMENT FORMAT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Score Likelihood &amp; Impact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Likelihood: exposure, auth, guardrails, sophistication</a:t>
            </a:r>
          </a:p>
          <a:p>
            <a:r>
              <a:t>Impact: confidentiality, integrity, availability</a:t>
            </a:r>
          </a:p>
          <a:p>
            <a:r>
              <a:t>Regulatory + reputational dimensions</a:t>
            </a:r>
          </a:p>
          <a:p>
            <a:r>
              <a:t>Matrix (H/M/L) → risk tier drives prioritization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Risk-Appetite Thresholds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Automation boundary — human approval for writes</a:t>
            </a:r>
          </a:p>
          <a:p>
            <a:r>
              <a:t>Confidence &lt; 80% routes to a human (LLM09)</a:t>
            </a:r>
          </a:p>
          <a:p>
            <a:r>
              <a:t>F1 drift &gt; 5% → pause + retraining review</a:t>
            </a:r>
          </a:p>
          <a:p>
            <a:r>
              <a:t>Quarterly review + after every change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Risk Register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Threat, score, tier, owner, mitigation, review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Model Card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Function, limits, metrics, failure modes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Dataset Docs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Sources, preprocessing, licensing, biases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Change Log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Retraining, fine-tuning, prompt/config changes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Four Documentation Artifacts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Third-Party AI Risk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Extends beyond standard vendor risk to model supply chain</a:t>
            </a:r>
          </a:p>
          <a:p>
            <a:r>
              <a:t>AI provider (model / API)</a:t>
            </a:r>
          </a:p>
          <a:p>
            <a:r>
              <a:t>Data supplier (training data)</a:t>
            </a:r>
          </a:p>
          <a:p>
            <a:r>
              <a:t>AI tool vendor (security tooling)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Threat Modeling &amp; Vendor Risk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Three vendor types + tier assignment</a:t>
            </a:r>
          </a:p>
          <a:p>
            <a:r>
              <a:t>Four concentration types</a:t>
            </a:r>
          </a:p>
          <a:p>
            <a:r>
              <a:t>Vendor incidents = internal incident triggers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AISM_PPT_Template">
  <a:themeElements>
    <a:clrScheme name="MCAPS_Blue">
      <a:dk1>
        <a:srgbClr val="4F4F4F"/>
      </a:dk1>
      <a:lt1>
        <a:srgbClr val="FFFFFF"/>
      </a:lt1>
      <a:dk2>
        <a:srgbClr val="4F4F4F"/>
      </a:dk2>
      <a:lt2>
        <a:srgbClr val="FFF8F3"/>
      </a:lt2>
      <a:accent1>
        <a:srgbClr val="0091DA"/>
      </a:accent1>
      <a:accent2>
        <a:srgbClr val="6CC24A"/>
      </a:accent2>
      <a:accent3>
        <a:srgbClr val="49C5B1"/>
      </a:accent3>
      <a:accent4>
        <a:srgbClr val="D59DD7"/>
      </a:accent4>
      <a:accent5>
        <a:srgbClr val="6CC24A"/>
      </a:accent5>
      <a:accent6>
        <a:srgbClr val="0091DA"/>
      </a:accent6>
      <a:hlink>
        <a:srgbClr val="0077D3"/>
      </a:hlink>
      <a:folHlink>
        <a:srgbClr val="0077D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radient_PPT_Template" id="{DD4A2566-3BC9-5A4E-B1A7-C82913F696C9}" vid="{9B7D320E-4ACD-7A46-B913-C9EB59A689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046e879-d081-4053-adba-52e34fa7725d" xsi:nil="true"/>
    <lcf76f155ced4ddcb4097134ff3c332f xmlns="76027dd9-77cd-484f-b6db-8bbe1351c2b5">
      <Terms xmlns="http://schemas.microsoft.com/office/infopath/2007/PartnerControls"/>
    </lcf76f155ced4ddcb4097134ff3c332f>
    <Comments xmlns="76027dd9-77cd-484f-b6db-8bbe1351c2b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99ED26-B189-4BA1-99D0-1112D8C2F106}">
  <ds:schemaRefs>
    <ds:schemaRef ds:uri="http://purl.org/dc/terms/"/>
    <ds:schemaRef ds:uri="http://www.w3.org/XML/1998/namespace"/>
    <ds:schemaRef ds:uri="13a0c8d5-cff5-4140-b58f-0947a5552a6a"/>
    <ds:schemaRef ds:uri="76027dd9-77cd-484f-b6db-8bbe1351c2b5"/>
    <ds:schemaRef ds:uri="http://schemas.microsoft.com/office/2006/documentManagement/types"/>
    <ds:schemaRef ds:uri="http://purl.org/dc/elements/1.1/"/>
    <ds:schemaRef ds:uri="1046e879-d081-4053-adba-52e34fa7725d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ADABC1A-3DB4-4388-8FB7-5B14A7711A61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Gradient_PPT_Template</Template>
  <TotalTime>19</TotalTime>
  <Words>3668</Words>
  <Application>Microsoft Office PowerPoint</Application>
  <PresentationFormat>Widescreen</PresentationFormat>
  <Paragraphs>661</Paragraphs>
  <Slides>132</Slides>
  <Notes>132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37" baseType="lpstr">
      <vt:lpstr>Aptos</vt:lpstr>
      <vt:lpstr>Arial</vt:lpstr>
      <vt:lpstr>Segoe Sans Text</vt:lpstr>
      <vt:lpstr>Segoe Sans Text ExtraBold</vt:lpstr>
      <vt:lpstr>AAISM_PPT_Template</vt:lpstr>
      <vt:lpstr>Incident Classification &amp; Severity</vt:lpstr>
      <vt:lpstr>What This Episode Covers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Decision Record — 7 Fields</vt:lpstr>
      <vt:lpstr>PowerPoint Presentation</vt:lpstr>
      <vt:lpstr>PowerPoint Presentation</vt:lpstr>
      <vt:lpstr>Closing the Record</vt:lpstr>
      <vt:lpstr>PowerPoint Presentation</vt:lpstr>
      <vt:lpstr>PowerPoint Presentation</vt:lpstr>
      <vt:lpstr>PowerPoint Presentation</vt:lpstr>
      <vt:lpstr>AI Resiliency &amp; Business Continuity Planning</vt:lpstr>
      <vt:lpstr>What This Episode Covers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Know Cold for the Exam</vt:lpstr>
      <vt:lpstr>PowerPoint Presentation</vt:lpstr>
      <vt:lpstr>Red Button &amp; Break Glass Controls</vt:lpstr>
      <vt:lpstr>What This Episode Covers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Red Button Record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Disaster Recovery for AI Systems</vt:lpstr>
      <vt:lpstr>What This Episode Covers</vt:lpstr>
      <vt:lpstr>PowerPoint Presentation</vt:lpstr>
      <vt:lpstr>PowerPoint Presentation</vt:lpstr>
      <vt:lpstr>PowerPoint Presentation</vt:lpstr>
      <vt:lpstr>The DR Runbook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Know Cold for the Exam</vt:lpstr>
      <vt:lpstr>PowerPoint Presentation</vt:lpstr>
      <vt:lpstr>AI Risk Assessment &amp; Impact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Register = Living Evidence</vt:lpstr>
      <vt:lpstr>Risk Documentation &amp; Treatment</vt:lpstr>
      <vt:lpstr>What This Episode Covers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Acceptance Record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Know Cold for the Exam</vt:lpstr>
      <vt:lpstr>PowerPoint Presentation</vt:lpstr>
      <vt:lpstr>Penetration Testing &amp; Vulnerability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Red Teaming &amp; Adversarial Threats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Dana</dc:creator>
  <cp:lastModifiedBy>Dana Barineau</cp:lastModifiedBy>
  <cp:revision>20</cp:revision>
  <cp:lastPrinted>2026-03-03T20:52:42Z</cp:lastPrinted>
  <dcterms:created xsi:type="dcterms:W3CDTF">2025-05-21T23:03:00Z</dcterms:created>
  <dcterms:modified xsi:type="dcterms:W3CDTF">2026-08-11T05:08:27Z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0x010100C634B67D360B774FBA94A353DF812505</vt:lpwstr>
  </property>
</Properties>
</file>