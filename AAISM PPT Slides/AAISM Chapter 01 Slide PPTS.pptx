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8" r:id="rId4"/>
  </p:sldMasterIdLst>
  <p:notesMasterIdLst>
    <p:notesMasterId r:id="rId103"/>
  </p:notesMasterIdLst>
  <p:handoutMasterIdLst>
    <p:handoutMasterId r:id="rId104"/>
  </p:handoutMasterIdLst>
  <p:sldIdLst>
    <p:sldId id="2580" r:id="rId5"/>
    <p:sldId id="2581" r:id="rId6"/>
    <p:sldId id="2582" r:id="rId7"/>
    <p:sldId id="2583" r:id="rId8"/>
    <p:sldId id="2584" r:id="rId9"/>
    <p:sldId id="2585" r:id="rId10"/>
    <p:sldId id="2586" r:id="rId11"/>
    <p:sldId id="2587" r:id="rId12"/>
    <p:sldId id="2588" r:id="rId13"/>
    <p:sldId id="2589" r:id="rId14"/>
    <p:sldId id="2590" r:id="rId15"/>
    <p:sldId id="2591" r:id="rId16"/>
    <p:sldId id="2592" r:id="rId17"/>
    <p:sldId id="2593" r:id="rId18"/>
    <p:sldId id="2595" r:id="rId19"/>
    <p:sldId id="2596" r:id="rId20"/>
    <p:sldId id="2597" r:id="rId21"/>
    <p:sldId id="2598" r:id="rId22"/>
    <p:sldId id="2599" r:id="rId23"/>
    <p:sldId id="2601" r:id="rId24"/>
    <p:sldId id="2602" r:id="rId25"/>
    <p:sldId id="2603" r:id="rId26"/>
    <p:sldId id="2604" r:id="rId27"/>
    <p:sldId id="2605" r:id="rId28"/>
    <p:sldId id="2606" r:id="rId29"/>
    <p:sldId id="2607" r:id="rId30"/>
    <p:sldId id="2608" r:id="rId31"/>
    <p:sldId id="2609" r:id="rId32"/>
    <p:sldId id="2610" r:id="rId33"/>
    <p:sldId id="2611" r:id="rId34"/>
    <p:sldId id="2612" r:id="rId35"/>
    <p:sldId id="2613" r:id="rId36"/>
    <p:sldId id="2614" r:id="rId37"/>
    <p:sldId id="2615" r:id="rId38"/>
    <p:sldId id="2616" r:id="rId39"/>
    <p:sldId id="2617" r:id="rId40"/>
    <p:sldId id="2618" r:id="rId41"/>
    <p:sldId id="2619" r:id="rId42"/>
    <p:sldId id="2620" r:id="rId43"/>
    <p:sldId id="2621" r:id="rId44"/>
    <p:sldId id="2622" r:id="rId45"/>
    <p:sldId id="2623" r:id="rId46"/>
    <p:sldId id="2624" r:id="rId47"/>
    <p:sldId id="2625" r:id="rId48"/>
    <p:sldId id="2626" r:id="rId49"/>
    <p:sldId id="2627" r:id="rId50"/>
    <p:sldId id="2628" r:id="rId51"/>
    <p:sldId id="2629" r:id="rId52"/>
    <p:sldId id="2630" r:id="rId53"/>
    <p:sldId id="2631" r:id="rId54"/>
    <p:sldId id="2632" r:id="rId55"/>
    <p:sldId id="2633" r:id="rId56"/>
    <p:sldId id="2634" r:id="rId57"/>
    <p:sldId id="2635" r:id="rId58"/>
    <p:sldId id="2636" r:id="rId59"/>
    <p:sldId id="2637" r:id="rId60"/>
    <p:sldId id="2638" r:id="rId61"/>
    <p:sldId id="2639" r:id="rId62"/>
    <p:sldId id="2640" r:id="rId63"/>
    <p:sldId id="2641" r:id="rId64"/>
    <p:sldId id="2642" r:id="rId65"/>
    <p:sldId id="2643" r:id="rId66"/>
    <p:sldId id="2644" r:id="rId67"/>
    <p:sldId id="2645" r:id="rId68"/>
    <p:sldId id="2646" r:id="rId69"/>
    <p:sldId id="2647" r:id="rId70"/>
    <p:sldId id="2648" r:id="rId71"/>
    <p:sldId id="2600" r:id="rId72"/>
    <p:sldId id="2650" r:id="rId73"/>
    <p:sldId id="2651" r:id="rId74"/>
    <p:sldId id="2652" r:id="rId75"/>
    <p:sldId id="2653" r:id="rId76"/>
    <p:sldId id="2654" r:id="rId77"/>
    <p:sldId id="2655" r:id="rId78"/>
    <p:sldId id="2656" r:id="rId79"/>
    <p:sldId id="2657" r:id="rId80"/>
    <p:sldId id="2658" r:id="rId81"/>
    <p:sldId id="2659" r:id="rId82"/>
    <p:sldId id="2660" r:id="rId83"/>
    <p:sldId id="2661" r:id="rId84"/>
    <p:sldId id="2662" r:id="rId85"/>
    <p:sldId id="2663" r:id="rId86"/>
    <p:sldId id="2664" r:id="rId87"/>
    <p:sldId id="2665" r:id="rId88"/>
    <p:sldId id="2666" r:id="rId89"/>
    <p:sldId id="2667" r:id="rId90"/>
    <p:sldId id="2668" r:id="rId91"/>
    <p:sldId id="2669" r:id="rId92"/>
    <p:sldId id="2670" r:id="rId93"/>
    <p:sldId id="2671" r:id="rId94"/>
    <p:sldId id="2672" r:id="rId95"/>
    <p:sldId id="2673" r:id="rId96"/>
    <p:sldId id="2674" r:id="rId97"/>
    <p:sldId id="2675" r:id="rId98"/>
    <p:sldId id="2676" r:id="rId99"/>
    <p:sldId id="2677" r:id="rId100"/>
    <p:sldId id="2678" r:id="rId101"/>
    <p:sldId id="2679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odules" id="{C7096EA7-3C19-4043-8044-919E80557B30}">
          <p14:sldIdLst>
            <p14:sldId id="2580"/>
            <p14:sldId id="2581"/>
            <p14:sldId id="2582"/>
            <p14:sldId id="2583"/>
            <p14:sldId id="2584"/>
            <p14:sldId id="2585"/>
            <p14:sldId id="2586"/>
            <p14:sldId id="2587"/>
            <p14:sldId id="2588"/>
            <p14:sldId id="2589"/>
            <p14:sldId id="2590"/>
            <p14:sldId id="2591"/>
            <p14:sldId id="2592"/>
            <p14:sldId id="2593"/>
            <p14:sldId id="2595"/>
            <p14:sldId id="2596"/>
            <p14:sldId id="2597"/>
            <p14:sldId id="2598"/>
            <p14:sldId id="2599"/>
            <p14:sldId id="2601"/>
            <p14:sldId id="2602"/>
            <p14:sldId id="2603"/>
            <p14:sldId id="2604"/>
            <p14:sldId id="2605"/>
            <p14:sldId id="2606"/>
            <p14:sldId id="2607"/>
            <p14:sldId id="2608"/>
            <p14:sldId id="2609"/>
            <p14:sldId id="2610"/>
            <p14:sldId id="2611"/>
            <p14:sldId id="2612"/>
            <p14:sldId id="2613"/>
            <p14:sldId id="2614"/>
            <p14:sldId id="2615"/>
            <p14:sldId id="2616"/>
            <p14:sldId id="2617"/>
            <p14:sldId id="2618"/>
            <p14:sldId id="2619"/>
            <p14:sldId id="2620"/>
            <p14:sldId id="2621"/>
            <p14:sldId id="2622"/>
            <p14:sldId id="2623"/>
            <p14:sldId id="2624"/>
            <p14:sldId id="2625"/>
            <p14:sldId id="2626"/>
            <p14:sldId id="2627"/>
            <p14:sldId id="2628"/>
            <p14:sldId id="2629"/>
            <p14:sldId id="2630"/>
            <p14:sldId id="2631"/>
            <p14:sldId id="2632"/>
            <p14:sldId id="2633"/>
            <p14:sldId id="2634"/>
            <p14:sldId id="2635"/>
            <p14:sldId id="2636"/>
            <p14:sldId id="2637"/>
            <p14:sldId id="2638"/>
            <p14:sldId id="2639"/>
            <p14:sldId id="2640"/>
            <p14:sldId id="2641"/>
            <p14:sldId id="2642"/>
            <p14:sldId id="2643"/>
            <p14:sldId id="2644"/>
            <p14:sldId id="2645"/>
            <p14:sldId id="2646"/>
            <p14:sldId id="2647"/>
            <p14:sldId id="2648"/>
            <p14:sldId id="2600"/>
            <p14:sldId id="2650"/>
            <p14:sldId id="2651"/>
            <p14:sldId id="2652"/>
            <p14:sldId id="2653"/>
            <p14:sldId id="2654"/>
            <p14:sldId id="2655"/>
            <p14:sldId id="2656"/>
            <p14:sldId id="2657"/>
            <p14:sldId id="2658"/>
            <p14:sldId id="2659"/>
            <p14:sldId id="2660"/>
            <p14:sldId id="2661"/>
            <p14:sldId id="2662"/>
            <p14:sldId id="2663"/>
            <p14:sldId id="2664"/>
            <p14:sldId id="2665"/>
            <p14:sldId id="2666"/>
            <p14:sldId id="2667"/>
            <p14:sldId id="2668"/>
            <p14:sldId id="2669"/>
            <p14:sldId id="2670"/>
            <p14:sldId id="2671"/>
            <p14:sldId id="2672"/>
            <p14:sldId id="2673"/>
            <p14:sldId id="2674"/>
            <p14:sldId id="2675"/>
            <p14:sldId id="2676"/>
            <p14:sldId id="2677"/>
            <p14:sldId id="2678"/>
            <p14:sldId id="2679"/>
          </p14:sldIdLst>
        </p14:section>
        <p14:section name="Optional Layouts" id="{06CC3140-8FC6-084B-A5CE-CF002997860C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10E4221-6F06-64E5-5214-772388C857B5}" name="Elizabeth Feldbruegge (ALLEGIS GROUP HOLDINGS INC)" initials="EF(GHI" userId="S::v-felizabeth@microsoft.com::ba5aea11-28e4-484d-8e49-c15efb1bd2e9" providerId="AD"/>
  <p188:author id="{98C28768-C62F-F64F-6347-87559A624ABE}" name="Kaila Orsucci" initials="K" userId="S::kaila@andersenconsultants.com::11b61a15-dbbf-4176-9673-5e6d6ac372ec" providerId="AD"/>
  <p188:author id="{9941987A-41B7-49AC-EE6E-03F2D0BD95BA}" name="Daria Naidenov" initials="DN" userId="S::danaidenov@microsoft.com::ab38ab5f-bdf0-4774-ae5a-d2782abb202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53D"/>
    <a:srgbClr val="6CC24A"/>
    <a:srgbClr val="0079DF"/>
    <a:srgbClr val="0070C0"/>
    <a:srgbClr val="FFFFFF"/>
    <a:srgbClr val="FFC32D"/>
    <a:srgbClr val="00AFEF"/>
    <a:srgbClr val="90C84B"/>
    <a:srgbClr val="F26B35"/>
    <a:srgbClr val="79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6866F-F369-6C4B-94E6-25C6930E72F7}" v="3" dt="2026-07-14T16:35:03.71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70"/>
    <p:restoredTop sz="94658"/>
  </p:normalViewPr>
  <p:slideViewPr>
    <p:cSldViewPr snapToGrid="0">
      <p:cViewPr varScale="1">
        <p:scale>
          <a:sx n="59" d="100"/>
          <a:sy n="59" d="100"/>
        </p:scale>
        <p:origin x="54" y="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07" Type="http://schemas.openxmlformats.org/officeDocument/2006/relationships/theme" Target="theme/theme1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5" Type="http://schemas.openxmlformats.org/officeDocument/2006/relationships/slide" Target="slides/slide1.xml"/><Relationship Id="rId90" Type="http://schemas.openxmlformats.org/officeDocument/2006/relationships/slide" Target="slides/slide86.xml"/><Relationship Id="rId95" Type="http://schemas.openxmlformats.org/officeDocument/2006/relationships/slide" Target="slides/slide91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notesMaster" Target="notesMasters/notesMaster1.xml"/><Relationship Id="rId108" Type="http://schemas.openxmlformats.org/officeDocument/2006/relationships/tableStyles" Target="tableStyles.xml"/><Relationship Id="rId54" Type="http://schemas.openxmlformats.org/officeDocument/2006/relationships/slide" Target="slides/slide50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91" Type="http://schemas.openxmlformats.org/officeDocument/2006/relationships/slide" Target="slides/slide87.xml"/><Relationship Id="rId96" Type="http://schemas.openxmlformats.org/officeDocument/2006/relationships/slide" Target="slides/slide9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6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slide" Target="slides/slide90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109" Type="http://schemas.microsoft.com/office/2015/10/relationships/revisionInfo" Target="revisionInfo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04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microsoft.com/office/2018/10/relationships/authors" Target="authors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105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98" Type="http://schemas.openxmlformats.org/officeDocument/2006/relationships/slide" Target="slides/slide94.xml"/><Relationship Id="rId3" Type="http://schemas.openxmlformats.org/officeDocument/2006/relationships/customXml" Target="../customXml/item3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88" Type="http://schemas.openxmlformats.org/officeDocument/2006/relationships/slide" Target="slides/slide8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S Headshot/Demo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401" y="180716"/>
            <a:ext cx="11887199" cy="6496568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Content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64D38536-57AB-5EAB-9CE8-9796DAF1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685800"/>
            <a:ext cx="9052560" cy="1508760"/>
          </a:xfrm>
        </p:spPr>
        <p:txBody>
          <a:bodyPr anchor="b" anchorCtr="0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2160C0A1-5692-F2A8-A18C-A2194E5352A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8" y="2286000"/>
            <a:ext cx="10058400" cy="4023360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DFACEC5-4969-F3A0-4BA7-BFFD0245B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F10B99AC-155F-3A58-AB62-070ACE105579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4" name="Graphic 12">
              <a:extLst>
                <a:ext uri="{FF2B5EF4-FFF2-40B4-BE49-F238E27FC236}">
                  <a16:creationId xmlns:a16="http://schemas.microsoft.com/office/drawing/2014/main" id="{464553C6-B8E8-FE32-AF30-0A1591CA3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5D9B330B-7590-B21F-FCF4-74387F173E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F40F2BA8-9C33-77BE-CC02-0ED983F5F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Multipl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14E4ACA-29F5-C83F-5764-FD89B1F4E828}"/>
              </a:ext>
            </a:extLst>
          </p:cNvPr>
          <p:cNvSpPr/>
          <p:nvPr userDrawn="1"/>
        </p:nvSpPr>
        <p:spPr>
          <a:xfrm>
            <a:off x="7090064" y="1659491"/>
            <a:ext cx="4587898" cy="4415743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F9CCDAF-14B9-0D6E-071B-33A6643E178C}"/>
              </a:ext>
            </a:extLst>
          </p:cNvPr>
          <p:cNvCxnSpPr>
            <a:cxnSpLocks/>
          </p:cNvCxnSpPr>
          <p:nvPr/>
        </p:nvCxnSpPr>
        <p:spPr>
          <a:xfrm>
            <a:off x="-4875379" y="6378417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42">
            <a:extLst>
              <a:ext uri="{FF2B5EF4-FFF2-40B4-BE49-F238E27FC236}">
                <a16:creationId xmlns:a16="http://schemas.microsoft.com/office/drawing/2014/main" id="{C7C7C8E9-FEB4-209E-EAD7-6BC6CB8E95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275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2">
            <a:extLst>
              <a:ext uri="{FF2B5EF4-FFF2-40B4-BE49-F238E27FC236}">
                <a16:creationId xmlns:a16="http://schemas.microsoft.com/office/drawing/2014/main" id="{BC996D52-2E93-F9D8-A886-A01A83DD1BC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49275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2">
            <a:extLst>
              <a:ext uri="{FF2B5EF4-FFF2-40B4-BE49-F238E27FC236}">
                <a16:creationId xmlns:a16="http://schemas.microsoft.com/office/drawing/2014/main" id="{5DC7264E-E2D6-671E-B9C8-A414A85DAE4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208612" cy="391061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3689FD6F-655A-D6A8-1737-574978BD91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55771" y="2110016"/>
            <a:ext cx="2208612" cy="1466167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733429DA-67C0-6FE0-823C-85CE3005BAF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9275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2">
            <a:extLst>
              <a:ext uri="{FF2B5EF4-FFF2-40B4-BE49-F238E27FC236}">
                <a16:creationId xmlns:a16="http://schemas.microsoft.com/office/drawing/2014/main" id="{F67AE1BD-0EA2-83E4-1CDD-25AA52342B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49275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2">
            <a:extLst>
              <a:ext uri="{FF2B5EF4-FFF2-40B4-BE49-F238E27FC236}">
                <a16:creationId xmlns:a16="http://schemas.microsoft.com/office/drawing/2014/main" id="{C55217DB-FE37-17F4-A822-C83DA878DC0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55771" y="3742828"/>
            <a:ext cx="2208612" cy="442302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42">
            <a:extLst>
              <a:ext uri="{FF2B5EF4-FFF2-40B4-BE49-F238E27FC236}">
                <a16:creationId xmlns:a16="http://schemas.microsoft.com/office/drawing/2014/main" id="{5D503262-4B9C-D6DB-D846-CE6423FFF36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755771" y="4248686"/>
            <a:ext cx="2208612" cy="974250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A337E456-4BEB-B2DF-0DF4-D0E9B0DBE4E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49275" y="5433775"/>
            <a:ext cx="5439151" cy="294800"/>
          </a:xfrm>
        </p:spPr>
        <p:txBody>
          <a:bodyPr anchor="ctr"/>
          <a:lstStyle>
            <a:lvl1pPr>
              <a:defRPr sz="18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8FE9EA60-14EE-1EE6-7912-4994FB26F3C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9275" y="5792130"/>
            <a:ext cx="5439151" cy="403534"/>
          </a:xfrm>
        </p:spPr>
        <p:txBody>
          <a:bodyPr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BCFC70CF-89AB-2A62-E0D7-6008642E6B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0594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-roll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D725A4B-76B5-3FBB-9BAA-70260131915B}"/>
              </a:ext>
            </a:extLst>
          </p:cNvPr>
          <p:cNvSpPr/>
          <p:nvPr userDrawn="1"/>
        </p:nvSpPr>
        <p:spPr>
          <a:xfrm>
            <a:off x="5910834" y="111868"/>
            <a:ext cx="6151294" cy="6634264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46304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19" y="1568741"/>
            <a:ext cx="4847159" cy="460345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shot with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B49CE33-B8B3-2D75-95E4-7E6D376D8E78}"/>
              </a:ext>
            </a:extLst>
          </p:cNvPr>
          <p:cNvSpPr/>
          <p:nvPr userDrawn="1"/>
        </p:nvSpPr>
        <p:spPr>
          <a:xfrm>
            <a:off x="7327686" y="723129"/>
            <a:ext cx="3817856" cy="5411741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Text Placeholder 42">
            <a:extLst>
              <a:ext uri="{FF2B5EF4-FFF2-40B4-BE49-F238E27FC236}">
                <a16:creationId xmlns:a16="http://schemas.microsoft.com/office/drawing/2014/main" id="{4911D5E0-19C5-9584-815B-507E057942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4431" y="723129"/>
            <a:ext cx="6146586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10C0D632-510F-3DE6-4496-83F41BABFBC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4431" y="1375794"/>
            <a:ext cx="6146586" cy="4759075"/>
          </a:xfrm>
        </p:spPr>
        <p:txBody>
          <a:bodyPr>
            <a:normAutofit/>
          </a:bodyPr>
          <a:lstStyle>
            <a:lvl1pPr algn="l">
              <a:defRPr sz="20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9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6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8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_with Tex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42">
            <a:extLst>
              <a:ext uri="{FF2B5EF4-FFF2-40B4-BE49-F238E27FC236}">
                <a16:creationId xmlns:a16="http://schemas.microsoft.com/office/drawing/2014/main" id="{16CD5EB2-C966-9CE5-B2EF-DC57A3EDF56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708941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2">
            <a:extLst>
              <a:ext uri="{FF2B5EF4-FFF2-40B4-BE49-F238E27FC236}">
                <a16:creationId xmlns:a16="http://schemas.microsoft.com/office/drawing/2014/main" id="{4D1CD856-FB4D-247B-850C-15FDC2AE30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941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2">
            <a:extLst>
              <a:ext uri="{FF2B5EF4-FFF2-40B4-BE49-F238E27FC236}">
                <a16:creationId xmlns:a16="http://schemas.microsoft.com/office/drawing/2014/main" id="{5EAD42C6-911D-9028-DDDE-ED7EC2EDC6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08941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2">
            <a:extLst>
              <a:ext uri="{FF2B5EF4-FFF2-40B4-BE49-F238E27FC236}">
                <a16:creationId xmlns:a16="http://schemas.microsoft.com/office/drawing/2014/main" id="{D564146D-BC49-92E0-396D-89ED83F08F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708941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42">
            <a:extLst>
              <a:ext uri="{FF2B5EF4-FFF2-40B4-BE49-F238E27FC236}">
                <a16:creationId xmlns:a16="http://schemas.microsoft.com/office/drawing/2014/main" id="{D767864E-6A31-8E42-F96B-9D663082755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113279" y="2070524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2">
            <a:extLst>
              <a:ext uri="{FF2B5EF4-FFF2-40B4-BE49-F238E27FC236}">
                <a16:creationId xmlns:a16="http://schemas.microsoft.com/office/drawing/2014/main" id="{B5436DB4-D46F-AB47-30BA-CDFFB6B49FF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13279" y="2402923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2">
            <a:extLst>
              <a:ext uri="{FF2B5EF4-FFF2-40B4-BE49-F238E27FC236}">
                <a16:creationId xmlns:a16="http://schemas.microsoft.com/office/drawing/2014/main" id="{D2D2CF00-3BEB-912A-7690-FEBD9090DD9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113279" y="4215848"/>
            <a:ext cx="2366161" cy="332399"/>
          </a:xfrm>
        </p:spPr>
        <p:txBody>
          <a:bodyPr anchor="ctr">
            <a:normAutofit/>
          </a:bodyPr>
          <a:lstStyle>
            <a:lvl1pPr algn="l">
              <a:defRPr sz="1600" b="1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2">
            <a:extLst>
              <a:ext uri="{FF2B5EF4-FFF2-40B4-BE49-F238E27FC236}">
                <a16:creationId xmlns:a16="http://schemas.microsoft.com/office/drawing/2014/main" id="{E164BD6D-AECC-321A-E90D-FF1C0143865E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9113279" y="4548247"/>
            <a:ext cx="2366161" cy="1408543"/>
          </a:xfrm>
        </p:spPr>
        <p:txBody>
          <a:bodyPr/>
          <a:lstStyle>
            <a:lvl1pPr algn="l">
              <a:defRPr sz="1400" b="0" i="0">
                <a:solidFill>
                  <a:schemeClr val="bg1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17412933-24E0-59C1-F8F1-B61D91DF16C1}"/>
              </a:ext>
            </a:extLst>
          </p:cNvPr>
          <p:cNvSpPr/>
          <p:nvPr userDrawn="1"/>
        </p:nvSpPr>
        <p:spPr>
          <a:xfrm>
            <a:off x="6235083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E3768A1-D02A-96FE-29B5-D21CCF781C0D}"/>
              </a:ext>
            </a:extLst>
          </p:cNvPr>
          <p:cNvSpPr/>
          <p:nvPr userDrawn="1"/>
        </p:nvSpPr>
        <p:spPr>
          <a:xfrm>
            <a:off x="830745" y="4215848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69C4F6D-A0FC-D651-701A-2830B673DC51}"/>
              </a:ext>
            </a:extLst>
          </p:cNvPr>
          <p:cNvSpPr/>
          <p:nvPr userDrawn="1"/>
        </p:nvSpPr>
        <p:spPr>
          <a:xfrm>
            <a:off x="6235083" y="2081241"/>
            <a:ext cx="2739716" cy="174855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FDA3E61-FBF4-0B4E-E307-2D0CFB2383AB}"/>
              </a:ext>
            </a:extLst>
          </p:cNvPr>
          <p:cNvSpPr/>
          <p:nvPr userDrawn="1"/>
        </p:nvSpPr>
        <p:spPr>
          <a:xfrm>
            <a:off x="830745" y="2081241"/>
            <a:ext cx="2739716" cy="173022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Placeholder 42">
            <a:extLst>
              <a:ext uri="{FF2B5EF4-FFF2-40B4-BE49-F238E27FC236}">
                <a16:creationId xmlns:a16="http://schemas.microsoft.com/office/drawing/2014/main" id="{EF3240BB-1BE2-D3FA-71B3-6B911A31583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0029253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5C1CA91-7871-7EEF-850C-A2E078054761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5" name="Graphic 12">
              <a:extLst>
                <a:ext uri="{FF2B5EF4-FFF2-40B4-BE49-F238E27FC236}">
                  <a16:creationId xmlns:a16="http://schemas.microsoft.com/office/drawing/2014/main" id="{44126652-E4C7-3337-7D65-36D70EF92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7" name="Graphic 13">
              <a:extLst>
                <a:ext uri="{FF2B5EF4-FFF2-40B4-BE49-F238E27FC236}">
                  <a16:creationId xmlns:a16="http://schemas.microsoft.com/office/drawing/2014/main" id="{5C7837FF-55AE-5C42-0052-95B901085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9" name="Graphic 15">
              <a:extLst>
                <a:ext uri="{FF2B5EF4-FFF2-40B4-BE49-F238E27FC236}">
                  <a16:creationId xmlns:a16="http://schemas.microsoft.com/office/drawing/2014/main" id="{158A825B-27A9-8B2F-5DA2-60C926A3A6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16814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7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animBg="1"/>
      <p:bldP spid="6" grpId="0" animBg="1"/>
      <p:bldP spid="10" grpId="0" animBg="1"/>
      <p:bldP spid="4" grpId="0" animBg="1"/>
      <p:bldP spid="2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Top with Text O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9032E92-E690-3EF2-6485-F2DF15E39903}"/>
              </a:ext>
            </a:extLst>
          </p:cNvPr>
          <p:cNvSpPr/>
          <p:nvPr userDrawn="1"/>
        </p:nvSpPr>
        <p:spPr>
          <a:xfrm>
            <a:off x="152399" y="164032"/>
            <a:ext cx="11887199" cy="4046705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1" y="4687536"/>
            <a:ext cx="9973455" cy="9387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1" y="5656642"/>
            <a:ext cx="9973455" cy="457200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00729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HS with Tex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FA245D79-8386-DABE-53EC-D23D2D196FB9}"/>
              </a:ext>
            </a:extLst>
          </p:cNvPr>
          <p:cNvSpPr/>
          <p:nvPr userDrawn="1"/>
        </p:nvSpPr>
        <p:spPr>
          <a:xfrm>
            <a:off x="1316427" y="1655064"/>
            <a:ext cx="3649273" cy="3649272"/>
          </a:xfrm>
          <a:prstGeom prst="ellipse">
            <a:avLst/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F46A82-71BF-F4CF-0CCA-F8EDE46E12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65891" y="685800"/>
            <a:ext cx="5910407" cy="175259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accent2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1" name="Content Placeholder 6">
            <a:extLst>
              <a:ext uri="{FF2B5EF4-FFF2-40B4-BE49-F238E27FC236}">
                <a16:creationId xmlns:a16="http://schemas.microsoft.com/office/drawing/2014/main" id="{C3E55B71-84F9-223B-46EC-202E6DCC1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668946" y="2971800"/>
            <a:ext cx="5910417" cy="3200399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685800" indent="-457200">
              <a:buFont typeface="+mj-lt"/>
              <a:buAutoNum type="arabicPeriod"/>
              <a:defRPr sz="1600">
                <a:solidFill>
                  <a:schemeClr val="bg1"/>
                </a:solidFill>
              </a:defRPr>
            </a:lvl2pPr>
            <a:lvl3pPr marL="8001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3pPr>
            <a:lvl4pPr marL="10287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4pPr>
            <a:lvl5pPr marL="1257300" indent="-342900">
              <a:buFont typeface="+mj-lt"/>
              <a:buAutoNum type="arabicPeriod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41F9AE9-4D1B-F10A-6C35-328127A91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655064"/>
            <a:ext cx="0" cy="5202936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21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Image/H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F39E82-A876-DB43-2155-B467EEC7495E}"/>
              </a:ext>
            </a:extLst>
          </p:cNvPr>
          <p:cNvSpPr/>
          <p:nvPr userDrawn="1"/>
        </p:nvSpPr>
        <p:spPr>
          <a:xfrm>
            <a:off x="7010401" y="1721141"/>
            <a:ext cx="4571999" cy="4154370"/>
          </a:xfrm>
          <a:prstGeom prst="roundRect">
            <a:avLst>
              <a:gd name="adj" fmla="val 3969"/>
            </a:avLst>
          </a:prstGeom>
          <a:solidFill>
            <a:srgbClr val="FF00FF"/>
          </a:solidFill>
          <a:ln w="28575">
            <a:solidFill>
              <a:schemeClr val="bg1"/>
            </a:solidFill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8EFD2888-AFCC-8F6C-23EA-6CC9E518F2B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74430" y="1721141"/>
            <a:ext cx="5977130" cy="415625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BD7B2E1-3857-60DC-4A59-90051A146598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695288CE-EA3E-77BC-98EF-17D52D2BB9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4" name="Graphic 13">
              <a:extLst>
                <a:ext uri="{FF2B5EF4-FFF2-40B4-BE49-F238E27FC236}">
                  <a16:creationId xmlns:a16="http://schemas.microsoft.com/office/drawing/2014/main" id="{6906A4B7-5DDC-1476-CFD5-2F5DFFD4BE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5">
              <a:extLst>
                <a:ext uri="{FF2B5EF4-FFF2-40B4-BE49-F238E27FC236}">
                  <a16:creationId xmlns:a16="http://schemas.microsoft.com/office/drawing/2014/main" id="{4375CD8A-A423-E39D-3A64-2E26D3323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D01C904B-D90B-04B0-5AA7-E2CF9756D8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74430" y="723129"/>
            <a:ext cx="11007970" cy="652665"/>
          </a:xfrm>
        </p:spPr>
        <p:txBody>
          <a:bodyPr>
            <a:noAutofit/>
          </a:bodyPr>
          <a:lstStyle>
            <a:lvl1pPr algn="l">
              <a:defRPr sz="3600" b="1" i="0">
                <a:solidFill>
                  <a:schemeClr val="accent2"/>
                </a:solidFill>
                <a:latin typeface="Segoe Sans Text" pitchFamily="2" charset="0"/>
                <a:cs typeface="Segoe Sans Text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>
        <p:tmplLst>
          <p:tmpl lvl="1">
            <p:tnLst>
              <p:par>
                <p:cTn presetID="1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1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>
        <p:tmplLst>
          <p:tmpl lvl="1">
            <p:tnLst>
              <p:par>
                <p:cTn presetID="1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7B80538-E0C0-8B37-2CBC-715464FE8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442" y="731520"/>
            <a:ext cx="10052958" cy="96259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C0431DD-A630-224B-A787-6BF3732EE15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2400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B9CDF450-BB1A-E96B-F44C-F881C731657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736080" y="1905000"/>
            <a:ext cx="4846320" cy="426878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4E2D18C-90AA-6695-2849-42F0DF3B0F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41248" y="1112520"/>
            <a:ext cx="0" cy="574548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2"/>
                </a:gs>
                <a:gs pos="100000">
                  <a:schemeClr val="accent4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pisode Title"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8CEC42AA-27BF-B007-BB04-09C8C9EC4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3824" y="1821900"/>
            <a:ext cx="10058376" cy="2303329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8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2D02356A-0FAC-18A7-430E-172D662A1E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3824" y="4337220"/>
            <a:ext cx="8229593" cy="123576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341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0091DA"/>
          </p15:clr>
        </p15:guide>
        <p15:guide id="6" pos="3840">
          <p15:clr>
            <a:srgbClr val="0091D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n't U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B435440-213B-C667-2EBF-8629860DBD4D}"/>
              </a:ext>
            </a:extLst>
          </p:cNvPr>
          <p:cNvSpPr/>
          <p:nvPr userDrawn="1"/>
        </p:nvSpPr>
        <p:spPr>
          <a:xfrm>
            <a:off x="645111" y="1476738"/>
            <a:ext cx="4039848" cy="4716946"/>
          </a:xfrm>
          <a:prstGeom prst="roundRect">
            <a:avLst>
              <a:gd name="adj" fmla="val 8436"/>
            </a:avLst>
          </a:prstGeom>
          <a:solidFill>
            <a:srgbClr val="FF00FF"/>
          </a:solidFill>
          <a:ln>
            <a:noFill/>
          </a:ln>
          <a:effectLst>
            <a:outerShdw blurRad="2159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818334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D195401-05E7-2FB1-B1F7-AA9B27AD52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751" y="0"/>
            <a:ext cx="12223751" cy="6858000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7E2FF643-8127-476F-F25A-C06D05518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893BF79-CC69-E772-9BF9-DAB9ECC07F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F18FE52-BA7D-6403-12A9-AB2F150B7C18}"/>
              </a:ext>
            </a:extLst>
          </p:cNvPr>
          <p:cNvCxnSpPr>
            <a:cxnSpLocks/>
          </p:cNvCxnSpPr>
          <p:nvPr/>
        </p:nvCxnSpPr>
        <p:spPr>
          <a:xfrm>
            <a:off x="838200" y="6336472"/>
            <a:ext cx="10515600" cy="0"/>
          </a:xfrm>
          <a:prstGeom prst="line">
            <a:avLst/>
          </a:prstGeom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 descr="A row of different colors&#10;&#10;AI-generated content may be incorrect.">
            <a:extLst>
              <a:ext uri="{FF2B5EF4-FFF2-40B4-BE49-F238E27FC236}">
                <a16:creationId xmlns:a16="http://schemas.microsoft.com/office/drawing/2014/main" id="{51267AAB-D7A7-4439-B78C-82E20D4F0A19}"/>
              </a:ext>
            </a:extLst>
          </p:cNvPr>
          <p:cNvPicPr>
            <a:picLocks noChangeAspect="1"/>
          </p:cNvPicPr>
          <p:nvPr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9845066" y="2457681"/>
            <a:ext cx="6867093" cy="195173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086F249-C031-21A6-4EBB-289339D6FBBA}"/>
              </a:ext>
            </a:extLst>
          </p:cNvPr>
          <p:cNvGrpSpPr/>
          <p:nvPr userDrawn="1"/>
        </p:nvGrpSpPr>
        <p:grpSpPr>
          <a:xfrm>
            <a:off x="11078040" y="685800"/>
            <a:ext cx="504370" cy="544340"/>
            <a:chOff x="10917026" y="837879"/>
            <a:chExt cx="513774" cy="554490"/>
          </a:xfrm>
        </p:grpSpPr>
        <p:sp>
          <p:nvSpPr>
            <p:cNvPr id="3" name="Graphic 12">
              <a:extLst>
                <a:ext uri="{FF2B5EF4-FFF2-40B4-BE49-F238E27FC236}">
                  <a16:creationId xmlns:a16="http://schemas.microsoft.com/office/drawing/2014/main" id="{97A1ACA9-1A1F-C402-ABCA-CE07E1AF3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1339662" y="1067174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5" name="Graphic 13">
              <a:extLst>
                <a:ext uri="{FF2B5EF4-FFF2-40B4-BE49-F238E27FC236}">
                  <a16:creationId xmlns:a16="http://schemas.microsoft.com/office/drawing/2014/main" id="{348E2D1C-60C8-B3BB-2FD2-73893F612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80882" y="837879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6" name="Graphic 15">
              <a:extLst>
                <a:ext uri="{FF2B5EF4-FFF2-40B4-BE49-F238E27FC236}">
                  <a16:creationId xmlns:a16="http://schemas.microsoft.com/office/drawing/2014/main" id="{C29DD7D2-2DD0-8394-2C58-02C9D289FE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0917026" y="1264655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159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908" r:id="rId2"/>
    <p:sldLayoutId id="2147483960" r:id="rId3"/>
    <p:sldLayoutId id="2147483916" r:id="rId4"/>
    <p:sldLayoutId id="2147483965" r:id="rId5"/>
    <p:sldLayoutId id="2147483967" r:id="rId6"/>
    <p:sldLayoutId id="2147483975" r:id="rId7"/>
    <p:sldLayoutId id="2147483903" r:id="rId8"/>
    <p:sldLayoutId id="2147483923" r:id="rId9"/>
    <p:sldLayoutId id="2147483939" r:id="rId10"/>
    <p:sldLayoutId id="2147483969" r:id="rId11"/>
    <p:sldLayoutId id="2147483958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accent2"/>
          </a:solidFill>
          <a:latin typeface="Segoe Sans Text ExtraBold" pitchFamily="2" charset="0"/>
          <a:ea typeface="+mj-ea"/>
          <a:cs typeface="Segoe Sans Text ExtraBold" pitchFamily="2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bg1"/>
          </a:solidFill>
          <a:latin typeface="Segoe Sans Text" pitchFamily="2" charset="0"/>
          <a:ea typeface="+mn-ea"/>
          <a:cs typeface="Segoe Sans Tex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6CC24A"/>
          </p15:clr>
        </p15:guide>
        <p15:guide id="2" pos="3840" userDrawn="1">
          <p15:clr>
            <a:srgbClr val="6CC24A"/>
          </p15:clr>
        </p15:guide>
        <p15:guide id="3" pos="7296" userDrawn="1">
          <p15:clr>
            <a:srgbClr val="6CC24A"/>
          </p15:clr>
        </p15:guide>
        <p15:guide id="4" pos="384" userDrawn="1">
          <p15:clr>
            <a:srgbClr val="6CC24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5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5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5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5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5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4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5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4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5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5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5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4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4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5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5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AI Governance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1 — Dr. Michael Solomon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Episode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How to structure AI governance</a:t>
            </a:r>
          </a:p>
          <a:p>
            <a:r>
              <a:t>What a complete program contains</a:t>
            </a:r>
          </a:p>
          <a:p>
            <a:r>
              <a:t>Three models: central · federated · hybrid</a:t>
            </a:r>
          </a:p>
          <a:p>
            <a:r>
              <a:t>Six program components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Heaviest Domain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Domain 1 — most-tested on the exam</a:t>
            </a:r>
          </a:p>
          <a:p>
            <a:r>
              <a:t>Structures · roles · responsible AI</a:t>
            </a:r>
          </a:p>
          <a:p>
            <a:r>
              <a:t>Risk · shadow AI · frameworks</a:t>
            </a:r>
          </a:p>
          <a:p>
            <a:r>
              <a:t>Policies · third-party sovereignty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 Structures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Who decides how AI is used?</a:t>
            </a:r>
          </a:p>
          <a:p>
            <a:r>
              <a:t>Directed · controlled · accountable</a:t>
            </a:r>
          </a:p>
          <a:p>
            <a:r>
              <a:t>Exam: structures · roles · policies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AI Center of Excellence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Centralized cross-functional team</a:t>
            </a:r>
          </a:p>
          <a:p>
            <a:r>
              <a:t>AI/ML · security · legal · ethics · ops</a:t>
            </a:r>
          </a:p>
          <a:p>
            <a:r>
              <a:t>The primary delivery 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Three CoE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SET — Standards: use · testing · monitoring</a:t>
            </a:r>
          </a:p>
          <a:p>
            <a:r>
              <a:t>ENABLE — Guidance + reusable components</a:t>
            </a:r>
          </a:p>
          <a:p>
            <a:r>
              <a:t>EVALUATE — Risk review before 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Governance Committees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Senior leadership decision body</a:t>
            </a:r>
          </a:p>
          <a:p>
            <a:r>
              <a:t>Legal · infosec · privacy · business</a:t>
            </a:r>
          </a:p>
          <a:p>
            <a:r>
              <a:t>They decide — the CoE implements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Duties &amp; Escalation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Approve use cases · set tolerance</a:t>
            </a:r>
          </a:p>
          <a:p>
            <a:r>
              <a:t>Review incidents · reg alignment</a:t>
            </a:r>
          </a:p>
          <a:p>
            <a:r>
              <a:t>Escalation thresholds documented</a:t>
            </a:r>
          </a:p>
          <a:p>
            <a:r>
              <a:t>Risk-based: sensitivity · automation · scope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ALLOW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Acceptable use — apps · purposes · data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PROHIBIT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Explicitly banned AI uses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DATA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Classification · privacy standards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VENDORS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Third-party AI requirements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AI Governance Policies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Technical controls block unapproved AI</a:t>
            </a:r>
          </a:p>
          <a:p>
            <a:r>
              <a:t>Procurement: AI vendor evaluation</a:t>
            </a:r>
          </a:p>
          <a:p>
            <a:r>
              <a:t>Audits verify ongoing compliance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ENFORCEMENT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Six Program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The pillars of a complete AI governance program</a:t>
            </a:r>
          </a:p>
          <a:p>
            <a:r>
              <a:t>Any one missing or immature = a structural gap</a:t>
            </a:r>
          </a:p>
          <a:p>
            <a:r>
              <a:t>Every later episode builds on one or more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Three models shape accountability</a:t>
            </a:r>
          </a:p>
          <a:p>
            <a:r>
              <a:t>Board → executive → operational</a:t>
            </a:r>
          </a:p>
          <a:p>
            <a:r>
              <a:t>Six components = the pillars</a:t>
            </a:r>
          </a:p>
          <a:p>
            <a:r>
              <a:t>Next: steering committees &amp; charters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Steering Committees &amp; Charters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2 — Dr. Michael Solomon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What a Steering Committee 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Cross-functional membership</a:t>
            </a:r>
          </a:p>
          <a:p>
            <a:r>
              <a:t>Formal decision authority</a:t>
            </a:r>
          </a:p>
          <a:p>
            <a:r>
              <a:t>Empowered to act — not advisory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2000">
                <a:latin typeface="Segoe Sans Text"/>
                <a:cs typeface="Segoe Sans Text"/>
              </a:rPr>
              <a:t>The most critical structural decision</a:t>
            </a:r>
            <a:endParaRPr lang="en-US" sz="2000">
              <a:latin typeface="Segoe Sans Text"/>
              <a:cs typeface="Segoe Sans Text"/>
            </a:endParaRPr>
          </a:p>
          <a:p>
            <a:r>
              <a:rPr sz="2000">
                <a:latin typeface="Segoe Sans Text"/>
                <a:cs typeface="Segoe Sans Text"/>
              </a:rPr>
              <a:t>Sets agenda, drives decisions</a:t>
            </a:r>
          </a:p>
          <a:p>
            <a:r>
              <a:rPr sz="2000">
                <a:latin typeface="Segoe Sans Text"/>
                <a:cs typeface="Segoe Sans Text"/>
              </a:rPr>
              <a:t>Owns outcomes between meetings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CHAIR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SECURITY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CISO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TECH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CTO / AI Owner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LEGAL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General Counsel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RISK/BIZ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CRO · Business · Audit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Six Membership Domains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Voting, Non-Voting &amp; Quorum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Voting members hold authority</a:t>
            </a:r>
          </a:p>
          <a:p>
            <a:r>
              <a:t>Non-voting SMEs attend as needed</a:t>
            </a:r>
          </a:p>
          <a:p>
            <a:r>
              <a:t>Quorum prevents rogue decisions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The Charter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The committee's constitution — not an agenda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Six Charter Components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Purpose / scope</a:t>
            </a:r>
          </a:p>
          <a:p>
            <a:r>
              <a:t>Authority &amp; limits (most critical)</a:t>
            </a:r>
          </a:p>
          <a:p>
            <a:r>
              <a:t>Membership &amp; operating procedures</a:t>
            </a:r>
          </a:p>
          <a:p>
            <a:r>
              <a:t>Escalation paths · accountability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Governance Workflow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1 · Request raised</a:t>
            </a:r>
          </a:p>
          <a:p>
            <a:r>
              <a:t>2 · Operational review</a:t>
            </a:r>
          </a:p>
          <a:p>
            <a:r>
              <a:t>3 · Steering committee</a:t>
            </a:r>
          </a:p>
          <a:p>
            <a:r>
              <a:t>4 · Board escalation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Maturation: Three Phases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Establish — charter, chair, members</a:t>
            </a:r>
          </a:p>
          <a:p>
            <a:r>
              <a:t>Operate — cadence, minutes, KPIs</a:t>
            </a:r>
          </a:p>
          <a:p>
            <a:r>
              <a:t>Mature — annual review, rotation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Stakeholder Identification &amp; Accountability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3 — Dr. Michael Solomon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Episode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Map the full stakeholder landscape</a:t>
            </a:r>
          </a:p>
          <a:p>
            <a:r>
              <a:t>Apply the RACI model</a:t>
            </a:r>
          </a:p>
          <a:p>
            <a:r>
              <a:t>Spot the common accountability gaps</a:t>
            </a:r>
          </a:p>
          <a:p>
            <a:r>
              <a:t>Diagnose failures from a scenario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Ownership Fails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67% of AI project failures cite unclear ownership</a:t>
            </a:r>
          </a:p>
          <a:p>
            <a:r>
              <a:t>Root cause is people, not technology</a:t>
            </a:r>
          </a:p>
          <a:p>
            <a:r>
              <a:t>Stakeholder mapping prevents the gap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Questions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Who has authority?</a:t>
            </a:r>
          </a:p>
          <a:p>
            <a:r>
              <a:t>Who is accountable?</a:t>
            </a:r>
          </a:p>
          <a:p>
            <a:r>
              <a:t>Who must be informed?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Stakeholder Domains 1–3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Executive leadership — sets risk appetite</a:t>
            </a:r>
          </a:p>
          <a:p>
            <a:r>
              <a:t>Security &amp; risk — CISO/CRO own posture</a:t>
            </a:r>
          </a:p>
          <a:p>
            <a:r>
              <a:t>Data &amp; AI teams — build and operate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Stakeholder Domains 4–6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Legal &amp; compliance — GC/DPO, ethics review</a:t>
            </a:r>
          </a:p>
          <a:p>
            <a:r>
              <a:t>Business owners — fund; speed pressure</a:t>
            </a:r>
          </a:p>
          <a:p>
            <a:r>
              <a:t>Audit &amp; governance — independent assurance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RESPONSIBLE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Executes the work — can be shared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ACCOUNTABLE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Owns the outcome — exactly one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CONSULTED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Provides required input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INFORMED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Notified of results only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The RACI Model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One-A Rule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Exactly one Accountable per activity</a:t>
            </a:r>
          </a:p>
          <a:p>
            <a:r>
              <a:t>Most-tested RACI concept</a:t>
            </a:r>
          </a:p>
          <a:p>
            <a:r>
              <a:t>Two A's = nobody is accountable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Key Program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Chief AI Officer — accountable exec</a:t>
            </a:r>
          </a:p>
          <a:p>
            <a:r>
              <a:t>AI Security Officer (CISO) — controls, IR</a:t>
            </a:r>
          </a:p>
          <a:p>
            <a:r>
              <a:t>AI &amp; Compliance Lead — register, audit</a:t>
            </a:r>
          </a:p>
          <a:p>
            <a:r>
              <a:t>Business AI Owner — sponsor, not governance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Reporting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Governance roles → enterprise risk</a:t>
            </a:r>
          </a:p>
          <a:p>
            <a:r>
              <a:t>Business owners → the business</a:t>
            </a:r>
          </a:p>
          <a:p>
            <a:r>
              <a:t>Separation shields governance decisions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Five-Step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t>1  Scope — systems, use cases, functions</a:t>
            </a:r>
          </a:p>
          <a:p>
            <a:r>
              <a:t>2  Map the six functional domains</a:t>
            </a:r>
          </a:p>
          <a:p>
            <a:r>
              <a:t>3  Apply RACI to key activities</a:t>
            </a:r>
          </a:p>
          <a:p>
            <a:r>
              <a:t>4  Validate — confirm with each party</a:t>
            </a:r>
          </a:p>
          <a:p>
            <a:r>
              <a:t>5  Document &amp; maintain — review annually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Accountable vs Responsible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ACCOUNTABLE</a:t>
            </a:r>
          </a:p>
          <a:p>
            <a:r>
              <a:t>Owns the outcome</a:t>
            </a:r>
          </a:p>
          <a:p>
            <a:r>
              <a:t>Exactly one person</a:t>
            </a:r>
          </a:p>
          <a:p>
            <a:r>
              <a:t>Cannot be shared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RESPONSIBLE</a:t>
            </a:r>
          </a:p>
          <a:p>
            <a:r>
              <a:t>Executes the work</a:t>
            </a:r>
          </a:p>
          <a:p>
            <a:r>
              <a:t>Can be many people</a:t>
            </a:r>
          </a:p>
          <a:p>
            <a:r>
              <a:t>Sharing is fine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DIFFUSE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Multiple A's — nobody truly owns it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MISSING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Key function (legal/audit) left off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AUTHORITY, NO A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Decides in charter, no RACI 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A, NO AUTHORITY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Named A can't direct the work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Accountability Gaps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Six domains · RACI · one-A rule</a:t>
            </a:r>
          </a:p>
          <a:p>
            <a:r>
              <a:t>Five-step process · four gap patterns</a:t>
            </a:r>
          </a:p>
          <a:p>
            <a:r>
              <a:t>Exam: diagnose the gap from a scenario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Risk Appetite &amp; Risk Tolerance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4 — Dr. Michael Solomon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Appetite vs Tolerance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Appetite — board-level strategic statement</a:t>
            </a:r>
          </a:p>
          <a:p>
            <a:r>
              <a:t>Tolerance — measurable operational band</a:t>
            </a:r>
          </a:p>
          <a:p>
            <a:r>
              <a:t>Both documented in the program plan</a:t>
            </a:r>
          </a:p>
          <a:p>
            <a:r>
              <a:t>Verbal commitments aren't evidence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Distinct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APPETITE</a:t>
            </a:r>
          </a:p>
          <a:p>
            <a:r>
              <a:t>Qualitative</a:t>
            </a:r>
          </a:p>
          <a:p>
            <a:r>
              <a:t>Board-level · strategic</a:t>
            </a:r>
          </a:p>
          <a:p>
            <a:r>
              <a:t>Set by steering committee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TOLERANCE</a:t>
            </a:r>
          </a:p>
          <a:p>
            <a:r>
              <a:t>Quantitative</a:t>
            </a:r>
          </a:p>
          <a:p>
            <a:r>
              <a:t>Operational · measurable</a:t>
            </a:r>
          </a:p>
          <a:p>
            <a:r>
              <a:t>Set by AI security lead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Worked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Appetite: residual risk medium or below</a:t>
            </a:r>
          </a:p>
          <a:p>
            <a:r>
              <a:t>Tolerance: fairness variance ≤ 10%</a:t>
            </a:r>
          </a:p>
          <a:p>
            <a:r>
              <a:t>Strategic vs measurable, side by side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OPERATIONAL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Errors &amp; performance loss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REPUTATIONAL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Discriminatory or harmful outputs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REGULATORY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Noncompliance — capped by law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STRATEGIC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Capability limits vs objectives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Appetite Dimensions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Thresholds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Turn appetite into per-system limits</a:t>
            </a:r>
          </a:p>
          <a:p>
            <a:r>
              <a:t>Fairness bands · accuracy · SLAs · drift</a:t>
            </a:r>
          </a:p>
          <a:p>
            <a:r>
              <a:t>Tier-1 tighter than tier-3</a:t>
            </a:r>
          </a:p>
          <a:p>
            <a:r>
              <a:t>Feed KRI monitoring dashboards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Every Decision Checks Appetite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Within — proceed &amp; document</a:t>
            </a:r>
          </a:p>
          <a:p>
            <a:r>
              <a:t>At boundary — named approval</a:t>
            </a:r>
          </a:p>
          <a:p>
            <a:r>
              <a:t>Above — escalate, treat or pause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Risk Register Linkage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Every entry rated against appetite</a:t>
            </a:r>
          </a:p>
          <a:p>
            <a:r>
              <a:t>Above appetite needs board sign-off</a:t>
            </a:r>
          </a:p>
          <a:p>
            <a:r>
              <a:t>Appetite change = reassess all entries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Treatment &amp;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Above-appetite risks funded first</a:t>
            </a:r>
          </a:p>
          <a:p>
            <a:r>
              <a:t>Annual review = appetite adequacy check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Regulatory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EU AI Act high-risk — no noncompliance</a:t>
            </a:r>
          </a:p>
          <a:p>
            <a:r>
              <a:t>GDPR Article 22 — automated decisions</a:t>
            </a:r>
          </a:p>
          <a:p>
            <a:r>
              <a:t>Third-party appetite feeds vendor tiering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NO SIGN-OFF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Security lead sets appetite alone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NO THRESHOLDS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Appetite exists, no operating limits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PRE-BASELINE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Thresholds set before production data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STALE APPETITE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Not reviewed after strategy change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Four Failure Patterns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Appetite vs tolerance · four dimensions</a:t>
            </a:r>
          </a:p>
          <a:p>
            <a:r>
              <a:t>Thresholds · decisions · register linkage</a:t>
            </a:r>
          </a:p>
          <a:p>
            <a:r>
              <a:t>Regulatory appetite is capped by law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Wiring it together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768143-DAE4-F4F6-C7DD-A5AAC4BD2A1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Document both in program plan §1</a:t>
            </a:r>
          </a:p>
          <a:p>
            <a:r>
              <a:rPr lang="en-US"/>
              <a:t>Reference in every governance artifact</a:t>
            </a:r>
          </a:p>
          <a:p>
            <a:r>
              <a:rPr lang="en-US"/>
              <a:t>Review annually &amp; on material change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Framework Selection &amp; Regulatory Alignment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5 — Dr. Michael Solomon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/>
              <a:t>Three Framework Pillars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EU AI Act — mandatory regulation</a:t>
            </a:r>
          </a:p>
          <a:p>
            <a:r>
              <a:t>NIST AI RMF — voluntary governance structure</a:t>
            </a:r>
          </a:p>
          <a:p>
            <a:r>
              <a:t>ISO 42001 + OECD — international standards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EU AI Act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World's first comprehensive AI regulation</a:t>
            </a:r>
          </a:p>
          <a:p>
            <a:r>
              <a:t>In force August 2024</a:t>
            </a:r>
          </a:p>
          <a:p>
            <a:r>
              <a:t>Risk-tiered: obligations scale with potential harm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Extraterritorial Scope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Applies to AI placed on or used in the EU market</a:t>
            </a:r>
          </a:p>
          <a:p>
            <a:r>
              <a:t>And to AI outputs used in the EU</a:t>
            </a:r>
          </a:p>
          <a:p>
            <a:r>
              <a:t>May reach systems deployed anywhere that affect EU users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1 Unacceptable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Prohibited — banned entirely in the EU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2 High Risk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Strict pre-market assessment + monitoring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3 Limited Risk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Transparency / disclosure obligations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4 Minimal Risk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No specific obligations; voluntary codes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0CFC610-5575-6063-D735-B48788524713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EU AI Act Risk Tiers</a:t>
            </a:r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5E31E00-8076-EE26-1049-FFB641FC4C7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 1 · Prohibited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Social scoring by public authorities</a:t>
            </a:r>
          </a:p>
          <a:p>
            <a:r>
              <a:t>Real-time remote biometric ID in public (narrow exceptions)</a:t>
            </a:r>
          </a:p>
          <a:p>
            <a:r>
              <a:t>Subliminal manipulation; exploiting group vulnerabilities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 2 · High-Risk Categories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Critical infrastructure</a:t>
            </a:r>
          </a:p>
          <a:p>
            <a:r>
              <a:t>Education &amp; employment decisions</a:t>
            </a:r>
          </a:p>
          <a:p>
            <a:r>
              <a:t>Access to essential services</a:t>
            </a:r>
          </a:p>
          <a:p>
            <a:r>
              <a:t>Law enforcement &amp; administration of justice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 3 · Limited Risk — Disclosure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Chatbots must identify themselves as AI</a:t>
            </a:r>
          </a:p>
          <a:p>
            <a:r>
              <a:t>Deepfake content must be labeled synthetic</a:t>
            </a:r>
          </a:p>
          <a:p>
            <a:r>
              <a:t>Emotion-recognition systems must be disclosed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Tier 4 · Minimal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Spam filters, games, low-stakes recommendations</a:t>
            </a:r>
          </a:p>
          <a:p>
            <a:r>
              <a:t>No specific obligations — voluntary codes of conduct</a:t>
            </a:r>
          </a:p>
          <a:p>
            <a:r>
              <a:t>Exam: know an example + obligation for each tier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Seven High-Risk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Risk management across the lifecycle</a:t>
            </a:r>
          </a:p>
          <a:p>
            <a:r>
              <a:t>Data governance</a:t>
            </a:r>
          </a:p>
          <a:p>
            <a:r>
              <a:t>Technical documentation</a:t>
            </a:r>
          </a:p>
          <a:p>
            <a:r>
              <a:t>Record-keeping (automatic logs)</a:t>
            </a:r>
          </a:p>
          <a:p>
            <a:r>
              <a:t>Transparency to users</a:t>
            </a:r>
          </a:p>
          <a:p>
            <a:r>
              <a:t>Human oversight</a:t>
            </a:r>
          </a:p>
          <a:p>
            <a:r>
              <a:t>Accuracy, robustness &amp; cybersecurity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Conformity Assessment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Required before a high-risk system reaches market</a:t>
            </a:r>
          </a:p>
          <a:p>
            <a:r>
              <a:t>Self-assessment or third-party, by category</a:t>
            </a:r>
          </a:p>
          <a:p>
            <a:r>
              <a:t>Scenario Qs may describe a missing requirement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General-Purpose AI (GPAI)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Publish a summary of training data used</a:t>
            </a:r>
          </a:p>
          <a:p>
            <a:r>
              <a:t>Comply with EU copyright law</a:t>
            </a:r>
          </a:p>
          <a:p>
            <a:r>
              <a:t>Provide technical docs to downstream deployers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GPAI Systemic Risk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Triggered by training compute above a threshold</a:t>
            </a:r>
          </a:p>
          <a:p>
            <a:r>
              <a:t>Adversarial testing + incident reporting to the EU AI Office</a:t>
            </a:r>
          </a:p>
          <a:p>
            <a:r>
              <a:t>Cybersecurity protection measures</a:t>
            </a:r>
          </a:p>
          <a:p>
            <a:r>
              <a:t>Enforced by national authorities + the EU AI Office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€35M / 7%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Prohibited-AI violations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€15M / 3%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High-risk non-compliance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1804761" y="2842942"/>
            <a:ext cx="2208612" cy="442302"/>
          </a:xfrm>
        </p:spPr>
        <p:txBody>
          <a:bodyPr/>
          <a:lstStyle/>
          <a:p>
            <a:pPr algn="ctr"/>
            <a:r>
              <a:t>€7.5M / 1.5%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804761" y="3283486"/>
            <a:ext cx="2208612" cy="97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t>Incorrect info to authorities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CA02FA3-6DE9-9C49-B3F2-1ADED4E3B18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EU AI Act Penalties</a:t>
            </a:r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NIST AI RMF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US government voluntary framework, released Jan 2023</a:t>
            </a:r>
          </a:p>
          <a:p>
            <a:r>
              <a:t>Directly tested; a global governance-maturity benchmark</a:t>
            </a:r>
          </a:p>
          <a:p>
            <a:r>
              <a:t>Structured risk approach across the AI lifecycle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Govern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Foundational, cross-cutting policy &amp; culture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Map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r>
              <a:t>Understand context + identify risks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r>
              <a:t>Measure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t>Analyze, quantify + track risks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r>
              <a:t>Manage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r>
              <a:t>Implement + monitor risk responses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NIST AI RMF — Four Core Functions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Govern — Foundational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Policies, roles, and organizational risk tolerance</a:t>
            </a:r>
          </a:p>
          <a:p>
            <a:r>
              <a:t>Senior-leadership &amp; board engagement; risk-aware culture</a:t>
            </a:r>
          </a:p>
          <a:p>
            <a:r>
              <a:t>Cross-cutting — informs every other function</a:t>
            </a:r>
          </a:p>
          <a:p>
            <a:r>
              <a:t>Absent if there's no risk tolerance, roles, or policy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Map — Context &amp; Risks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Categorize systems by use, stakeholders, impacts</a:t>
            </a:r>
          </a:p>
          <a:p>
            <a:r>
              <a:t>Applicable laws + potential harms to people &amp; society</a:t>
            </a:r>
          </a:p>
          <a:p>
            <a:r>
              <a:t>Data inputs and their provenance</a:t>
            </a:r>
          </a:p>
          <a:p>
            <a:r>
              <a:t>Missing if there's no grasp of who's affected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Measure — Analyze &amp; Quantify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Bias/fairness assessments + adversarial red-teaming</a:t>
            </a:r>
          </a:p>
          <a:p>
            <a:r>
              <a:t>Performance vs benchmarks; control effectiveness</a:t>
            </a:r>
          </a:p>
          <a:p>
            <a:r>
              <a:t>Production monitoring of AI behavior</a:t>
            </a:r>
          </a:p>
          <a:p>
            <a:r>
              <a:t>Missing if severity/likelihood aren't assessed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Manage — Respond &amp; Refine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Implement controls; allocate resources by severity</a:t>
            </a:r>
          </a:p>
          <a:p>
            <a:r>
              <a:t>Incident response + residual-risk acceptance</a:t>
            </a:r>
          </a:p>
          <a:p>
            <a:r>
              <a:t>Feedback loops return intelligence to Map &amp; Measure</a:t>
            </a:r>
          </a:p>
          <a:p>
            <a:r>
              <a:t>A never-updated assessment = a broken Manage function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ISO 42001 &amp; OECD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ISO/IEC 42001 — international AI management-system standard</a:t>
            </a:r>
          </a:p>
          <a:p>
            <a:r>
              <a:t>OECD AI Principles — first intergovernmental standard (2019)</a:t>
            </a:r>
          </a:p>
          <a:p>
            <a:r>
              <a:t>ISO 42001 mirrors ISO 9001 / 27001 structure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ISO/IEC 42001 Key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Organizational context + leadership commitment</a:t>
            </a:r>
          </a:p>
          <a:p>
            <a:r>
              <a:t>Planning: AI objectives + risk treatment</a:t>
            </a:r>
          </a:p>
          <a:p>
            <a:r>
              <a:t>Support, operation, performance evaluation</a:t>
            </a:r>
          </a:p>
          <a:p>
            <a:r>
              <a:t>Improvement — the certifiable AMS framework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Five OECD AI Principles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Inclusive growth &amp; well-being</a:t>
            </a:r>
          </a:p>
          <a:p>
            <a:r>
              <a:t>Human-centered values &amp; fairness</a:t>
            </a:r>
          </a:p>
          <a:p>
            <a:r>
              <a:t>Transparency &amp; explainability</a:t>
            </a:r>
          </a:p>
          <a:p>
            <a:r>
              <a:t>Robustness, security &amp; safety</a:t>
            </a:r>
          </a:p>
          <a:p>
            <a:r>
              <a:t>Accountability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ISO 42001 vs NIST AI RMF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ISO 42001 — certifiable via third-party audit, global</a:t>
            </a:r>
          </a:p>
          <a:p>
            <a:r>
              <a:t>NIST AI RMF — voluntary US guidance, no certification</a:t>
            </a:r>
          </a:p>
          <a:p>
            <a:r>
              <a:t>Complementary: run NIST, certify to ISO 42001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Layered Governance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EU AI Act — minimum legal requirements</a:t>
            </a:r>
          </a:p>
          <a:p>
            <a:r>
              <a:t>NIST AI RMF — operational risk-management process</a:t>
            </a:r>
          </a:p>
          <a:p>
            <a:r>
              <a:t>ISO 42001 — certifiable management-system structure</a:t>
            </a:r>
          </a:p>
          <a:p>
            <a:r>
              <a:t>OECD — ethical-principles foundation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8"/>
          </p:nvPr>
        </p:nvSpPr>
        <p:spPr/>
        <p:txBody>
          <a:bodyPr/>
          <a:lstStyle/>
          <a:p>
            <a:r>
              <a:t>Each framework contributes a distinct dimension</a:t>
            </a:r>
          </a:p>
          <a:p>
            <a:r>
              <a:t>Scenario Qs: which framework element is missing?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r>
              <a:t>COMPLEMENTARY, NOT REDUNDANT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Simulation · Layered Governance Assessment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Evaluate an AMS against ISO 42001 + the OECD five principles, compare framework applicability, and produce a layered-architecture assessment.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 · Framework Selection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Three pillars: EU AI Act, NIST AI RMF, ISO 42001 + OECD</a:t>
            </a:r>
          </a:p>
          <a:p>
            <a:r>
              <a:t>Know the EU AI Act risk tiers + high-risk list</a:t>
            </a:r>
          </a:p>
          <a:p>
            <a:r>
              <a:t>NIST functions — Govern is most relevant to governance</a:t>
            </a:r>
          </a:p>
          <a:p>
            <a:r>
              <a:t>ISO 42001 is the only certifiable AMS; 4-criteria model tested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7200"/>
              <a:t>AI Business Use Case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6 — Dr. Michael Solomon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Use Case Intake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Standardized form: purpose · data · owner</a:t>
            </a:r>
          </a:p>
          <a:p>
            <a:r>
              <a:t>No deployment without a completed intake</a:t>
            </a:r>
          </a:p>
          <a:p>
            <a:r>
              <a:t>Unregistered deployment = program gap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Risk Assessment at Intake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Classify vs the four appetite dimensions</a:t>
            </a:r>
          </a:p>
          <a:p>
            <a:r>
              <a:t>EU AI Act classification</a:t>
            </a:r>
          </a:p>
          <a:p>
            <a:r>
              <a:t>Personal · special · automated data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Three Governance Tracks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STANDARD — tier 3</a:t>
            </a:r>
          </a:p>
          <a:p>
            <a:r>
              <a:t>ENHANCED — tier 2</a:t>
            </a:r>
          </a:p>
          <a:p>
            <a:r>
              <a:t>FULL COMMITTEE — tier 1 / high risk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Track Requirements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Standard — program-team review, inventory</a:t>
            </a:r>
          </a:p>
          <a:p>
            <a:r>
              <a:t>Enhanced — security lead, DPIA, monitoring</a:t>
            </a:r>
          </a:p>
          <a:p>
            <a:r>
              <a:t>Full — steering approval + architecture gate</a:t>
            </a:r>
          </a:p>
          <a:p>
            <a:r>
              <a:t>Routing driven by the risk score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Business Owner Accountability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938528"/>
            <a:ext cx="6146586" cy="4187952"/>
          </a:xfrm>
        </p:spPr>
        <p:txBody>
          <a:bodyPr/>
          <a:lstStyle/>
          <a:p>
            <a:r>
              <a:t>Sponsor owns the business case</a:t>
            </a:r>
          </a:p>
          <a:p>
            <a:r>
              <a:t>Not the governance program</a:t>
            </a:r>
          </a:p>
          <a:p>
            <a:r>
              <a:t>Confirms purpose · users · outputs · success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Post-Approval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Deploy → asset inventory + monitoring</a:t>
            </a:r>
          </a:p>
          <a:p>
            <a:r>
              <a:t>Material change → change management</a:t>
            </a:r>
          </a:p>
          <a:p>
            <a:r>
              <a:t>Decommission → retirement procedure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AAISM Additions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Intake captures EU AI Act class + purpose</a:t>
            </a:r>
          </a:p>
          <a:p>
            <a:r>
              <a:t>Annex III high-risk → FRIA before deploy</a:t>
            </a:r>
          </a:p>
          <a:p>
            <a:r>
              <a:t>Intake retained as governance evidence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Intake · risk-based tracks · owner role</a:t>
            </a:r>
          </a:p>
          <a:p>
            <a:r>
              <a:t>Post-approval obligations</a:t>
            </a:r>
          </a:p>
          <a:p>
            <a:r>
              <a:t>EU AI Act classification at intake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NO INTAKE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Deployed with no intake record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t>WRONG TRACK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HR AI routed through standard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t>OWNER BYPASS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Sponsor approves own use case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NO RETIREMENT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Switched off, no procedure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E262DEE-7D1A-0F5B-EF4C-5E9078382822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Failure Patterns</a:t>
            </a:r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The Fixes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Intake mandatory for all deployments</a:t>
            </a:r>
          </a:p>
          <a:p>
            <a:r>
              <a:t>Track assigned by the AI program team</a:t>
            </a:r>
          </a:p>
          <a:p>
            <a:r>
              <a:t>Governance SLA so speed can't bypass</a:t>
            </a:r>
          </a:p>
          <a:p>
            <a:r>
              <a:t>Retirement procedure enforced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1" y="4353707"/>
            <a:ext cx="9973455" cy="938784"/>
          </a:xfrm>
        </p:spPr>
        <p:txBody>
          <a:bodyPr/>
          <a:lstStyle/>
          <a:p>
            <a:r>
              <a:rPr sz="2800"/>
              <a:t>The Governance Trail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609601" y="5286528"/>
            <a:ext cx="9973455" cy="457200"/>
          </a:xfrm>
        </p:spPr>
        <p:txBody>
          <a:bodyPr/>
          <a:lstStyle/>
          <a:p>
            <a:r>
              <a:t>Every system: complete intake + approval</a:t>
            </a:r>
          </a:p>
          <a:p>
            <a:r>
              <a:t>Links to inventory · register · DPIA</a:t>
            </a:r>
          </a:p>
          <a:p>
            <a:r>
              <a:t>No trail = unmanaged control gap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5400"/>
              <a:t>AI Strategy: Consumer vs Enterprise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Chapter 01 · Episode 7 — Dr. Michael Solomon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Consumer vs Enterprise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t>CONSUMER AI</a:t>
            </a:r>
          </a:p>
          <a:p>
            <a:r>
              <a:t>Wider user population</a:t>
            </a:r>
          </a:p>
          <a:p>
            <a:r>
              <a:t>Higher regulatory scrutiny</a:t>
            </a:r>
          </a:p>
          <a:p>
            <a:r>
              <a:t>Transparency to end users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r>
              <a:t>ENTERPRISE AI</a:t>
            </a:r>
          </a:p>
          <a:p>
            <a:r>
              <a:t>Narrower population</a:t>
            </a:r>
          </a:p>
          <a:p>
            <a:r>
              <a:t>Internal accountability</a:t>
            </a:r>
          </a:p>
          <a:p>
            <a:r>
              <a:t>Operational efficiency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Enterprise &amp; the HR Trap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Obligations mainly to employees</a:t>
            </a:r>
          </a:p>
          <a:p>
            <a:r>
              <a:t>Exception: HR AI = high-risk (Annex III)</a:t>
            </a:r>
          </a:p>
          <a:p>
            <a:r>
              <a:t>Same FRIA as consumer high-risk</a:t>
            </a:r>
          </a:p>
          <a:p>
            <a:r>
              <a:t>HR AI is not exempt — exam trap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Build vs Buy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Build → provider obligations</a:t>
            </a:r>
          </a:p>
          <a:p>
            <a:r>
              <a:t>Buy / API → deployer + vendor DD</a:t>
            </a:r>
          </a:p>
          <a:p>
            <a:r>
              <a:t>Fine-tune a vendor model → deemed provider</a:t>
            </a:r>
          </a:p>
          <a:p>
            <a:r>
              <a:t>Legal review before proceeding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Foundation Model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GPAI APIs create downstream duties</a:t>
            </a:r>
          </a:p>
          <a:p>
            <a:r>
              <a:t>Document provider tech docs + copyright</a:t>
            </a:r>
          </a:p>
          <a:p>
            <a:r>
              <a:t>You own your system's risk class</a:t>
            </a:r>
          </a:p>
          <a:p>
            <a:r>
              <a:t>Contract for model-change notification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19" y="387572"/>
            <a:ext cx="4847160" cy="1097280"/>
          </a:xfrm>
        </p:spPr>
        <p:txBody>
          <a:bodyPr/>
          <a:lstStyle/>
          <a:p>
            <a:r>
              <a:rPr sz="2800"/>
              <a:t>Portfolio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731519" y="1645920"/>
            <a:ext cx="4847159" cy="4526280"/>
          </a:xfrm>
        </p:spPr>
        <p:txBody>
          <a:bodyPr/>
          <a:lstStyle/>
          <a:p>
            <a:r>
              <a:t>Govern the AI strategy as a portfolio</a:t>
            </a:r>
          </a:p>
          <a:p>
            <a:r>
              <a:t>Concentration risk: one shared model</a:t>
            </a:r>
          </a:p>
          <a:p>
            <a:r>
              <a:t>Asset inventory = the portfolio tool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AAISM Additions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Strategy doc: governance per model</a:t>
            </a:r>
          </a:p>
          <a:p>
            <a:r>
              <a:t>Model shift → reclassification</a:t>
            </a:r>
          </a:p>
          <a:p>
            <a:r>
              <a:t>Annual review = governance adequacy</a:t>
            </a:r>
          </a:p>
          <a:p>
            <a:r>
              <a:t>Strategy is a governance input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sz="2800"/>
              <a:t>Recap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9"/>
          </p:nvPr>
        </p:nvSpPr>
        <p:spPr>
          <a:xfrm>
            <a:off x="574431" y="1481328"/>
            <a:ext cx="6146586" cy="4645152"/>
          </a:xfrm>
        </p:spPr>
        <p:txBody>
          <a:bodyPr/>
          <a:lstStyle/>
          <a:p>
            <a:r>
              <a:t>Consumer vs enterprise · buy vs build</a:t>
            </a:r>
          </a:p>
          <a:p>
            <a:r>
              <a:t>Foundation model · portfolio</a:t>
            </a:r>
          </a:p>
          <a:p>
            <a:r>
              <a:t>HR AI = high risk; build = provider</a:t>
            </a:r>
          </a:p>
          <a:p>
            <a:r>
              <a:t>Fine-tune = deemed provider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t>NO IMPLICATIONS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t>Strategy omits EU AI </a:t>
            </a:r>
            <a:br>
              <a:rPr lang="en-US"/>
            </a:br>
            <a:r>
              <a:t>Act roles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755771" y="1718955"/>
            <a:ext cx="2471848" cy="391061"/>
          </a:xfrm>
        </p:spPr>
        <p:txBody>
          <a:bodyPr/>
          <a:lstStyle/>
          <a:p>
            <a:r>
              <a:t>NO TRANSPARENCY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t>Consumer AI, no Article 22 notice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92500"/>
          </a:bodyPr>
          <a:lstStyle/>
          <a:p>
            <a:r>
              <a:t>FINE-TUNE ≠ MOD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t>Own-name deploy, no legal review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t>GPAI UNMAPPED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t>Shared model, no concentration entry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BEE6CC3-2844-F9D8-8DAE-7F7087E10C4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>
                <a:latin typeface="Segoe Sans Text"/>
                <a:cs typeface="Segoe Sans Text"/>
              </a:rPr>
              <a:t>Four Failure Patterns</a:t>
            </a:r>
            <a:endParaRPr lang="en-US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sz="quarter" idx="18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spcBef>
                <a:spcPct val="0"/>
              </a:spcBef>
            </a:pPr>
            <a:r>
              <a:rPr lang="en-US" sz="2800">
                <a:latin typeface="Segoe Sans Text Extrabold"/>
                <a:cs typeface="Segoe Sans Text Extrabold"/>
              </a:rPr>
              <a:t>Strategy Drives Governance</a:t>
            </a:r>
            <a:endParaRPr lang="en-US" sz="2800" b="0">
              <a:latin typeface="Segoe Sans Text Extrabold"/>
              <a:cs typeface="Segoe Sans Text Extrabold"/>
            </a:endParaRPr>
          </a:p>
          <a:p>
            <a:endParaRPr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980B4C-6192-C083-1120-E59D37DB8D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Fine-tune under your name = deemed provider</a:t>
            </a:r>
          </a:p>
          <a:p>
            <a:r>
              <a:rPr lang="en-US"/>
              <a:t>GPAI dependency = concentration risk</a:t>
            </a:r>
          </a:p>
          <a:p>
            <a:r>
              <a:rPr lang="en-US"/>
              <a:t>Document rationale per deployment model</a:t>
            </a:r>
          </a:p>
          <a:p>
            <a:r>
              <a:rPr lang="en-US"/>
              <a:t>Program plan reflects current strategy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AISM_PPT_Template">
  <a:themeElements>
    <a:clrScheme name="MCAPS_Blue">
      <a:dk1>
        <a:srgbClr val="4F4F4F"/>
      </a:dk1>
      <a:lt1>
        <a:srgbClr val="FFFFFF"/>
      </a:lt1>
      <a:dk2>
        <a:srgbClr val="4F4F4F"/>
      </a:dk2>
      <a:lt2>
        <a:srgbClr val="FFF8F3"/>
      </a:lt2>
      <a:accent1>
        <a:srgbClr val="0091DA"/>
      </a:accent1>
      <a:accent2>
        <a:srgbClr val="6CC24A"/>
      </a:accent2>
      <a:accent3>
        <a:srgbClr val="49C5B1"/>
      </a:accent3>
      <a:accent4>
        <a:srgbClr val="D59DD7"/>
      </a:accent4>
      <a:accent5>
        <a:srgbClr val="6CC24A"/>
      </a:accent5>
      <a:accent6>
        <a:srgbClr val="0091DA"/>
      </a:accent6>
      <a:hlink>
        <a:srgbClr val="0077D3"/>
      </a:hlink>
      <a:folHlink>
        <a:srgbClr val="0077D3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radient_PPT_Template" id="{DD4A2566-3BC9-5A4E-B1A7-C82913F696C9}" vid="{9B7D320E-4ACD-7A46-B913-C9EB59A689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046e879-d081-4053-adba-52e34fa7725d" xsi:nil="true"/>
    <lcf76f155ced4ddcb4097134ff3c332f xmlns="76027dd9-77cd-484f-b6db-8bbe1351c2b5">
      <Terms xmlns="http://schemas.microsoft.com/office/infopath/2007/PartnerControls"/>
    </lcf76f155ced4ddcb4097134ff3c332f>
    <Comments xmlns="76027dd9-77cd-484f-b6db-8bbe1351c2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34B67D360B774FBA94A353DF812505" ma:contentTypeVersion="22" ma:contentTypeDescription="Create a new document." ma:contentTypeScope="" ma:versionID="36ad41d1389f7dc8fcbb5d4285216769">
  <xsd:schema xmlns:xsd="http://www.w3.org/2001/XMLSchema" xmlns:xs="http://www.w3.org/2001/XMLSchema" xmlns:p="http://schemas.microsoft.com/office/2006/metadata/properties" xmlns:ns2="76027dd9-77cd-484f-b6db-8bbe1351c2b5" xmlns:ns3="1046e879-d081-4053-adba-52e34fa7725d" xmlns:ns4="13a0c8d5-cff5-4140-b58f-0947a5552a6a" targetNamespace="http://schemas.microsoft.com/office/2006/metadata/properties" ma:root="true" ma:fieldsID="f2fb244498141b944b4dbc5f58037586" ns2:_="" ns3:_="" ns4:_="">
    <xsd:import namespace="76027dd9-77cd-484f-b6db-8bbe1351c2b5"/>
    <xsd:import namespace="1046e879-d081-4053-adba-52e34fa7725d"/>
    <xsd:import namespace="13a0c8d5-cff5-4140-b58f-0947a5552a6a"/>
    <xsd:element name="properties">
      <xsd:complexType>
        <xsd:sequence>
          <xsd:element name="documentManagement">
            <xsd:complexType>
              <xsd:all>
                <xsd:element ref="ns2:MediaServiceAutoTags" minOccurs="0"/>
                <xsd:element ref="ns2:MediaServiceOCR" minOccurs="0"/>
                <xsd:element ref="ns2:MediaServiceKeyPoints" minOccurs="0"/>
                <xsd:element ref="ns2:MediaLengthInSecond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4:SharedWithUsers" minOccurs="0"/>
                <xsd:element ref="ns4:SharedWithDetails" minOccurs="0"/>
                <xsd:element ref="ns2:Comment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027dd9-77cd-484f-b6db-8bbe1351c2b5" elementFormDefault="qualified">
    <xsd:import namespace="http://schemas.microsoft.com/office/2006/documentManagement/types"/>
    <xsd:import namespace="http://schemas.microsoft.com/office/infopath/2007/PartnerControls"/>
    <xsd:element name="MediaServiceAutoTags" ma:index="8" nillable="true" ma:displayName="Tags" ma:description="" ma:internalName="MediaServiceAutoTags" ma:readOnly="true">
      <xsd:simpleType>
        <xsd:restriction base="dms:Text"/>
      </xsd:simpleType>
    </xsd:element>
    <xsd:element name="MediaServiceOCR" ma:index="9" nillable="true" ma:displayName="Extracted Text" ma:description="" ma:internalName="MediaServiceOCR" ma:readOnly="true">
      <xsd:simpleType>
        <xsd:restriction base="dms:Note">
          <xsd:maxLength value="255"/>
        </xsd:restriction>
      </xsd:simpleType>
    </xsd:element>
    <xsd:element name="MediaServiceKeyPoints" ma:index="10" nillable="true" ma:displayName="KeyPoints" ma:description="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1" nillable="true" ma:displayName="Length (seconds)" ma:internalName="MediaLengthInSeconds" ma:readOnly="true">
      <xsd:simpleType>
        <xsd:restriction base="dms:Unknown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815b79-2db2-4fbd-a0c4-bf2740f263d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Comments" ma:index="24" nillable="true" ma:displayName="Comments" ma:format="Dropdown" ma:internalName="Comments">
      <xsd:simpleType>
        <xsd:restriction base="dms:Note">
          <xsd:maxLength value="255"/>
        </xsd:restriction>
      </xsd:simple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46e879-d081-4053-adba-52e34fa7725d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d854264f-763b-4eb6-a464-f18878f8c660}" ma:internalName="TaxCatchAll" ma:showField="CatchAllData" ma:web="1046e879-d081-4053-adba-52e34fa7725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a0c8d5-cff5-4140-b58f-0947a5552a6a" elementFormDefault="qualified">
    <xsd:import namespace="http://schemas.microsoft.com/office/2006/documentManagement/types"/>
    <xsd:import namespace="http://schemas.microsoft.com/office/infopath/2007/PartnerControls"/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13a0c8d5-cff5-4140-b58f-0947a5552a6a"/>
    <ds:schemaRef ds:uri="http://purl.org/dc/dcmitype/"/>
    <ds:schemaRef ds:uri="http://purl.org/dc/elements/1.1/"/>
    <ds:schemaRef ds:uri="1046e879-d081-4053-adba-52e34fa7725d"/>
    <ds:schemaRef ds:uri="http://purl.org/dc/terms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76027dd9-77cd-484f-b6db-8bbe1351c2b5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3ADABC1A-3DB4-4388-8FB7-5B14A7711A61}">
  <ds:schemaRefs>
    <ds:schemaRef ds:uri="1046e879-d081-4053-adba-52e34fa7725d"/>
    <ds:schemaRef ds:uri="13a0c8d5-cff5-4140-b58f-0947a5552a6a"/>
    <ds:schemaRef ds:uri="76027dd9-77cd-484f-b6db-8bbe1351c2b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Gradient_PPT_Template</Template>
  <TotalTime>13</TotalTime>
  <Words>2335</Words>
  <Application>Microsoft Office PowerPoint</Application>
  <PresentationFormat>Widescreen</PresentationFormat>
  <Paragraphs>475</Paragraphs>
  <Slides>98</Slides>
  <Notes>98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98</vt:i4>
      </vt:variant>
    </vt:vector>
  </HeadingPairs>
  <TitlesOfParts>
    <vt:vector size="104" baseType="lpstr">
      <vt:lpstr>Aptos</vt:lpstr>
      <vt:lpstr>Arial</vt:lpstr>
      <vt:lpstr>Segoe Sans Text</vt:lpstr>
      <vt:lpstr>Segoe Sans Text Extrabold</vt:lpstr>
      <vt:lpstr>Segoe Sans Text Extrabold</vt:lpstr>
      <vt:lpstr>AAISM_PPT_Template</vt:lpstr>
      <vt:lpstr>AI Governance Foundations</vt:lpstr>
      <vt:lpstr>This Episode</vt:lpstr>
      <vt:lpstr>PowerPoint Presentation</vt:lpstr>
      <vt:lpstr>PowerPoint Presentation</vt:lpstr>
      <vt:lpstr>AI Center of Excellence</vt:lpstr>
      <vt:lpstr>Three CoE Functions</vt:lpstr>
      <vt:lpstr>PowerPoint Presentation</vt:lpstr>
      <vt:lpstr>PowerPoint Presentation</vt:lpstr>
      <vt:lpstr>PowerPoint Presentation</vt:lpstr>
      <vt:lpstr>PowerPoint Presentation</vt:lpstr>
      <vt:lpstr>Six Program Components</vt:lpstr>
      <vt:lpstr>Recap</vt:lpstr>
      <vt:lpstr>Steering Committees &amp; Charters</vt:lpstr>
      <vt:lpstr>PowerPoint Presentation</vt:lpstr>
      <vt:lpstr>PowerPoint Presentation</vt:lpstr>
      <vt:lpstr>PowerPoint Presentation</vt:lpstr>
      <vt:lpstr>PowerPoint Presentation</vt:lpstr>
      <vt:lpstr>The Charter</vt:lpstr>
      <vt:lpstr>PowerPoint Presentation</vt:lpstr>
      <vt:lpstr>PowerPoint Presentation</vt:lpstr>
      <vt:lpstr>PowerPoint Presentation</vt:lpstr>
      <vt:lpstr>Stakeholder Identification &amp; Accountability</vt:lpstr>
      <vt:lpstr>This Episode</vt:lpstr>
      <vt:lpstr>Ownership Fails First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Reporting Lines</vt:lpstr>
      <vt:lpstr>Five-Step Identification</vt:lpstr>
      <vt:lpstr>Accountable vs Responsible</vt:lpstr>
      <vt:lpstr>PowerPoint Presentation</vt:lpstr>
      <vt:lpstr>Recap</vt:lpstr>
      <vt:lpstr>Risk Appetite &amp; Risk Tolerance</vt:lpstr>
      <vt:lpstr>PowerPoint Presentation</vt:lpstr>
      <vt:lpstr>Two Distinct Concepts</vt:lpstr>
      <vt:lpstr>Worked Example</vt:lpstr>
      <vt:lpstr>PowerPoint Presentation</vt:lpstr>
      <vt:lpstr>PowerPoint Presentation</vt:lpstr>
      <vt:lpstr>Every Decision Checks Appetite</vt:lpstr>
      <vt:lpstr>PowerPoint Presentation</vt:lpstr>
      <vt:lpstr>PowerPoint Presentation</vt:lpstr>
      <vt:lpstr>Regulatory Links</vt:lpstr>
      <vt:lpstr>PowerPoint Presentation</vt:lpstr>
      <vt:lpstr>PowerPoint Presentation</vt:lpstr>
      <vt:lpstr>PowerPoint Presentation</vt:lpstr>
      <vt:lpstr>Framework Selection &amp; Regulatory Alignment</vt:lpstr>
      <vt:lpstr>Three Framework Pillars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Simulation · Layered Governance Assessment</vt:lpstr>
      <vt:lpstr>PowerPoint Presentation</vt:lpstr>
      <vt:lpstr>AI Business Use Case Governance</vt:lpstr>
      <vt:lpstr>PowerPoint Presentation</vt:lpstr>
      <vt:lpstr>Risk Assessment at Intake</vt:lpstr>
      <vt:lpstr>PowerPoint Presentation</vt:lpstr>
      <vt:lpstr>PowerPoint Presentation</vt:lpstr>
      <vt:lpstr>PowerPoint Presentation</vt:lpstr>
      <vt:lpstr>Post-Approval Governance</vt:lpstr>
      <vt:lpstr>PowerPoint Presentation</vt:lpstr>
      <vt:lpstr>Recap</vt:lpstr>
      <vt:lpstr>PowerPoint Presentation</vt:lpstr>
      <vt:lpstr>PowerPoint Presentation</vt:lpstr>
      <vt:lpstr>The Governance Trail</vt:lpstr>
      <vt:lpstr>AI Strategy: Consumer vs Enterprise</vt:lpstr>
      <vt:lpstr>Consumer vs Enterprise</vt:lpstr>
      <vt:lpstr>PowerPoint Presentation</vt:lpstr>
      <vt:lpstr>PowerPoint Presentation</vt:lpstr>
      <vt:lpstr>Foundation Model Strategy</vt:lpstr>
      <vt:lpstr>Portfolio Governance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Dana</dc:creator>
  <cp:lastModifiedBy>Dana Barineau</cp:lastModifiedBy>
  <cp:revision>3</cp:revision>
  <cp:lastPrinted>2026-03-03T20:52:42Z</cp:lastPrinted>
  <dcterms:created xsi:type="dcterms:W3CDTF">2025-05-21T23:03:00Z</dcterms:created>
  <dcterms:modified xsi:type="dcterms:W3CDTF">2026-08-10T21:53:49Z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0x010100C634B67D360B774FBA94A353DF812505</vt:lpwstr>
  </property>
</Properties>
</file>