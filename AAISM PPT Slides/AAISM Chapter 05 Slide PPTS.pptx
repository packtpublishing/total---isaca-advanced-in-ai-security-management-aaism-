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124"/>
  </p:notesMasterIdLst>
  <p:handoutMasterIdLst>
    <p:handoutMasterId r:id="rId125"/>
  </p:handoutMasterIdLst>
  <p:sldIdLst>
    <p:sldId id="2580" r:id="rId5"/>
    <p:sldId id="2581" r:id="rId6"/>
    <p:sldId id="2582" r:id="rId7"/>
    <p:sldId id="2583" r:id="rId8"/>
    <p:sldId id="2584" r:id="rId9"/>
    <p:sldId id="2585" r:id="rId10"/>
    <p:sldId id="2586" r:id="rId11"/>
    <p:sldId id="2587" r:id="rId12"/>
    <p:sldId id="2588" r:id="rId13"/>
    <p:sldId id="2589" r:id="rId14"/>
    <p:sldId id="2590" r:id="rId15"/>
    <p:sldId id="2591" r:id="rId16"/>
    <p:sldId id="2592" r:id="rId17"/>
    <p:sldId id="2593" r:id="rId18"/>
    <p:sldId id="2594" r:id="rId19"/>
    <p:sldId id="2595" r:id="rId20"/>
    <p:sldId id="2596" r:id="rId21"/>
    <p:sldId id="2597" r:id="rId22"/>
    <p:sldId id="2598" r:id="rId23"/>
    <p:sldId id="2600" r:id="rId24"/>
    <p:sldId id="2601" r:id="rId25"/>
    <p:sldId id="2602" r:id="rId26"/>
    <p:sldId id="2603" r:id="rId27"/>
    <p:sldId id="2604" r:id="rId28"/>
    <p:sldId id="2605" r:id="rId29"/>
    <p:sldId id="2606" r:id="rId30"/>
    <p:sldId id="2607" r:id="rId31"/>
    <p:sldId id="2608" r:id="rId32"/>
    <p:sldId id="2609" r:id="rId33"/>
    <p:sldId id="2610" r:id="rId34"/>
    <p:sldId id="2611" r:id="rId35"/>
    <p:sldId id="2612" r:id="rId36"/>
    <p:sldId id="2613" r:id="rId37"/>
    <p:sldId id="2614" r:id="rId38"/>
    <p:sldId id="2615" r:id="rId39"/>
    <p:sldId id="2617" r:id="rId40"/>
    <p:sldId id="2618" r:id="rId41"/>
    <p:sldId id="2619" r:id="rId42"/>
    <p:sldId id="2599" r:id="rId43"/>
    <p:sldId id="2620" r:id="rId44"/>
    <p:sldId id="2621" r:id="rId45"/>
    <p:sldId id="2622" r:id="rId46"/>
    <p:sldId id="2623" r:id="rId47"/>
    <p:sldId id="2624" r:id="rId48"/>
    <p:sldId id="2626" r:id="rId49"/>
    <p:sldId id="2627" r:id="rId50"/>
    <p:sldId id="2628" r:id="rId51"/>
    <p:sldId id="2629" r:id="rId52"/>
    <p:sldId id="2630" r:id="rId53"/>
    <p:sldId id="2631" r:id="rId54"/>
    <p:sldId id="2632" r:id="rId55"/>
    <p:sldId id="2633" r:id="rId56"/>
    <p:sldId id="2634" r:id="rId57"/>
    <p:sldId id="2635" r:id="rId58"/>
    <p:sldId id="2636" r:id="rId59"/>
    <p:sldId id="2637" r:id="rId60"/>
    <p:sldId id="2638" r:id="rId61"/>
    <p:sldId id="2639" r:id="rId62"/>
    <p:sldId id="2640" r:id="rId63"/>
    <p:sldId id="2641" r:id="rId64"/>
    <p:sldId id="2642" r:id="rId65"/>
    <p:sldId id="2643" r:id="rId66"/>
    <p:sldId id="2644" r:id="rId67"/>
    <p:sldId id="2645" r:id="rId68"/>
    <p:sldId id="2646" r:id="rId69"/>
    <p:sldId id="2647" r:id="rId70"/>
    <p:sldId id="2648" r:id="rId71"/>
    <p:sldId id="2649" r:id="rId72"/>
    <p:sldId id="2650" r:id="rId73"/>
    <p:sldId id="2651" r:id="rId74"/>
    <p:sldId id="2652" r:id="rId75"/>
    <p:sldId id="2653" r:id="rId76"/>
    <p:sldId id="2654" r:id="rId77"/>
    <p:sldId id="2655" r:id="rId78"/>
    <p:sldId id="2656" r:id="rId79"/>
    <p:sldId id="2657" r:id="rId80"/>
    <p:sldId id="2658" r:id="rId81"/>
    <p:sldId id="2659" r:id="rId82"/>
    <p:sldId id="2660" r:id="rId83"/>
    <p:sldId id="2661" r:id="rId84"/>
    <p:sldId id="2662" r:id="rId85"/>
    <p:sldId id="2663" r:id="rId86"/>
    <p:sldId id="2664" r:id="rId87"/>
    <p:sldId id="2666" r:id="rId88"/>
    <p:sldId id="2667" r:id="rId89"/>
    <p:sldId id="2668" r:id="rId90"/>
    <p:sldId id="2669" r:id="rId91"/>
    <p:sldId id="2670" r:id="rId92"/>
    <p:sldId id="2671" r:id="rId93"/>
    <p:sldId id="2672" r:id="rId94"/>
    <p:sldId id="2673" r:id="rId95"/>
    <p:sldId id="2674" r:id="rId96"/>
    <p:sldId id="2676" r:id="rId97"/>
    <p:sldId id="2677" r:id="rId98"/>
    <p:sldId id="2678" r:id="rId99"/>
    <p:sldId id="2679" r:id="rId100"/>
    <p:sldId id="2680" r:id="rId101"/>
    <p:sldId id="2681" r:id="rId102"/>
    <p:sldId id="2682" r:id="rId103"/>
    <p:sldId id="2683" r:id="rId104"/>
    <p:sldId id="2684" r:id="rId105"/>
    <p:sldId id="2685" r:id="rId106"/>
    <p:sldId id="2686" r:id="rId107"/>
    <p:sldId id="2687" r:id="rId108"/>
    <p:sldId id="2688" r:id="rId109"/>
    <p:sldId id="2689" r:id="rId110"/>
    <p:sldId id="2690" r:id="rId111"/>
    <p:sldId id="2691" r:id="rId112"/>
    <p:sldId id="2692" r:id="rId113"/>
    <p:sldId id="2693" r:id="rId114"/>
    <p:sldId id="2694" r:id="rId115"/>
    <p:sldId id="2695" r:id="rId116"/>
    <p:sldId id="2696" r:id="rId117"/>
    <p:sldId id="2697" r:id="rId118"/>
    <p:sldId id="2698" r:id="rId119"/>
    <p:sldId id="2699" r:id="rId120"/>
    <p:sldId id="2700" r:id="rId121"/>
    <p:sldId id="2701" r:id="rId122"/>
    <p:sldId id="2702" r:id="rId1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8"/>
            <p14:sldId id="2589"/>
            <p14:sldId id="2590"/>
            <p14:sldId id="2591"/>
            <p14:sldId id="2592"/>
            <p14:sldId id="2593"/>
            <p14:sldId id="2594"/>
            <p14:sldId id="2595"/>
            <p14:sldId id="2596"/>
            <p14:sldId id="2597"/>
            <p14:sldId id="2598"/>
            <p14:sldId id="2600"/>
            <p14:sldId id="2601"/>
            <p14:sldId id="2602"/>
            <p14:sldId id="2603"/>
            <p14:sldId id="2604"/>
            <p14:sldId id="2605"/>
            <p14:sldId id="2606"/>
            <p14:sldId id="2607"/>
            <p14:sldId id="2608"/>
            <p14:sldId id="2609"/>
            <p14:sldId id="2610"/>
            <p14:sldId id="2611"/>
            <p14:sldId id="2612"/>
            <p14:sldId id="2613"/>
            <p14:sldId id="2614"/>
            <p14:sldId id="2615"/>
            <p14:sldId id="2617"/>
            <p14:sldId id="2618"/>
            <p14:sldId id="2619"/>
            <p14:sldId id="2599"/>
            <p14:sldId id="2620"/>
            <p14:sldId id="2621"/>
            <p14:sldId id="2622"/>
            <p14:sldId id="2623"/>
            <p14:sldId id="2624"/>
            <p14:sldId id="2626"/>
            <p14:sldId id="2627"/>
            <p14:sldId id="2628"/>
            <p14:sldId id="2629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8"/>
            <p14:sldId id="2649"/>
            <p14:sldId id="2650"/>
            <p14:sldId id="2651"/>
            <p14:sldId id="2652"/>
            <p14:sldId id="2653"/>
            <p14:sldId id="2654"/>
            <p14:sldId id="2655"/>
            <p14:sldId id="2656"/>
            <p14:sldId id="2657"/>
            <p14:sldId id="2658"/>
            <p14:sldId id="2659"/>
            <p14:sldId id="2660"/>
            <p14:sldId id="2661"/>
            <p14:sldId id="2662"/>
            <p14:sldId id="2663"/>
            <p14:sldId id="2664"/>
            <p14:sldId id="2666"/>
            <p14:sldId id="2667"/>
            <p14:sldId id="2668"/>
            <p14:sldId id="2669"/>
            <p14:sldId id="2670"/>
            <p14:sldId id="2671"/>
            <p14:sldId id="2672"/>
            <p14:sldId id="2673"/>
            <p14:sldId id="2674"/>
            <p14:sldId id="2676"/>
            <p14:sldId id="2677"/>
            <p14:sldId id="2678"/>
            <p14:sldId id="2679"/>
            <p14:sldId id="2680"/>
            <p14:sldId id="2681"/>
            <p14:sldId id="2682"/>
            <p14:sldId id="2683"/>
            <p14:sldId id="2684"/>
            <p14:sldId id="2685"/>
            <p14:sldId id="2686"/>
            <p14:sldId id="2687"/>
            <p14:sldId id="2688"/>
            <p14:sldId id="2689"/>
            <p14:sldId id="2690"/>
            <p14:sldId id="2691"/>
            <p14:sldId id="2692"/>
            <p14:sldId id="2693"/>
            <p14:sldId id="2694"/>
            <p14:sldId id="2695"/>
            <p14:sldId id="2696"/>
            <p14:sldId id="2697"/>
            <p14:sldId id="2698"/>
            <p14:sldId id="2699"/>
            <p14:sldId id="2700"/>
            <p14:sldId id="2701"/>
            <p14:sldId id="2702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CB15D-B476-0142-9D0A-2503455CA561}" v="3" dt="2026-07-20T17:12:06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72"/>
    <p:restoredTop sz="76829"/>
  </p:normalViewPr>
  <p:slideViewPr>
    <p:cSldViewPr snapToGrid="0">
      <p:cViewPr varScale="1">
        <p:scale>
          <a:sx n="86" d="100"/>
          <a:sy n="86" d="100"/>
        </p:scale>
        <p:origin x="159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theme" Target="theme/theme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microsoft.com/office/2015/10/relationships/revisionInfo" Target="revisionInfo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microsoft.com/office/2018/10/relationships/authors" Target="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Threat Intelligence &amp; AI Attack Chains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AI-Specific TI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MITRE ATLAS, AI Incident Database, CVE feeds</a:t>
            </a:r>
          </a:p>
          <a:p>
            <a:r>
              <a:t>Foundation-model provider advisories</a:t>
            </a:r>
          </a:p>
          <a:p>
            <a:r>
              <a:t>Supplement STIX/TAXII — they don't overlap enough</a:t>
            </a:r>
          </a:p>
          <a:p>
            <a:r>
              <a:t>Document feed selection + cadence in the 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MITRE ATLAS = AI Adversary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Adversarial TTP framework — the AI analog to ATT&amp;CK</a:t>
            </a:r>
          </a:p>
          <a:p>
            <a:r>
              <a:t>Tactics: ML attack staging, execution, exfiltration, impact</a:t>
            </a:r>
          </a:p>
          <a:p>
            <a:r>
              <a:t>Drives the threat-to-control mapping 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Strategic Threat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Emerging regulation, new model capabilities, threat activity</a:t>
            </a:r>
          </a:p>
          <a:p>
            <a:r>
              <a:t>Updates the threat model → triggers risk-register reviews</a:t>
            </a:r>
          </a:p>
          <a:p>
            <a:r>
              <a:t>AI security lead reviews quarterly; reports to steering committee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>
          <a:xfrm>
            <a:off x="574430" y="723129"/>
            <a:ext cx="7121769" cy="652665"/>
          </a:xfrm>
        </p:spPr>
        <p:txBody>
          <a:bodyPr/>
          <a:lstStyle/>
          <a:p>
            <a:r>
              <a:rPr sz="2800" dirty="0"/>
              <a:t>AI Breaks Traditional </a:t>
            </a:r>
            <a:br>
              <a:rPr lang="en-US" sz="2800" dirty="0"/>
            </a:br>
            <a:r>
              <a:rPr sz="2800" dirty="0"/>
              <a:t>Threat Modeling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STRIDE, attack trees, DFDs assume deterministic behavior</a:t>
            </a:r>
          </a:p>
          <a:p>
            <a:r>
              <a:rPr dirty="0"/>
              <a:t>AI is non-deterministic — same input, different 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Why AI Threat Modeling Differs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Attack surface includes data, not just code</a:t>
            </a:r>
          </a:p>
          <a:p>
            <a:r>
              <a:t>Training-time attacks surface later at inference</a:t>
            </a:r>
          </a:p>
          <a:p>
            <a:r>
              <a:t>The model itself is an IP asset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49274" y="2110016"/>
            <a:ext cx="2486025" cy="1466167"/>
          </a:xfrm>
        </p:spPr>
        <p:txBody>
          <a:bodyPr/>
          <a:lstStyle/>
          <a:p>
            <a:r>
              <a:rPr dirty="0"/>
              <a:t>Poisoning, label manipulation, supply chain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 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Inversion, membership inference, extraction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 Inference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Prompt injection, jailbreaking, context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 Integration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dirty="0"/>
              <a:t>Excessive agency, </a:t>
            </a:r>
            <a:br>
              <a:rPr lang="en-US" dirty="0"/>
            </a:br>
            <a:r>
              <a:rPr dirty="0"/>
              <a:t>indirect injection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1BD766-6BB1-85A0-DBE3-1D203327540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Four AI Attack Surfaces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Operational vs Strategic 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Operational TI — IOCs, extraction &amp; injection signatures</a:t>
            </a:r>
          </a:p>
          <a:p>
            <a:r>
              <a:rPr dirty="0"/>
              <a:t>Updates SIEM rules within a defined SLA</a:t>
            </a:r>
          </a:p>
          <a:p>
            <a:r>
              <a:rPr dirty="0"/>
              <a:t>Stale detection rules = a control-effectiveness failure</a:t>
            </a:r>
          </a:p>
          <a:p>
            <a:r>
              <a:rPr dirty="0"/>
              <a:t>Operational TI → SIEM rules; Strategic TI → risk register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OWASP LLM Top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4768" cy="41879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dirty="0"/>
              <a:t>The most exam-tested AI framework</a:t>
            </a:r>
          </a:p>
          <a:p>
            <a:r>
              <a:rPr dirty="0"/>
              <a:t>Web vulns live in code; LLM vulns live in interaction</a:t>
            </a:r>
          </a:p>
          <a:p>
            <a:r>
              <a:rPr dirty="0"/>
              <a:t>A standardized vocabulary for LLM 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Recognize + Map Each Category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Prompt injection is probabilistic, not deterministic</a:t>
            </a:r>
          </a:p>
          <a:p>
            <a:r>
              <a:t>Exam: name the category, or pick the mitigation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LLM01 Injection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Direct + indirect; template &amp; input 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LLM02 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Sanitize + schema-validate downstream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LLM03 Poisoning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Data provenance + integrity checks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LLM04 Model DoS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dirty="0"/>
              <a:t>Rate limits, token </a:t>
            </a:r>
            <a:br>
              <a:rPr lang="en-US" dirty="0"/>
            </a:br>
            <a:r>
              <a:rPr dirty="0"/>
              <a:t>budgets, monitoring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OWASP LLM01–04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LLM05 Supply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Verify external components; AI SBOM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LLM06 Disclosure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dirty="0"/>
              <a:t>Data minimization + </a:t>
            </a:r>
            <a:br>
              <a:rPr lang="en-US" dirty="0"/>
            </a:br>
            <a:r>
              <a:rPr dirty="0"/>
              <a:t>output filtering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LLM07 Plugins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Permission boundaries + input validation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LLM08 Excess Agency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903130" cy="1408543"/>
          </a:xfrm>
        </p:spPr>
        <p:txBody>
          <a:bodyPr/>
          <a:lstStyle/>
          <a:p>
            <a:r>
              <a:rPr dirty="0"/>
              <a:t>Least privilege + </a:t>
            </a:r>
            <a:br>
              <a:rPr lang="en-US" dirty="0"/>
            </a:br>
            <a:r>
              <a:rPr dirty="0"/>
              <a:t>human approval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OWASP LLM05–08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OWASP LLM09–10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LLM09 Overreliance — confidence scores, human review, disclaimers</a:t>
            </a:r>
          </a:p>
          <a:p>
            <a:r>
              <a:rPr dirty="0"/>
              <a:t>LLM10 Model Theft — rate limits, auth, query-anomaly 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Map Categories to Surfaces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LLM01–02 → inference interface</a:t>
            </a:r>
          </a:p>
          <a:p>
            <a:r>
              <a:rPr dirty="0"/>
              <a:t>LLM03 → data layer; LLM04–05 → infra &amp; supply chain</a:t>
            </a:r>
          </a:p>
          <a:p>
            <a:r>
              <a:rPr dirty="0"/>
              <a:t>LLM06 &amp; 08 → integration; LLM09–10 → 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Three-Question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1 </a:t>
            </a:r>
            <a:r>
              <a:rPr lang="en-US" dirty="0"/>
              <a:t>→ </a:t>
            </a:r>
            <a:r>
              <a:rPr dirty="0"/>
              <a:t>Where in the lifecycle? train / inference / </a:t>
            </a:r>
            <a:br>
              <a:rPr lang="en-US" dirty="0"/>
            </a:br>
            <a:r>
              <a:rPr dirty="0"/>
              <a:t>post-deploy</a:t>
            </a:r>
          </a:p>
          <a:p>
            <a:r>
              <a:rPr dirty="0"/>
              <a:t>2 </a:t>
            </a:r>
            <a:r>
              <a:rPr lang="en-US" dirty="0"/>
              <a:t>→ </a:t>
            </a:r>
            <a:r>
              <a:rPr dirty="0"/>
              <a:t>Which asset is at risk? behavior, weights, data, integrity</a:t>
            </a:r>
          </a:p>
          <a:p>
            <a:r>
              <a:rPr dirty="0"/>
              <a:t>3 </a:t>
            </a:r>
            <a:r>
              <a:rPr lang="en-US" dirty="0"/>
              <a:t>→ </a:t>
            </a:r>
            <a:r>
              <a:rPr dirty="0"/>
              <a:t>Root cause? missing control, governance </a:t>
            </a:r>
            <a:br>
              <a:rPr lang="en-US" dirty="0"/>
            </a:br>
            <a:r>
              <a:rPr dirty="0"/>
              <a:t>gap, or both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Supply-Chain TI Component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Monitor CVEs for all AI components in the inventory</a:t>
            </a:r>
          </a:p>
          <a:p>
            <a:r>
              <a:t>Foundation-model incident notices are a TI feed</a:t>
            </a:r>
          </a:p>
          <a:p>
            <a:r>
              <a:t>A provider incident activates the vendor procedure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MITRE ATT&amp;CK vs ATLAS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ATT&amp;CK exploits software &amp; config weaknesses</a:t>
            </a:r>
          </a:p>
          <a:p>
            <a:r>
              <a:rPr dirty="0"/>
              <a:t>ATLAS exploits ML math — inversion, membership inference</a:t>
            </a:r>
          </a:p>
          <a:p>
            <a:r>
              <a:rPr dirty="0"/>
              <a:t>Some ATLAS techniques have no ATT&amp;CK equivalent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ATLAS — how adversaries attack AI</a:t>
            </a:r>
          </a:p>
          <a:p>
            <a:r>
              <a:rPr dirty="0"/>
              <a:t>OWASP Top 10 — what vulnerabilities exist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ATLAS + OWASP = COMPLEMENTARY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Interface &amp; Integration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rPr dirty="0"/>
              <a:t>Prompt injection — direct &amp; indirect</a:t>
            </a:r>
          </a:p>
          <a:p>
            <a:r>
              <a:rPr dirty="0"/>
              <a:t>Jailbreaking removes guardrails (vs redirecting output)</a:t>
            </a:r>
          </a:p>
          <a:p>
            <a:r>
              <a:rPr dirty="0"/>
              <a:t>API abuse + privilege escalation via tool calls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Threat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661256" cy="4187952"/>
          </a:xfrm>
        </p:spPr>
        <p:txBody>
          <a:bodyPr/>
          <a:lstStyle/>
          <a:p>
            <a:r>
              <a:rPr dirty="0"/>
              <a:t>AI-specific TI sources; MITRE ATLAS is primary</a:t>
            </a:r>
          </a:p>
          <a:p>
            <a:r>
              <a:rPr dirty="0"/>
              <a:t>Strategic vs operational TI + supply-chain component</a:t>
            </a:r>
          </a:p>
          <a:p>
            <a:r>
              <a:rPr dirty="0"/>
              <a:t>Strategic TI → risk register; Operational TI → SIEM rules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Deepfakes, Insider Threat &amp;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2 — Dr. Michael Solomon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Synthetic-Media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Deploy detection tools on high-risk comms channels</a:t>
            </a:r>
          </a:p>
          <a:p>
            <a:r>
              <a:t>Classify deepfake incidents quickly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Deepfake incidents involving employees or customers</a:t>
            </a:r>
          </a:p>
          <a:p>
            <a:r>
              <a:t>Classify as Category F (reputational) at minimum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CATEGORY F — REPUTATIONAL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Detection Tools Are AI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 deepfake detector is itself a governed AI system</a:t>
            </a:r>
          </a:p>
          <a:p>
            <a:r>
              <a:t>Needs asset-inventory registration + oversight</a:t>
            </a:r>
          </a:p>
          <a:p>
            <a:r>
              <a:t>Exam: AUP prohibition + governed detection both testable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Three Emerging AI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Deepfakes &amp; synthetic media</a:t>
            </a:r>
          </a:p>
          <a:p>
            <a:r>
              <a:t>Insider threat amplified by AI</a:t>
            </a:r>
          </a:p>
          <a:p>
            <a:r>
              <a:t>Agentic AI that takes action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the Exam Tests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4768" cy="4187952"/>
          </a:xfrm>
        </p:spPr>
        <p:txBody>
          <a:bodyPr/>
          <a:lstStyle/>
          <a:p>
            <a:r>
              <a:rPr dirty="0"/>
              <a:t>Recognize AI-enabled attack techniques</a:t>
            </a:r>
          </a:p>
          <a:p>
            <a:r>
              <a:rPr dirty="0"/>
              <a:t>Understand how they work + their indicators</a:t>
            </a:r>
          </a:p>
          <a:p>
            <a:r>
              <a:rPr dirty="0"/>
              <a:t>Recommend appropriate defensive responses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866872F-6908-2B9D-E4F8-20CC95458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4077936"/>
            <a:ext cx="9973455" cy="938784"/>
          </a:xfrm>
        </p:spPr>
        <p:txBody>
          <a:bodyPr/>
          <a:lstStyle/>
          <a:p>
            <a:r>
              <a:rPr lang="en-US">
                <a:latin typeface="Segoe Sans Text ExtraBold"/>
                <a:cs typeface="Segoe Sans Text ExtraBold"/>
              </a:rPr>
              <a:t>Deepfake Modalities</a:t>
            </a:r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subTitle" idx="1"/>
          </p:nvPr>
        </p:nvSpPr>
        <p:spPr>
          <a:xfrm>
            <a:off x="4187373" y="5097842"/>
            <a:ext cx="9973455" cy="45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b="1">
                <a:latin typeface="Segoe Sans Text"/>
                <a:cs typeface="Segoe Sans Text"/>
              </a:rPr>
              <a:t>Audio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187371" y="5451475"/>
            <a:ext cx="2366963" cy="14081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800">
                <a:latin typeface="Segoe Sans Text"/>
                <a:cs typeface="Segoe Sans Text"/>
              </a:rPr>
              <a:t>Voice cloning from seconds of audio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762000" y="5159829"/>
            <a:ext cx="2366963" cy="3317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b="1">
                <a:latin typeface="Segoe Sans Text"/>
                <a:cs typeface="Segoe Sans Text"/>
              </a:rPr>
              <a:t>Video</a:t>
            </a:r>
            <a:endParaRPr lang="en-US" b="1">
              <a:latin typeface="Segoe Sans Text"/>
              <a:cs typeface="Segoe Sans Tex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762000" y="5448074"/>
            <a:ext cx="2366963" cy="14081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800">
                <a:latin typeface="Segoe Sans Text"/>
                <a:cs typeface="Segoe Sans Text"/>
              </a:rPr>
              <a:t>Fabricated</a:t>
            </a:r>
            <a:r>
              <a:rPr lang="en-US" sz="1800" dirty="0">
                <a:latin typeface="Segoe Sans Text"/>
                <a:cs typeface="Segoe Sans Text"/>
              </a:rPr>
              <a:t> </a:t>
            </a:r>
            <a:r>
              <a:rPr sz="1800">
                <a:latin typeface="Segoe Sans Text"/>
                <a:cs typeface="Segoe Sans Text"/>
              </a:rPr>
              <a:t>executive</a:t>
            </a:r>
            <a:r>
              <a:rPr lang="en-US" sz="1800" dirty="0">
                <a:latin typeface="Segoe Sans Text"/>
                <a:cs typeface="Segoe Sans Text"/>
              </a:rPr>
              <a:t> </a:t>
            </a:r>
            <a:r>
              <a:rPr lang="en-US" sz="1800">
                <a:latin typeface="Segoe Sans Text"/>
                <a:cs typeface="Segoe Sans Text"/>
              </a:rPr>
              <a:t>- </a:t>
            </a:r>
            <a:r>
              <a:rPr sz="1800" dirty="0">
                <a:latin typeface="Segoe Sans Text"/>
                <a:cs typeface="Segoe Sans Text"/>
              </a:rPr>
              <a:t>meeting footage</a:t>
            </a:r>
            <a:endParaRPr lang="en-US" sz="1800" dirty="0">
              <a:latin typeface="Segoe Sans Text"/>
              <a:cs typeface="Segoe Sans Text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7533368" y="5096329"/>
            <a:ext cx="2365375" cy="3333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1900" b="1">
                <a:latin typeface="Segoe Sans Text"/>
                <a:cs typeface="Segoe Sans Text"/>
              </a:rPr>
              <a:t>Image</a:t>
            </a:r>
            <a:endParaRPr lang="en-US" sz="1900" b="1">
              <a:latin typeface="Segoe Sans Text"/>
              <a:cs typeface="Segoe Sans Tex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7533368" y="5429704"/>
            <a:ext cx="2365375" cy="14081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1800">
                <a:latin typeface="Segoe Sans Text"/>
                <a:cs typeface="Segoe Sans Text"/>
              </a:rPr>
              <a:t>Synthetic photos for identity fraud</a:t>
            </a:r>
            <a:endParaRPr lang="en-US" sz="1800">
              <a:latin typeface="Segoe Sans Text"/>
              <a:cs typeface="Segoe Sans Tex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2019 UK energy-firm CEO voice fraud</a:t>
            </a:r>
          </a:p>
          <a:p>
            <a:r>
              <a:t>Synthesized voice authorized a fraudulent wire transfer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CANONICAL CASE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AI-Enhanced Social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Spear-phishing at scale</a:t>
            </a:r>
          </a:p>
          <a:p>
            <a:r>
              <a:t>OSINT gathering + message generation automated</a:t>
            </a:r>
          </a:p>
          <a:p>
            <a:r>
              <a:t>Thousands of personalized messages at once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Real-Time Voice &amp; AI Pretext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Live voice conversion bypasses voice authentication</a:t>
            </a:r>
          </a:p>
          <a:p>
            <a:r>
              <a:t>Fabricated profiles, sites, reference letters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>
          <a:xfrm>
            <a:off x="574430" y="723129"/>
            <a:ext cx="6532047" cy="652665"/>
          </a:xfrm>
        </p:spPr>
        <p:txBody>
          <a:bodyPr/>
          <a:lstStyle/>
          <a:p>
            <a:r>
              <a:rPr sz="2800" dirty="0"/>
              <a:t>Scale · Personalization ·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AI removes the old effort-vs-quality tension</a:t>
            </a:r>
          </a:p>
          <a:p>
            <a:r>
              <a:t>The combination beats any single capability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Deepfake Detection Indicators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Audio — unnatural rhythm, latency artifacts</a:t>
            </a:r>
          </a:p>
          <a:p>
            <a:r>
              <a:t>Video — bad lighting, blinking, lip-sync errors</a:t>
            </a:r>
          </a:p>
          <a:p>
            <a:r>
              <a:t>Written — uniform style, odd repetition, no context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Layered Defenses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Out-of-band confirmation for high-risk actions</a:t>
            </a:r>
          </a:p>
          <a:p>
            <a:r>
              <a:rPr dirty="0"/>
              <a:t>Deepfake-awareness training builds skepticism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Verification Discipline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Treat unusual phone/video requests with verification</a:t>
            </a:r>
          </a:p>
          <a:p>
            <a:r>
              <a:rPr dirty="0"/>
              <a:t>Metadata &amp; forensic tools flag AI generation</a:t>
            </a:r>
          </a:p>
          <a:p>
            <a:r>
              <a:rPr dirty="0"/>
              <a:t>Require multi-channel corroboration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No detection method is reliable alone</a:t>
            </a:r>
          </a:p>
          <a:p>
            <a:r>
              <a:t>Out-of-band verification is the exam answer for deepfake defense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PROCESS &gt; DETECTION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Insider Threat: UEBA Baselines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Configure UEBA with AI-specific access baselines</a:t>
            </a:r>
          </a:p>
          <a:p>
            <a:r>
              <a:t>High-risk: bulk data export, off-hours access</a:t>
            </a:r>
          </a:p>
          <a:p>
            <a:r>
              <a:t>Model-registry access, unusual inference volume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Separation of Duties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Model trainer ≠ unilateral deployment authority</a:t>
            </a:r>
          </a:p>
          <a:p>
            <a:r>
              <a:rPr dirty="0"/>
              <a:t>Insider controls sit at architecture layers 1 &amp; 2</a:t>
            </a:r>
          </a:p>
          <a:p>
            <a:r>
              <a:rPr dirty="0"/>
              <a:t>Exam: UEBA AI baselines are a program obligation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A5F4C25-8E3A-E26E-86DF-0E4AC3030A1C}"/>
              </a:ext>
            </a:extLst>
          </p:cNvPr>
          <p:cNvSpPr>
            <a:spLocks noGrp="1"/>
          </p:cNvSpPr>
          <p:nvPr/>
        </p:nvSpPr>
        <p:spPr>
          <a:xfrm>
            <a:off x="682712" y="5111268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Segoe Sans Text"/>
                <a:cs typeface="Segoe Sans Text"/>
              </a:rPr>
              <a:t>Sequential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3F96BB1-4AFB-36BE-A29A-AAEE15E9D1C8}"/>
              </a:ext>
            </a:extLst>
          </p:cNvPr>
          <p:cNvSpPr>
            <a:spLocks noGrp="1"/>
          </p:cNvSpPr>
          <p:nvPr/>
        </p:nvSpPr>
        <p:spPr>
          <a:xfrm>
            <a:off x="682713" y="5450924"/>
            <a:ext cx="2060488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Agents chained stage to stage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763BBC3-0343-DB3C-B5C3-DB182731921D}"/>
              </a:ext>
            </a:extLst>
          </p:cNvPr>
          <p:cNvSpPr>
            <a:spLocks noGrp="1"/>
          </p:cNvSpPr>
          <p:nvPr/>
        </p:nvSpPr>
        <p:spPr>
          <a:xfrm>
            <a:off x="3730713" y="5108477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Segoe Sans Text"/>
                <a:cs typeface="Segoe Sans Text"/>
              </a:rPr>
              <a:t>Parallel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3E48388-1B07-BFEE-82A5-BA34A6104BDD}"/>
              </a:ext>
            </a:extLst>
          </p:cNvPr>
          <p:cNvSpPr>
            <a:spLocks noGrp="1"/>
          </p:cNvSpPr>
          <p:nvPr/>
        </p:nvSpPr>
        <p:spPr>
          <a:xfrm>
            <a:off x="3730713" y="5440876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Agents run at once, </a:t>
            </a:r>
            <a:br>
              <a:rPr lang="en-US" dirty="0"/>
            </a:br>
            <a:r>
              <a:rPr dirty="0"/>
              <a:t>results merged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B8D74B1-2664-985A-58B4-F4B45B14E6C6}"/>
              </a:ext>
            </a:extLst>
          </p:cNvPr>
          <p:cNvSpPr>
            <a:spLocks noGrp="1"/>
          </p:cNvSpPr>
          <p:nvPr/>
        </p:nvSpPr>
        <p:spPr>
          <a:xfrm>
            <a:off x="6616822" y="5104010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Segoe Sans Text"/>
                <a:cs typeface="Segoe Sans Text"/>
              </a:rPr>
              <a:t>Hierarchical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6679867-3DFA-689E-177A-9CCC10A64864}"/>
              </a:ext>
            </a:extLst>
          </p:cNvPr>
          <p:cNvSpPr>
            <a:spLocks noGrp="1"/>
          </p:cNvSpPr>
          <p:nvPr/>
        </p:nvSpPr>
        <p:spPr>
          <a:xfrm>
            <a:off x="6616822" y="5450923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Supervisor decomposes </a:t>
            </a:r>
            <a:br>
              <a:rPr lang="en-US" dirty="0"/>
            </a:br>
            <a:r>
              <a:rPr dirty="0"/>
              <a:t>+ dispatches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2F38AB5-9030-3523-32A2-E0B971CA111C}"/>
              </a:ext>
            </a:extLst>
          </p:cNvPr>
          <p:cNvSpPr>
            <a:spLocks noGrp="1"/>
          </p:cNvSpPr>
          <p:nvPr/>
        </p:nvSpPr>
        <p:spPr>
          <a:xfrm>
            <a:off x="683287" y="4460558"/>
            <a:ext cx="10029253" cy="652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accent2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Segoe Sans Text"/>
                <a:cs typeface="Segoe Sans Text"/>
              </a:rPr>
              <a:t>Agent Orchestration Patterns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0F71764-65F5-51D9-9019-CBBBE26CE9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Scope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005D548-E41F-95D5-3834-DC1E98C461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Enforced boundaries </a:t>
            </a:r>
            <a:r>
              <a:rPr lang="en-US">
                <a:latin typeface="Segoe Sans Text"/>
                <a:cs typeface="Segoe Sans Text"/>
              </a:rPr>
              <a:t>on tools</a:t>
            </a:r>
            <a:r>
              <a:rPr lang="en-US" dirty="0">
                <a:latin typeface="Segoe Sans Text"/>
                <a:cs typeface="Segoe Sans Text"/>
              </a:rPr>
              <a:t> &amp; data</a:t>
            </a:r>
            <a:endParaRPr lang="en-US" dirty="0">
              <a:solidFill>
                <a:srgbClr val="000000"/>
              </a:solidFill>
              <a:latin typeface="Segoe Sans Text"/>
              <a:cs typeface="Segoe Sans Text"/>
            </a:endParaRP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4B63928-8E29-22AD-4128-40C9CD05BC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Human-in-loop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C862586-911F-5CA2-CB6A-719C48E7E4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30712" y="4526476"/>
            <a:ext cx="2366161" cy="14085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Approval gates for </a:t>
            </a:r>
            <a:br>
              <a:rPr lang="en-US" dirty="0">
                <a:latin typeface="Segoe Sans Text"/>
                <a:cs typeface="Segoe Sans Text"/>
              </a:rPr>
            </a:br>
            <a:r>
              <a:rPr lang="en-US" dirty="0">
                <a:latin typeface="Segoe Sans Text"/>
                <a:cs typeface="Segoe Sans Text"/>
              </a:rPr>
              <a:t>high-impact acts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327FB6A-1664-FCA1-9C78-0CA940D6D50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Logging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4B5D3BA-2434-00F6-345E-5700A4D6F03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Every action logged </a:t>
            </a:r>
            <a:br>
              <a:rPr lang="en-US" dirty="0">
                <a:latin typeface="Segoe Sans Text"/>
                <a:cs typeface="Segoe Sans Text"/>
              </a:rPr>
            </a:br>
            <a:r>
              <a:rPr lang="en-US" dirty="0">
                <a:latin typeface="Segoe Sans Text"/>
                <a:cs typeface="Segoe Sans Text"/>
              </a:rPr>
              <a:t>with reasoning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06246BF-5451-D32E-DDFF-F3A938FAF03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>
                <a:latin typeface="Segoe Sans Text"/>
                <a:cs typeface="Segoe Sans Text"/>
              </a:rPr>
              <a:t>Rollback</a:t>
            </a:r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CDB5D0-03E0-3DAC-BA00-C4682CB2C4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egoe Sans Text"/>
                <a:cs typeface="Segoe Sans Text"/>
              </a:rPr>
              <a:t>Critical actions must </a:t>
            </a:r>
            <a:br>
              <a:rPr lang="en-US" dirty="0">
                <a:latin typeface="Segoe Sans Text"/>
                <a:cs typeface="Segoe Sans Text"/>
              </a:rPr>
            </a:br>
            <a:r>
              <a:rPr lang="en-US" dirty="0">
                <a:latin typeface="Segoe Sans Text"/>
                <a:cs typeface="Segoe Sans Text"/>
              </a:rPr>
              <a:t>be reversible</a:t>
            </a:r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9A7101C-E3CF-56F0-F2FF-FDB4DED652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Agent Governance – Four Pillars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Autonomous Agent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Goal misalignment — harmful side effects</a:t>
            </a:r>
          </a:p>
          <a:p>
            <a:r>
              <a:rPr dirty="0"/>
              <a:t>Prompt injection into agent workflows</a:t>
            </a:r>
          </a:p>
          <a:p>
            <a:r>
              <a:rPr dirty="0"/>
              <a:t>Agent-chaining failure cascades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High-priority exam topic</a:t>
            </a:r>
          </a:p>
          <a:p>
            <a:r>
              <a:t>Agents turn injection from bad text into real 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PROMPT INJECTION INTO AGENTS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Agentic Governance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Action-scope boundaries + human approval gates</a:t>
            </a:r>
          </a:p>
          <a:p>
            <a:r>
              <a:t>Log actions; record autonomy level in inventory</a:t>
            </a:r>
          </a:p>
          <a:p>
            <a:r>
              <a:t>External API access = fourth-party supply-chain risk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Model Generates, Agent 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Connected agents become operational actors</a:t>
            </a:r>
          </a:p>
          <a:p>
            <a:r>
              <a:t>Execution authority multiplies impact</a:t>
            </a:r>
          </a:p>
          <a:p>
            <a:r>
              <a:t>Unintended operational change = excessive agency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Agent Least Privilege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Scoped tool permissions per role</a:t>
            </a:r>
          </a:p>
          <a:p>
            <a:r>
              <a:rPr dirty="0"/>
              <a:t>Command allow-lists + granular API authorization</a:t>
            </a:r>
          </a:p>
          <a:p>
            <a:r>
              <a:rPr dirty="0"/>
              <a:t>Time-bound access tokens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Delegation &amp; Approval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High-impact ops require human validation</a:t>
            </a:r>
          </a:p>
          <a:p>
            <a:r>
              <a:rPr dirty="0"/>
              <a:t>Escalation thresholds route critical decisions</a:t>
            </a:r>
          </a:p>
          <a:p>
            <a:r>
              <a:rPr dirty="0"/>
              <a:t>Watch automation bias — AI isn't always right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Harm executed unchecked = insufficient HITL</a:t>
            </a:r>
          </a:p>
          <a:p>
            <a:r>
              <a:t>Oversight is a maturity signal, not a limitation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HUMAN-IN-THE-LOOP = MATURITY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Three Threat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Deepfakes — AUP prohibition + governed detection</a:t>
            </a:r>
          </a:p>
          <a:p>
            <a:r>
              <a:t>Insider — UEBA AI baselines required</a:t>
            </a:r>
          </a:p>
          <a:p>
            <a:r>
              <a:t>Agentic — scope, boundaries, human gates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Vendor Due Diligence &amp; Contracts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3 — Dr. Michael Solomon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Standard IT DD Isn't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ISO 27001, SOC 2, DPA — necessary but not sufficient</a:t>
            </a:r>
          </a:p>
          <a:p>
            <a:r>
              <a:t>Inadequate DD is a direct path to EU AI Act liability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 AI-Specific Additions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Model transparency / model card</a:t>
            </a:r>
          </a:p>
          <a:p>
            <a:r>
              <a:t>Training-data provenance + license</a:t>
            </a:r>
          </a:p>
          <a:p>
            <a:r>
              <a:t>EU AI Act compliance status</a:t>
            </a:r>
          </a:p>
          <a:p>
            <a:r>
              <a:t>Model-change notification process</a:t>
            </a:r>
          </a:p>
          <a:p>
            <a:r>
              <a:t>AI-specific security testing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Questionnaire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Model transparency</a:t>
            </a:r>
          </a:p>
          <a:p>
            <a:r>
              <a:t>Training data &amp; privacy</a:t>
            </a:r>
          </a:p>
          <a:p>
            <a:r>
              <a:t>Regulatory status (EU AI Act Annex III)</a:t>
            </a:r>
          </a:p>
          <a:p>
            <a:r>
              <a:t>Security testing</a:t>
            </a:r>
          </a:p>
          <a:p>
            <a:r>
              <a:t>Model change mgmt &amp; incident response</a:t>
            </a:r>
          </a:p>
          <a:p>
            <a:r>
              <a:t>Sub-processors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dirty="0"/>
              <a:t>1 </a:t>
            </a:r>
            <a:r>
              <a:rPr lang="en-US" dirty="0"/>
              <a:t>— </a:t>
            </a:r>
            <a:r>
              <a:rPr dirty="0"/>
              <a:t>Transparency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dirty="0"/>
              <a:t>Current model card </a:t>
            </a:r>
            <a:br>
              <a:rPr lang="en-US" dirty="0"/>
            </a:br>
            <a:r>
              <a:rPr dirty="0"/>
              <a:t>on request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dirty="0"/>
              <a:t>4 </a:t>
            </a:r>
            <a:r>
              <a:rPr lang="en-US" dirty="0"/>
              <a:t>— </a:t>
            </a:r>
            <a:r>
              <a:rPr dirty="0"/>
              <a:t>EU AI Act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Compliance warranty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Seven Contract Clauses · 1–4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C602843-1359-F896-9318-5C14C1C2228F}"/>
              </a:ext>
            </a:extLst>
          </p:cNvPr>
          <p:cNvSpPr txBox="1">
            <a:spLocks/>
          </p:cNvSpPr>
          <p:nvPr/>
        </p:nvSpPr>
        <p:spPr>
          <a:xfrm>
            <a:off x="9113279" y="2070524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 — Change Notice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24CCCBB-76C1-8BDA-3331-63E4813A6C8A}"/>
              </a:ext>
            </a:extLst>
          </p:cNvPr>
          <p:cNvSpPr txBox="1">
            <a:spLocks/>
          </p:cNvSpPr>
          <p:nvPr/>
        </p:nvSpPr>
        <p:spPr>
          <a:xfrm>
            <a:off x="9113279" y="2402923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Defined advance-</a:t>
            </a:r>
            <a:br>
              <a:rPr lang="en-US" dirty="0"/>
            </a:br>
            <a:r>
              <a:rPr lang="en-US" dirty="0"/>
              <a:t>notice period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69BB37A-710E-22EF-97BC-CF5AB30B9AAE}"/>
              </a:ext>
            </a:extLst>
          </p:cNvPr>
          <p:cNvSpPr txBox="1">
            <a:spLocks/>
          </p:cNvSpPr>
          <p:nvPr/>
        </p:nvSpPr>
        <p:spPr>
          <a:xfrm>
            <a:off x="3708941" y="4215848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 — Data Warranties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7A14E8F-CD5E-68D1-4A2B-C85012D3F4C5}"/>
              </a:ext>
            </a:extLst>
          </p:cNvPr>
          <p:cNvSpPr txBox="1">
            <a:spLocks/>
          </p:cNvSpPr>
          <p:nvPr/>
        </p:nvSpPr>
        <p:spPr>
          <a:xfrm>
            <a:off x="3708941" y="4548247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Licensed; no unlicensed personal data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Contract Clauses 5–7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5 AI incident-notification SLA</a:t>
            </a:r>
          </a:p>
          <a:p>
            <a:r>
              <a:rPr dirty="0"/>
              <a:t>6 Security-testing disclosure (annual, under NDA)</a:t>
            </a:r>
          </a:p>
          <a:p>
            <a:r>
              <a:rPr dirty="0"/>
              <a:t>7 Data deletion / model retirement — written confirmation</a:t>
            </a:r>
          </a:p>
          <a:p>
            <a:r>
              <a:rPr dirty="0"/>
              <a:t>Clause 7 (fine-tuning protection) is the most-missed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AI-Specific DPA Additions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Training data = personal-data treatment</a:t>
            </a:r>
          </a:p>
          <a:p>
            <a:r>
              <a:t>Fine-tuning scope limitations</a:t>
            </a:r>
          </a:p>
          <a:p>
            <a:r>
              <a:t>Model output as personal data</a:t>
            </a:r>
          </a:p>
          <a:p>
            <a:r>
              <a:t>AI-specific breach definition</a:t>
            </a:r>
          </a:p>
          <a:p>
            <a:r>
              <a:t>Article 22 accountability + audit right</a:t>
            </a:r>
          </a:p>
          <a:p>
            <a:r>
              <a:t>'Just an AI vendor' is no exemption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Tier 1 Critical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Personal data at scale / high-risk / foundational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577142" y="2843812"/>
            <a:ext cx="2208612" cy="391061"/>
          </a:xfrm>
        </p:spPr>
        <p:txBody>
          <a:bodyPr/>
          <a:lstStyle/>
          <a:p>
            <a:r>
              <a:t>Tier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77141" y="3227616"/>
            <a:ext cx="2208612" cy="696910"/>
          </a:xfrm>
        </p:spPr>
        <p:txBody>
          <a:bodyPr/>
          <a:lstStyle/>
          <a:p>
            <a:r>
              <a:t>Confidential data / core integration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49275" y="3924256"/>
            <a:ext cx="2208612" cy="442302"/>
          </a:xfrm>
        </p:spPr>
        <p:txBody>
          <a:bodyPr/>
          <a:lstStyle/>
          <a:p>
            <a:r>
              <a:t>Tier 3 Standard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49275" y="4364800"/>
            <a:ext cx="2208612" cy="974250"/>
          </a:xfrm>
        </p:spPr>
        <p:txBody>
          <a:bodyPr/>
          <a:lstStyle/>
          <a:p>
            <a:r>
              <a:t>Public or internal informational only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A2A037-400C-7E8F-7A53-4F3DDBBF0A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Vendor Tiering</a:t>
            </a:r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Monitoring 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Model-change notifications</a:t>
            </a:r>
          </a:p>
          <a:p>
            <a:r>
              <a:rPr dirty="0"/>
              <a:t>Security incidents</a:t>
            </a:r>
          </a:p>
          <a:p>
            <a:r>
              <a:rPr dirty="0"/>
              <a:t>Regulatory compliance</a:t>
            </a:r>
          </a:p>
          <a:p>
            <a:r>
              <a:rPr dirty="0"/>
              <a:t>Performance &amp; fairness drift</a:t>
            </a:r>
          </a:p>
          <a:p>
            <a:r>
              <a:rPr dirty="0"/>
              <a:t>Sub-processor changes</a:t>
            </a:r>
          </a:p>
          <a:p>
            <a:r>
              <a:rPr dirty="0"/>
              <a:t>Annual DD refresh (tier 1)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DD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938528"/>
            <a:ext cx="6144768" cy="4187952"/>
          </a:xfrm>
        </p:spPr>
        <p:txBody>
          <a:bodyPr/>
          <a:lstStyle/>
          <a:p>
            <a:r>
              <a:rPr dirty="0"/>
              <a:t>Standard IT DD with no AI additions</a:t>
            </a:r>
          </a:p>
          <a:p>
            <a:r>
              <a:rPr dirty="0"/>
              <a:t>No model-change-notification clause → stale DPA</a:t>
            </a:r>
          </a:p>
          <a:p>
            <a:r>
              <a:rPr dirty="0"/>
              <a:t>DPA silent on fine-tuning scope</a:t>
            </a:r>
          </a:p>
          <a:p>
            <a:r>
              <a:rPr dirty="0"/>
              <a:t>No ongoing monitoring → DPA stale after acquisition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Six AI questionnaire categories; model-change notice not optional</a:t>
            </a:r>
          </a:p>
          <a:p>
            <a:r>
              <a:t>DPA must address fine-tuning; monitoring with triggers</a:t>
            </a:r>
          </a:p>
          <a:p>
            <a:r>
              <a:t>Exam: fine-tuning in DPA + model-change notice most testable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FIX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Vendor Due Diligence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DD areas + AI-specific contract clauses</a:t>
            </a:r>
          </a:p>
          <a:p>
            <a:r>
              <a:t>DPA requirements + ongoing monitoring</a:t>
            </a:r>
          </a:p>
          <a:p>
            <a:r>
              <a:t>DPA is mandatory for personal-data processing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Provider vs Deployer Accountability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4 — Dr. Michael Solomon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Two EU AI </a:t>
            </a:r>
            <a:br>
              <a:rPr lang="en-US" dirty="0"/>
            </a:br>
            <a:r>
              <a:rPr dirty="0"/>
              <a:t>Act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Provider — develops &amp; places on market</a:t>
            </a:r>
          </a:p>
          <a:p>
            <a:r>
              <a:t>Deployer — uses under its own authority</a:t>
            </a:r>
          </a:p>
          <a:p>
            <a:r>
              <a:t>Which role applies determines your obligations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Provider Obligations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Conformity assessment + technical documentation</a:t>
            </a:r>
          </a:p>
          <a:p>
            <a:r>
              <a:t>CE marking for high-risk AI</a:t>
            </a:r>
          </a:p>
          <a:p>
            <a:r>
              <a:t>EU AI Act database registration</a:t>
            </a:r>
          </a:p>
          <a:p>
            <a:r>
              <a:t>QMS + post-market surveillance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Deployer Obligations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FRIA before deployment</a:t>
            </a:r>
          </a:p>
          <a:p>
            <a:r>
              <a:t>Human oversight + logging</a:t>
            </a:r>
          </a:p>
          <a:p>
            <a:r>
              <a:t>Transparency to affected individuals</a:t>
            </a:r>
          </a:p>
          <a:p>
            <a:r>
              <a:t>Incident notification to the provider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They attach to the role, not the contract</a:t>
            </a:r>
          </a:p>
          <a:p>
            <a:r>
              <a:t>A deployer can't contract out its FRIA</a:t>
            </a:r>
          </a:p>
          <a:p>
            <a:r>
              <a:t>The provider's DPIA ≠ the deployer's FRIA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OBLIGATIONS ARE NOT TRANSFERABLE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dirty="0"/>
              <a:t>1 </a:t>
            </a:r>
            <a:r>
              <a:rPr lang="en-US" dirty="0"/>
              <a:t>— </a:t>
            </a:r>
            <a:r>
              <a:rPr dirty="0"/>
              <a:t>Own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Places system on market under own brand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dirty="0"/>
              <a:t>4 </a:t>
            </a:r>
            <a:r>
              <a:rPr lang="en-US" dirty="0"/>
              <a:t>— </a:t>
            </a:r>
            <a:r>
              <a:rPr dirty="0"/>
              <a:t>GPAI Integrated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732357" cy="1408543"/>
          </a:xfrm>
        </p:spPr>
        <p:txBody>
          <a:bodyPr/>
          <a:lstStyle/>
          <a:p>
            <a:r>
              <a:rPr dirty="0"/>
              <a:t>Builds GPAI into a high-risk app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Deemed-Provider Scenarios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DEC79B3-5D5C-327C-683D-42240954CF41}"/>
              </a:ext>
            </a:extLst>
          </p:cNvPr>
          <p:cNvSpPr txBox="1">
            <a:spLocks/>
          </p:cNvSpPr>
          <p:nvPr/>
        </p:nvSpPr>
        <p:spPr>
          <a:xfrm>
            <a:off x="9113279" y="2070524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 — Substantial Mod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060EEA4-8EAF-E1ED-FE4A-76F1076779B7}"/>
              </a:ext>
            </a:extLst>
          </p:cNvPr>
          <p:cNvSpPr txBox="1">
            <a:spLocks/>
          </p:cNvSpPr>
          <p:nvPr/>
        </p:nvSpPr>
        <p:spPr>
          <a:xfrm>
            <a:off x="9113279" y="2402923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Substantially modifies a high-risk system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E101984-2D0A-CB88-F9C6-3A8AAAF06BEA}"/>
              </a:ext>
            </a:extLst>
          </p:cNvPr>
          <p:cNvSpPr txBox="1">
            <a:spLocks/>
          </p:cNvSpPr>
          <p:nvPr/>
        </p:nvSpPr>
        <p:spPr>
          <a:xfrm>
            <a:off x="3708941" y="4215848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 — New Purpose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9D3EFBA-033D-B0F9-1A4D-2AD256F1C309}"/>
              </a:ext>
            </a:extLst>
          </p:cNvPr>
          <p:cNvSpPr txBox="1">
            <a:spLocks/>
          </p:cNvSpPr>
          <p:nvPr/>
        </p:nvSpPr>
        <p:spPr>
          <a:xfrm>
            <a:off x="3708941" y="4548247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Change makes a system high-risk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GPAI — The Third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GPAI provider: training-data docs + methodology</a:t>
            </a:r>
          </a:p>
          <a:p>
            <a:r>
              <a:t>Copyright-compliance policy + training-data summary</a:t>
            </a:r>
          </a:p>
          <a:p>
            <a:r>
              <a:t>Downstream capability/limitation info + incident notice</a:t>
            </a:r>
          </a:p>
          <a:p>
            <a:r>
              <a:t>Systemic-risk models: adversarial testing + EU AI Office reporting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Using a GPAI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rPr dirty="0"/>
              <a:t>Build high-risk on a GPAI API → you are the deployer</a:t>
            </a:r>
          </a:p>
          <a:p>
            <a:r>
              <a:rPr dirty="0"/>
              <a:t>The GPAI provider owes you sufficient technical docs</a:t>
            </a:r>
          </a:p>
          <a:p>
            <a:r>
              <a:rPr dirty="0"/>
              <a:t>Three layers: GPAI → system provider → deployer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dirty="0"/>
              <a:t>Provider + Controller — full provider + DPIA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Deployer + Processor — to its own customers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32D0F0-F2B1-66C4-08A3-B9205EFCFD9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EU AI Act x GDPR – Four Combinations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FED184-BA14-D641-6102-FE98440A3B2E}"/>
              </a:ext>
            </a:extLst>
          </p:cNvPr>
          <p:cNvSpPr txBox="1">
            <a:spLocks/>
          </p:cNvSpPr>
          <p:nvPr/>
        </p:nvSpPr>
        <p:spPr>
          <a:xfrm>
            <a:off x="549275" y="4248686"/>
            <a:ext cx="2208612" cy="1466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Deployer + Controller — FRIA + PIA (most tested)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2114033-0454-BECA-08CD-94381FEB677D}"/>
              </a:ext>
            </a:extLst>
          </p:cNvPr>
          <p:cNvSpPr txBox="1">
            <a:spLocks/>
          </p:cNvSpPr>
          <p:nvPr/>
        </p:nvSpPr>
        <p:spPr>
          <a:xfrm>
            <a:off x="3755771" y="2110016"/>
            <a:ext cx="2344396" cy="97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Provider + Processor — provider + processor; DPA</a:t>
            </a: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The GDPR role does not determine the </a:t>
            </a:r>
            <a:br>
              <a:rPr lang="en-US" dirty="0"/>
            </a:br>
            <a:r>
              <a:rPr dirty="0"/>
              <a:t>EU AI Act role</a:t>
            </a:r>
          </a:p>
          <a:p>
            <a:r>
              <a:rPr dirty="0"/>
              <a:t>Most tested: Deployer + Controller → </a:t>
            </a:r>
            <a:br>
              <a:rPr lang="en-US" dirty="0"/>
            </a:br>
            <a:r>
              <a:rPr dirty="0"/>
              <a:t>FRIA and DPIA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ASSESS THE TWO ROLES INDEPENDENTLY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Accountability Register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rPr dirty="0"/>
              <a:t>Documents the EU AI Act role for every AI system</a:t>
            </a:r>
          </a:p>
          <a:p>
            <a:r>
              <a:rPr dirty="0"/>
              <a:t>Maps system ID, role, obligations, evidence location</a:t>
            </a:r>
          </a:p>
          <a:p>
            <a:r>
              <a:rPr dirty="0"/>
              <a:t>Deemed-provider assessment must be documented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Accountability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Deployer obligations 'transferred' by contract — unenforceable</a:t>
            </a:r>
          </a:p>
          <a:p>
            <a:r>
              <a:rPr dirty="0"/>
              <a:t>DPA accepted as a FRIA substitute</a:t>
            </a:r>
          </a:p>
          <a:p>
            <a:r>
              <a:rPr dirty="0"/>
              <a:t>Deemed-provider scenario not recognized (fine-tune + rebrand)</a:t>
            </a:r>
          </a:p>
          <a:p>
            <a:r>
              <a:rPr dirty="0"/>
              <a:t>Provider documentation never requested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 + 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Deployer obligations are non-transferable — document them</a:t>
            </a:r>
          </a:p>
          <a:p>
            <a:r>
              <a:t>FRIA is required in addition to the DPIA</a:t>
            </a:r>
          </a:p>
          <a:p>
            <a:r>
              <a:t>Fine-tuning triggers a legal deemed-provider assessment</a:t>
            </a:r>
          </a:p>
          <a:p>
            <a:r>
              <a:t>Determine the role first, then apply the obligation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Third, Fourth &amp; Fifth-Party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5 — Dr. Michael Solomon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AI Supply Chains Run Deeper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Model components, training data, inference infra — separate chains</a:t>
            </a:r>
          </a:p>
          <a:p>
            <a:r>
              <a:rPr dirty="0"/>
              <a:t>Standard DD covers third party; SBOM + disclosure reach further</a:t>
            </a:r>
          </a:p>
          <a:p>
            <a:r>
              <a:rPr dirty="0"/>
              <a:t>AI supply chains extend two layers deeper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2nd Party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49274" y="2110016"/>
            <a:ext cx="2900507" cy="1466167"/>
          </a:xfrm>
        </p:spPr>
        <p:txBody>
          <a:bodyPr/>
          <a:lstStyle/>
          <a:p>
            <a:r>
              <a:rPr dirty="0"/>
              <a:t>Your direct vendor (prior episode)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3rd Party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Well understood — standard due diligence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4th Party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Your vendor's vendors — disclosure via contract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5th Party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755770" y="4248686"/>
            <a:ext cx="2548047" cy="974250"/>
          </a:xfrm>
        </p:spPr>
        <p:txBody>
          <a:bodyPr/>
          <a:lstStyle/>
          <a:p>
            <a:r>
              <a:rPr dirty="0"/>
              <a:t>Vendor's vendor's vendors — SBOM + flow-down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9467E9-14FD-B59B-1733-AF9543BC8AC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Supply-Chain Party Layers</a:t>
            </a:r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Supply-Chain Layers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Foundation model — disclosure + change notification</a:t>
            </a:r>
          </a:p>
          <a:p>
            <a:r>
              <a:rPr dirty="0"/>
              <a:t>Training data — provenance warranty across the chain</a:t>
            </a:r>
          </a:p>
          <a:p>
            <a:r>
              <a:rPr dirty="0"/>
              <a:t>Inference infrastructure — cloud sub-supplier disclosure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Visibility Mechanisms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 err="1"/>
              <a:t>Subprocessor</a:t>
            </a:r>
            <a:r>
              <a:rPr dirty="0"/>
              <a:t> disclosure — AI-specific DPA extension</a:t>
            </a:r>
          </a:p>
          <a:p>
            <a:r>
              <a:rPr dirty="0"/>
              <a:t>SBOM requests for all AI components</a:t>
            </a:r>
          </a:p>
          <a:p>
            <a:r>
              <a:rPr dirty="0"/>
              <a:t>Supply-chain mapping → connects to asset inventory</a:t>
            </a:r>
          </a:p>
          <a:p>
            <a:r>
              <a:rPr dirty="0"/>
              <a:t>Incomplete mapping = governance gap tracked as a KPI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Inventory + SBOM reveals shared dependencies</a:t>
            </a:r>
          </a:p>
          <a:p>
            <a:r>
              <a:t>Above threshold → risk-register entry + treatment plan</a:t>
            </a:r>
          </a:p>
          <a:p>
            <a:r>
              <a:t>Visible only when the full chain is mapped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CONCENTRATION RISK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lang="en-US" dirty="0"/>
              <a:t>— </a:t>
            </a:r>
            <a:r>
              <a:rPr dirty="0"/>
              <a:t>Obligations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Same core obligations on sub-suppliers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dirty="0"/>
              <a:t>B </a:t>
            </a:r>
            <a:r>
              <a:rPr lang="en-US" dirty="0"/>
              <a:t>— </a:t>
            </a:r>
            <a:r>
              <a:rPr dirty="0"/>
              <a:t>Audit Right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Vendor audits sub-suppliers on your behalf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C </a:t>
            </a:r>
            <a:r>
              <a:rPr lang="en-US" dirty="0"/>
              <a:t>— </a:t>
            </a:r>
            <a:r>
              <a:rPr dirty="0"/>
              <a:t>Change Notice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Prior notice before sub-supplier changes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8E85B5A-CC85-50E3-4FD4-7793676091B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Three Flow-Down Mechanisms</a:t>
            </a:r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Ongoing Supply-Chain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Mapping-completeness KPI tracks the obligation</a:t>
            </a:r>
          </a:p>
          <a:p>
            <a:r>
              <a:rPr dirty="0"/>
              <a:t>Annual review: confirm disclosures + concentration in tolerance</a:t>
            </a:r>
          </a:p>
          <a:p>
            <a:r>
              <a:rPr dirty="0"/>
              <a:t>Vendor breach / model compromise → classification process</a:t>
            </a:r>
          </a:p>
          <a:p>
            <a:r>
              <a:rPr dirty="0"/>
              <a:t>Mapping is ongoing, not a one-time procurement step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Supply-Chain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Manage the vendor, ignore the chain</a:t>
            </a:r>
          </a:p>
          <a:p>
            <a:r>
              <a:rPr dirty="0"/>
              <a:t>Concentration not mapped until an incident</a:t>
            </a:r>
          </a:p>
          <a:p>
            <a:r>
              <a:rPr dirty="0"/>
              <a:t>SBOM not maintained → can't scope CVE impact in SLA</a:t>
            </a:r>
          </a:p>
          <a:p>
            <a:r>
              <a:rPr dirty="0" err="1"/>
              <a:t>Subprocessor</a:t>
            </a:r>
            <a:r>
              <a:rPr dirty="0"/>
              <a:t> disclosure not contractually required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The supply-chain map is a dynamic document</a:t>
            </a:r>
          </a:p>
          <a:p>
            <a:r>
              <a:t>Gaps are logged, not accepted as 'the nature of AI'</a:t>
            </a:r>
          </a:p>
          <a:p>
            <a:r>
              <a:t>SBOM + subprocessor disclosure are the most testable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GAPS = RISK-REGISTER ENTRIES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IP Ownership &amp; Liability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6 — Dr. Michael Solomon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What This Episode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3 IP ownership questions</a:t>
            </a:r>
          </a:p>
          <a:p>
            <a:r>
              <a:t>Training-data copyright &amp; license risk</a:t>
            </a:r>
          </a:p>
          <a:p>
            <a:r>
              <a:t>Model ownership across 4 scenarios</a:t>
            </a:r>
          </a:p>
          <a:p>
            <a:r>
              <a:t>EU AI liability framework</a:t>
            </a:r>
          </a:p>
          <a:p>
            <a:r>
              <a:t>Provider vs. deployer liability</a:t>
            </a:r>
          </a:p>
          <a:p>
            <a:r>
              <a:t>6 documentation obligations</a:t>
            </a:r>
          </a:p>
          <a:p>
            <a:r>
              <a:t>4 common failures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Your Role: Ask the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Ensure the questions are asked and records maintained</a:t>
            </a:r>
          </a:p>
          <a:p>
            <a:r>
              <a:t>Not to perform the legal analysis yourself</a:t>
            </a:r>
          </a:p>
          <a:p>
            <a:r>
              <a:t>Answers differ by jurisdiction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3200">
                <a:latin typeface="Segoe Sans Text"/>
                <a:cs typeface="Segoe Sans Text"/>
              </a:rPr>
              <a:t>Three IP Ownership Questions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>
                <a:latin typeface="Segoe Sans Text"/>
                <a:cs typeface="Segoe Sans Text"/>
              </a:rPr>
              <a:t>Who owns the training-data rights?</a:t>
            </a:r>
            <a:endParaRPr lang="en-US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Who owns the model?</a:t>
            </a: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Who owns the AI-generated outputs?</a:t>
            </a:r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Training-Data IP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Copyright infringement (training on protected works)</a:t>
            </a:r>
          </a:p>
          <a:p>
            <a:r>
              <a:t>License-condition breach</a:t>
            </a:r>
          </a:p>
          <a:p>
            <a:r>
              <a:t>Scraping ToS violations</a:t>
            </a:r>
          </a:p>
          <a:p>
            <a:r>
              <a:t>Personal data used without lawful basis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License register: source, license type, AI-training permission, legal basis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Publicly available ≠ licensed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NOT A LICENSE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0315D05-9E24-FB72-0129-859738C92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353707"/>
            <a:ext cx="9973455" cy="532384"/>
          </a:xfrm>
        </p:spPr>
        <p:txBody>
          <a:bodyPr/>
          <a:lstStyle/>
          <a:p>
            <a:r>
              <a:rPr lang="en-US" sz="3200">
                <a:latin typeface="Segoe Sans Text ExtraBold"/>
                <a:cs typeface="Segoe Sans Text ExtraBold"/>
              </a:rPr>
              <a:t>Four Model Ownership Scenarios</a:t>
            </a:r>
            <a:endParaRPr lang="en-US" sz="3200"/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B49811B8-65D5-CABA-1CD7-24B81DE65402}"/>
              </a:ext>
            </a:extLst>
          </p:cNvPr>
          <p:cNvSpPr>
            <a:spLocks noGrp="1"/>
          </p:cNvSpPr>
          <p:nvPr/>
        </p:nvSpPr>
        <p:spPr>
          <a:xfrm>
            <a:off x="607332" y="4904841"/>
            <a:ext cx="2208612" cy="39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Built in-house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48F60C0-3060-4AA4-7A46-5AC211763159}"/>
              </a:ext>
            </a:extLst>
          </p:cNvPr>
          <p:cNvSpPr>
            <a:spLocks noGrp="1"/>
          </p:cNvSpPr>
          <p:nvPr/>
        </p:nvSpPr>
        <p:spPr>
          <a:xfrm>
            <a:off x="2812343" y="4904841"/>
            <a:ext cx="2208612" cy="391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Fine-tuned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DDA6851-0788-6D28-6B81-FD406D84FDC6}"/>
              </a:ext>
            </a:extLst>
          </p:cNvPr>
          <p:cNvSpPr>
            <a:spLocks noGrp="1"/>
          </p:cNvSpPr>
          <p:nvPr/>
        </p:nvSpPr>
        <p:spPr>
          <a:xfrm>
            <a:off x="2812343" y="5281388"/>
            <a:ext cx="2208612" cy="1466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Owns the weights, subject to base license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2BC5A06-3EC4-F1EA-4BB6-EA50CB1E2A6C}"/>
              </a:ext>
            </a:extLst>
          </p:cNvPr>
          <p:cNvSpPr>
            <a:spLocks noGrp="1"/>
          </p:cNvSpPr>
          <p:nvPr/>
        </p:nvSpPr>
        <p:spPr>
          <a:xfrm>
            <a:off x="5019675" y="4882200"/>
            <a:ext cx="2208612" cy="442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Open-source base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B6E5627-7B35-F5BE-7BB5-3D899FB86C58}"/>
              </a:ext>
            </a:extLst>
          </p:cNvPr>
          <p:cNvSpPr>
            <a:spLocks noGrp="1"/>
          </p:cNvSpPr>
          <p:nvPr/>
        </p:nvSpPr>
        <p:spPr>
          <a:xfrm>
            <a:off x="4990646" y="5293715"/>
            <a:ext cx="2208612" cy="97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Copyleft — GPL may require release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13156B9-56BB-21E2-69D6-494050E0F1D2}"/>
              </a:ext>
            </a:extLst>
          </p:cNvPr>
          <p:cNvSpPr>
            <a:spLocks noGrp="1"/>
          </p:cNvSpPr>
          <p:nvPr/>
        </p:nvSpPr>
        <p:spPr>
          <a:xfrm>
            <a:off x="7224685" y="4882200"/>
            <a:ext cx="2208612" cy="442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API access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57919B70-E7D7-187D-0D6B-6AA564130301}"/>
              </a:ext>
            </a:extLst>
          </p:cNvPr>
          <p:cNvSpPr>
            <a:spLocks noGrp="1"/>
          </p:cNvSpPr>
          <p:nvPr/>
        </p:nvSpPr>
        <p:spPr>
          <a:xfrm>
            <a:off x="7224685" y="5279201"/>
            <a:ext cx="2208612" cy="97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Outputs owned, not the model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675789B-8B06-3042-F40C-91F961DAC217}"/>
              </a:ext>
            </a:extLst>
          </p:cNvPr>
          <p:cNvSpPr>
            <a:spLocks noGrp="1"/>
          </p:cNvSpPr>
          <p:nvPr/>
        </p:nvSpPr>
        <p:spPr>
          <a:xfrm>
            <a:off x="607332" y="5295902"/>
            <a:ext cx="2208612" cy="1466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Proprietary data — organization owns outright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Model IP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Document the development scenario + base-model license conditions</a:t>
            </a:r>
          </a:p>
          <a:p>
            <a:r>
              <a:t>Required for every AI system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Five AI Liability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557223"/>
            <a:ext cx="6146586" cy="47590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Product</a:t>
            </a:r>
            <a:r>
              <a:rPr lang="en-US" dirty="0">
                <a:latin typeface="Segoe Sans Text"/>
                <a:cs typeface="Segoe Sans Text"/>
              </a:rPr>
              <a:t> liability – EU product Liability Directive</a:t>
            </a:r>
            <a:endParaRPr lang="en-US" dirty="0"/>
          </a:p>
          <a:p>
            <a:pPr marL="457200" indent="-457200">
              <a:buAutoNum type="arabicPeriod"/>
            </a:pPr>
            <a:endParaRPr lang="en-US" dirty="0">
              <a:latin typeface="Segoe Sans Text"/>
              <a:cs typeface="Segoe Sans Text"/>
            </a:endParaRPr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AI Liability Directive – rebuttable presumption</a:t>
            </a:r>
          </a:p>
          <a:p>
            <a:pPr marL="457200" indent="-457200">
              <a:buAutoNum type="arabicPeriod"/>
            </a:pPr>
            <a:endParaRPr lang="en-US" dirty="0">
              <a:latin typeface="Segoe Sans Text"/>
              <a:cs typeface="Segoe Sans Text"/>
            </a:endParaRPr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Negligence – developer oversight failures</a:t>
            </a:r>
          </a:p>
          <a:p>
            <a:pPr marL="457200" indent="-457200">
              <a:buAutoNum type="arabicPeriod"/>
            </a:pPr>
            <a:endParaRPr lang="en-US" dirty="0">
              <a:latin typeface="Segoe Sans Text"/>
              <a:cs typeface="Segoe Sans Text"/>
            </a:endParaRPr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GDPR enforcement – Article 22 violation</a:t>
            </a:r>
          </a:p>
          <a:p>
            <a:pPr marL="457200" indent="-457200">
              <a:buAutoNum type="arabicPeriod"/>
            </a:pPr>
            <a:endParaRPr lang="en-US" dirty="0">
              <a:latin typeface="Segoe Sans Text"/>
              <a:cs typeface="Segoe Sans Text"/>
            </a:endParaRPr>
          </a:p>
          <a:p>
            <a:pPr marL="457200" indent="-457200">
              <a:buAutoNum type="arabicPeriod"/>
            </a:pPr>
            <a:r>
              <a:rPr lang="en-US">
                <a:latin typeface="Segoe Sans Text"/>
                <a:cs typeface="Segoe Sans Text"/>
              </a:rPr>
              <a:t>Contractual liability between parties – rebuttable presumption is the most directly testable</a:t>
            </a:r>
            <a:endParaRPr lang="en-US" dirty="0">
              <a:latin typeface="Segoe Sans Text"/>
              <a:cs typeface="Segoe Sans Text"/>
            </a:endParaRPr>
          </a:p>
          <a:p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Liability Allocation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Provider bears product liability for defects</a:t>
            </a:r>
          </a:p>
          <a:p>
            <a:r>
              <a:t>Deployer bears liability for deployment decisions</a:t>
            </a:r>
          </a:p>
          <a:p>
            <a:r>
              <a:t>Article 22 accountability can't shift to users via ToS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IP &amp; Liability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1 License register not maintained (18 months, no entries)</a:t>
            </a:r>
          </a:p>
          <a:p>
            <a:r>
              <a:t>2 "Publicly available" treated as licensed</a:t>
            </a:r>
          </a:p>
          <a:p>
            <a:r>
              <a:t>3 Fine-tuning data deletion not confirmed in writing</a:t>
            </a:r>
          </a:p>
          <a:p>
            <a:r>
              <a:t>4 Output ownership not addressed in customer terms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3 ownership questions</a:t>
            </a:r>
          </a:p>
          <a:p>
            <a:r>
              <a:t>4 model-ownership scenarios</a:t>
            </a:r>
          </a:p>
          <a:p>
            <a:r>
              <a:t>5 liability types</a:t>
            </a:r>
          </a:p>
          <a:p>
            <a:r>
              <a:t>Fine-tuning confirmation &amp; "publicly available" are top exam traps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Vendor Monitoring &amp; Risk 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7 — Dr. Michael Solomon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Monitoring Is Ongoing, </a:t>
            </a:r>
            <a:br>
              <a:rPr lang="en-US" sz="2800" dirty="0"/>
            </a:br>
            <a:r>
              <a:rPr sz="2800" dirty="0"/>
              <a:t>Not Point-in-Time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Due diligence is a point-in-time assessment</a:t>
            </a:r>
          </a:p>
          <a:p>
            <a:r>
              <a:t>Monitoring is the ongoing governance obligation</a:t>
            </a:r>
          </a:p>
          <a:p>
            <a:r>
              <a:t>A vendor that passed two years ago may be riskier today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Tier-Based Monitoring Calendar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Tier 1 annual · Tier 2 biennial · Tier 3 on-event</a:t>
            </a:r>
          </a:p>
          <a:p>
            <a:r>
              <a:rPr dirty="0"/>
              <a:t>Annual review: questionnaire, contract &amp; incident-history check</a:t>
            </a:r>
          </a:p>
          <a:p>
            <a:r>
              <a:rPr dirty="0"/>
              <a:t>A program-plan obligation + dashboard KPI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95F3DB4-ED36-FA93-D768-D60798B46273}"/>
              </a:ext>
            </a:extLst>
          </p:cNvPr>
          <p:cNvSpPr txBox="1">
            <a:spLocks/>
          </p:cNvSpPr>
          <p:nvPr/>
        </p:nvSpPr>
        <p:spPr>
          <a:xfrm>
            <a:off x="574431" y="723129"/>
            <a:ext cx="6146586" cy="652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accent2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Five Triggered Events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7D61C0F-C6FA-9AC2-96BB-FEB09F24F893}"/>
              </a:ext>
            </a:extLst>
          </p:cNvPr>
          <p:cNvSpPr txBox="1">
            <a:spLocks/>
          </p:cNvSpPr>
          <p:nvPr/>
        </p:nvSpPr>
        <p:spPr>
          <a:xfrm>
            <a:off x="576072" y="1481328"/>
            <a:ext cx="6144768" cy="4645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Vendor financial distress</a:t>
            </a:r>
          </a:p>
          <a:p>
            <a:r>
              <a:rPr lang="en-US" dirty="0"/>
              <a:t>Regulatory action against the vendor</a:t>
            </a:r>
          </a:p>
          <a:p>
            <a:r>
              <a:rPr lang="en-US" dirty="0"/>
              <a:t>Public incident</a:t>
            </a:r>
          </a:p>
          <a:p>
            <a:r>
              <a:rPr lang="en-US" dirty="0"/>
              <a:t>Leadership change</a:t>
            </a:r>
          </a:p>
          <a:p>
            <a:r>
              <a:rPr lang="en-US" dirty="0"/>
              <a:t>Acquisition</a:t>
            </a:r>
          </a:p>
          <a:p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E23217-8C24-C502-63A1-E0235BE4A918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Active Monitoring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Vendor reports, regulatory filings, TI feeds, CVE databases</a:t>
            </a:r>
          </a:p>
          <a:p>
            <a:r>
              <a:rPr dirty="0"/>
              <a:t>CVE monitoring automated via supply-chain monitoring</a:t>
            </a:r>
          </a:p>
          <a:p>
            <a:r>
              <a:rPr dirty="0"/>
              <a:t>Corroborate vendor self-reports — monitoring isn't passive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 dirty="0"/>
              <a:t>Risk-Change Protocol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rPr dirty="0"/>
              <a:t>1 </a:t>
            </a:r>
            <a:r>
              <a:rPr lang="en-US" dirty="0"/>
              <a:t>— </a:t>
            </a:r>
            <a:r>
              <a:rPr dirty="0"/>
              <a:t>Reassess the vendor's risk tier</a:t>
            </a:r>
          </a:p>
          <a:p>
            <a:r>
              <a:rPr dirty="0"/>
              <a:t>2 </a:t>
            </a:r>
            <a:r>
              <a:rPr lang="en-US" dirty="0"/>
              <a:t>— </a:t>
            </a:r>
            <a:r>
              <a:rPr dirty="0"/>
              <a:t>Update the risk-register entry</a:t>
            </a:r>
          </a:p>
          <a:p>
            <a:r>
              <a:rPr dirty="0"/>
              <a:t>3 </a:t>
            </a:r>
            <a:r>
              <a:rPr lang="en-US" dirty="0"/>
              <a:t>— </a:t>
            </a:r>
            <a:r>
              <a:rPr dirty="0"/>
              <a:t>Assess whether treatment is required</a:t>
            </a:r>
          </a:p>
          <a:p>
            <a:r>
              <a:rPr dirty="0"/>
              <a:t>4 </a:t>
            </a:r>
            <a:r>
              <a:rPr lang="en-US" dirty="0"/>
              <a:t>— </a:t>
            </a:r>
            <a:r>
              <a:rPr dirty="0"/>
              <a:t>Document the reassessment + decision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DA3850-8FBD-6700-C3D9-83BE02D22CF8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dirty="0"/>
              <a:t>L1 </a:t>
            </a:r>
            <a:r>
              <a:rPr lang="en-US" dirty="0"/>
              <a:t>— </a:t>
            </a:r>
            <a:r>
              <a:rPr dirty="0"/>
              <a:t>In Appetite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Log in monitoring record; no escalation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dirty="0"/>
              <a:t>L2 </a:t>
            </a:r>
            <a:r>
              <a:rPr lang="en-US" dirty="0"/>
              <a:t>— </a:t>
            </a:r>
            <a:r>
              <a:rPr dirty="0"/>
              <a:t>Score 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Update register; notify AI security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484870" cy="442302"/>
          </a:xfrm>
        </p:spPr>
        <p:txBody>
          <a:bodyPr>
            <a:normAutofit/>
          </a:bodyPr>
          <a:lstStyle/>
          <a:p>
            <a:r>
              <a:rPr dirty="0"/>
              <a:t>L3 </a:t>
            </a:r>
            <a:r>
              <a:rPr lang="en-US" dirty="0"/>
              <a:t>— </a:t>
            </a:r>
            <a:r>
              <a:rPr dirty="0"/>
              <a:t>Above Appetite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49275" y="4193266"/>
            <a:ext cx="2208612" cy="974250"/>
          </a:xfrm>
        </p:spPr>
        <p:txBody>
          <a:bodyPr/>
          <a:lstStyle/>
          <a:p>
            <a:r>
              <a:rPr dirty="0"/>
              <a:t>Out-of-cycle steering </a:t>
            </a:r>
            <a:r>
              <a:rPr dirty="0" err="1"/>
              <a:t>cmte</a:t>
            </a:r>
            <a:r>
              <a:rPr dirty="0"/>
              <a:t>; interim controls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dirty="0"/>
              <a:t>L4 </a:t>
            </a:r>
            <a:r>
              <a:rPr lang="en-US" dirty="0"/>
              <a:t>— </a:t>
            </a:r>
            <a:r>
              <a:rPr dirty="0"/>
              <a:t>Systemic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755771" y="4193266"/>
            <a:ext cx="2208612" cy="974250"/>
          </a:xfrm>
        </p:spPr>
        <p:txBody>
          <a:bodyPr/>
          <a:lstStyle/>
          <a:p>
            <a:r>
              <a:t>CSO + board; act on concentration risk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0B83F-2AED-60CD-C9EB-71BD8B3DAA6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Escalation – Four Trigger Levels</a:t>
            </a:r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Ownership &amp; Documentation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Framework lives in the third-party </a:t>
            </a:r>
            <a:br>
              <a:rPr lang="en-US" dirty="0"/>
            </a:br>
            <a:r>
              <a:rPr dirty="0"/>
              <a:t>risk procedure</a:t>
            </a:r>
          </a:p>
          <a:p>
            <a:r>
              <a:rPr dirty="0"/>
              <a:t>Ad-hoc escalation is not governance</a:t>
            </a:r>
          </a:p>
          <a:p>
            <a:r>
              <a:rPr dirty="0"/>
              <a:t>Tier-1 overdue reviews = </a:t>
            </a:r>
            <a:r>
              <a:rPr lang="en-US" dirty="0"/>
              <a:t>the </a:t>
            </a:r>
            <a:br>
              <a:rPr lang="en-US" dirty="0"/>
            </a:br>
            <a:r>
              <a:rPr dirty="0"/>
              <a:t>primary dashboard KRI</a:t>
            </a:r>
          </a:p>
          <a:p>
            <a:r>
              <a:rPr dirty="0"/>
              <a:t>AI compliance analyst owns the </a:t>
            </a:r>
            <a:br>
              <a:rPr lang="en-US" dirty="0"/>
            </a:br>
            <a:r>
              <a:rPr dirty="0"/>
              <a:t>calendar; lead approves triggers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74B3EC4-D445-DA29-1D03-DBDE0455052C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Monitoring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Monitoring calendar not maintained (tier-1 overdue)</a:t>
            </a:r>
          </a:p>
          <a:p>
            <a:r>
              <a:t>Triggered review not conducted (vendor acquired)</a:t>
            </a:r>
          </a:p>
          <a:p>
            <a:r>
              <a:t>Risk change not updated in the register</a:t>
            </a:r>
          </a:p>
          <a:p>
            <a:r>
              <a:t>Exit plan never tested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Calendar as a KPI with overdue escalation</a:t>
            </a:r>
          </a:p>
          <a:p>
            <a:r>
              <a:rPr dirty="0"/>
              <a:t>Five triggers documented; findings update </a:t>
            </a:r>
            <a:br>
              <a:rPr lang="en-US" dirty="0"/>
            </a:br>
            <a:r>
              <a:rPr dirty="0"/>
              <a:t>register in SLA</a:t>
            </a:r>
          </a:p>
          <a:p>
            <a:r>
              <a:rPr dirty="0"/>
              <a:t>Exit plans tested in the annual BCP exercise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FIXES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Vendor Monitoring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Monitoring keeps the third-party risk </a:t>
            </a:r>
            <a:br>
              <a:rPr lang="en-US" dirty="0"/>
            </a:br>
            <a:r>
              <a:rPr dirty="0"/>
              <a:t>register current</a:t>
            </a:r>
          </a:p>
          <a:p>
            <a:r>
              <a:rPr dirty="0"/>
              <a:t>Five triggers each require a </a:t>
            </a:r>
            <a:br>
              <a:rPr lang="en-US" dirty="0"/>
            </a:br>
            <a:r>
              <a:rPr dirty="0"/>
              <a:t>governance response</a:t>
            </a:r>
          </a:p>
          <a:p>
            <a:r>
              <a:rPr dirty="0"/>
              <a:t>Annual review includes a </a:t>
            </a:r>
            <a:br>
              <a:rPr lang="en-US" dirty="0"/>
            </a:br>
            <a:r>
              <a:rPr dirty="0"/>
              <a:t>monitoring-completeness check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4BA198-DCE8-9221-16EE-2EF77977374D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Security Architecture &amp; Change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05 · Episode 8 — Dr. Michael Solomon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Architecture + Change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Architecture defines what controls must be in place</a:t>
            </a:r>
          </a:p>
          <a:p>
            <a:r>
              <a:t>Change management governs how they're maintained as it evolves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dirty="0"/>
              <a:t>1 </a:t>
            </a:r>
            <a:r>
              <a:rPr lang="en-US" dirty="0"/>
              <a:t>— </a:t>
            </a:r>
            <a:r>
              <a:rPr dirty="0"/>
              <a:t>Data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Least privilege, integrity, provenance logging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71520" y="1718955"/>
            <a:ext cx="2853373" cy="391061"/>
          </a:xfrm>
        </p:spPr>
        <p:txBody>
          <a:bodyPr>
            <a:normAutofit/>
          </a:bodyPr>
          <a:lstStyle/>
          <a:p>
            <a:r>
              <a:rPr dirty="0"/>
              <a:t>2 </a:t>
            </a:r>
            <a:r>
              <a:rPr lang="en-US" dirty="0"/>
              <a:t>— </a:t>
            </a:r>
            <a:r>
              <a:rPr dirty="0"/>
              <a:t>Model Artifacts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3871521" y="2110016"/>
            <a:ext cx="2208612" cy="1466167"/>
          </a:xfrm>
        </p:spPr>
        <p:txBody>
          <a:bodyPr/>
          <a:lstStyle/>
          <a:p>
            <a:r>
              <a:rPr dirty="0"/>
              <a:t>Registry MFA, signing, version governance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71046" y="3742828"/>
            <a:ext cx="3184724" cy="500359"/>
          </a:xfrm>
        </p:spPr>
        <p:txBody>
          <a:bodyPr>
            <a:normAutofit fontScale="92500"/>
          </a:bodyPr>
          <a:lstStyle/>
          <a:p>
            <a:r>
              <a:rPr dirty="0">
                <a:latin typeface="Segoe Sans Text"/>
                <a:cs typeface="Segoe Sans Text"/>
              </a:rPr>
              <a:t>3</a:t>
            </a:r>
            <a:r>
              <a:rPr lang="en-US" dirty="0">
                <a:latin typeface="Segoe Sans Text"/>
                <a:cs typeface="Segoe Sans Text"/>
              </a:rPr>
              <a:t> </a:t>
            </a:r>
            <a:r>
              <a:rPr lang="en-US" dirty="0"/>
              <a:t> — </a:t>
            </a:r>
            <a:r>
              <a:rPr dirty="0">
                <a:latin typeface="Segoe Sans Text"/>
                <a:cs typeface="Segoe Sans Text"/>
              </a:rPr>
              <a:t>Inference</a:t>
            </a:r>
            <a:r>
              <a:rPr lang="en-US" dirty="0">
                <a:latin typeface="Segoe Sans Text"/>
                <a:cs typeface="Segoe Sans Text"/>
              </a:rPr>
              <a:t> Infrastructure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645338" cy="974250"/>
          </a:xfrm>
        </p:spPr>
        <p:txBody>
          <a:bodyPr/>
          <a:lstStyle/>
          <a:p>
            <a:r>
              <a:rPr dirty="0"/>
              <a:t>API gateway, segmentation, injection defense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871521" y="3742828"/>
            <a:ext cx="2208612" cy="442302"/>
          </a:xfrm>
        </p:spPr>
        <p:txBody>
          <a:bodyPr/>
          <a:lstStyle/>
          <a:p>
            <a:r>
              <a:rPr dirty="0"/>
              <a:t>4 </a:t>
            </a:r>
            <a:r>
              <a:rPr lang="en-US" dirty="0"/>
              <a:t>— </a:t>
            </a:r>
            <a:r>
              <a:rPr dirty="0"/>
              <a:t>Governance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871521" y="4248686"/>
            <a:ext cx="2208612" cy="974250"/>
          </a:xfrm>
        </p:spPr>
        <p:txBody>
          <a:bodyPr/>
          <a:lstStyle/>
          <a:p>
            <a:r>
              <a:t>Fairness KRIs, immutable logs, SIEM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6199AFD-84C5-181B-602D-D04A257CE5F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Architecture Layers</a:t>
            </a:r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Four layers, each with controls </a:t>
            </a:r>
            <a:br>
              <a:rPr lang="en-US" dirty="0"/>
            </a:br>
            <a:r>
              <a:rPr dirty="0"/>
              <a:t>standard IT doesn't provide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KNOW EACH LAYER'S PRIMARY CONTROL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 Architectural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Separate training &amp; inference environments</a:t>
            </a:r>
          </a:p>
          <a:p>
            <a:r>
              <a:rPr dirty="0"/>
              <a:t>Least privilege across distinct AI roles</a:t>
            </a:r>
          </a:p>
          <a:p>
            <a:r>
              <a:rPr dirty="0"/>
              <a:t>Immutable audit trails per model decision</a:t>
            </a:r>
          </a:p>
          <a:p>
            <a:r>
              <a:rPr dirty="0"/>
              <a:t>Input validation + output monitoring</a:t>
            </a:r>
          </a:p>
          <a:p>
            <a:r>
              <a:rPr dirty="0"/>
              <a:t>Architecture review as a deployment gate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54FDC-D373-6D9C-EA24-E9FAE5966DAB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Architecture review is mandatory, not optional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REVIEW IS A GATE, NOT A CHECK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Material Change Threshold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Not every change needs full change management</a:t>
            </a:r>
          </a:p>
          <a:p>
            <a:r>
              <a:rPr dirty="0"/>
              <a:t>Always material: weight updates that change output</a:t>
            </a:r>
          </a:p>
          <a:p>
            <a:r>
              <a:rPr dirty="0"/>
              <a:t>New use case, new integrations</a:t>
            </a:r>
          </a:p>
          <a:p>
            <a:r>
              <a:rPr dirty="0"/>
              <a:t>Any change to EU AI Act classification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Threshold-Dependent Changes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Performance — material if root-caused to the model</a:t>
            </a:r>
          </a:p>
          <a:p>
            <a:r>
              <a:rPr dirty="0"/>
              <a:t>Fairness — material if beyond tolerance</a:t>
            </a:r>
          </a:p>
          <a:p>
            <a:r>
              <a:rPr dirty="0"/>
              <a:t>Hyperparameters — material if output beyond baseline</a:t>
            </a:r>
          </a:p>
          <a:p>
            <a:r>
              <a:rPr dirty="0"/>
              <a:t>'Substantial modification' has EU AI Act legal meaning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dirty="0"/>
              <a:t>1 </a:t>
            </a:r>
            <a:r>
              <a:rPr lang="en-US" dirty="0"/>
              <a:t>— </a:t>
            </a:r>
            <a:r>
              <a:rPr dirty="0"/>
              <a:t>Identify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dirty="0"/>
              <a:t>Change identification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dirty="0"/>
              <a:t>4 </a:t>
            </a:r>
            <a:r>
              <a:rPr lang="en-US" dirty="0"/>
              <a:t>— </a:t>
            </a:r>
            <a:r>
              <a:rPr dirty="0"/>
              <a:t>Doc Review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DPA + model-card review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Eight-Step Change Process · 1–4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82F752C-2C8E-1FA0-29CD-E6D52D5F2494}"/>
              </a:ext>
            </a:extLst>
          </p:cNvPr>
          <p:cNvSpPr txBox="1">
            <a:spLocks/>
          </p:cNvSpPr>
          <p:nvPr/>
        </p:nvSpPr>
        <p:spPr>
          <a:xfrm>
            <a:off x="3708941" y="4215848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 — Risk Register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E4BD5B3-ACA9-F17E-C109-7AB3F3C9B5B1}"/>
              </a:ext>
            </a:extLst>
          </p:cNvPr>
          <p:cNvSpPr txBox="1">
            <a:spLocks/>
          </p:cNvSpPr>
          <p:nvPr/>
        </p:nvSpPr>
        <p:spPr>
          <a:xfrm>
            <a:off x="3708941" y="4548247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Update affected entries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1453B94-8127-F153-B4DC-FC5AC6D18128}"/>
              </a:ext>
            </a:extLst>
          </p:cNvPr>
          <p:cNvSpPr txBox="1">
            <a:spLocks/>
          </p:cNvSpPr>
          <p:nvPr/>
        </p:nvSpPr>
        <p:spPr>
          <a:xfrm>
            <a:off x="9113279" y="2070524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 — Impact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96DB33-5847-2049-205D-E1777B0CF52D}"/>
              </a:ext>
            </a:extLst>
          </p:cNvPr>
          <p:cNvSpPr txBox="1">
            <a:spLocks/>
          </p:cNvSpPr>
          <p:nvPr/>
        </p:nvSpPr>
        <p:spPr>
          <a:xfrm>
            <a:off x="9113279" y="2402923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Technical, security, regulatory assessment</a:t>
            </a:r>
            <a:endParaRPr lang="en-US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dirty="0"/>
              <a:t>5 </a:t>
            </a:r>
            <a:r>
              <a:rPr lang="en-US" dirty="0"/>
              <a:t>— </a:t>
            </a:r>
            <a:r>
              <a:rPr dirty="0"/>
              <a:t>Arch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Security architecture review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dirty="0"/>
              <a:t>8 </a:t>
            </a:r>
            <a:r>
              <a:rPr lang="en-US" dirty="0"/>
              <a:t>— </a:t>
            </a:r>
            <a:r>
              <a:rPr dirty="0"/>
              <a:t>Closure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Change-record closure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Eight-Step Change Process · 5–8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64D15A9-052D-1E13-4FC0-F374170E5A62}"/>
              </a:ext>
            </a:extLst>
          </p:cNvPr>
          <p:cNvSpPr txBox="1">
            <a:spLocks/>
          </p:cNvSpPr>
          <p:nvPr/>
        </p:nvSpPr>
        <p:spPr>
          <a:xfrm>
            <a:off x="9113279" y="2091549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 — Approval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A583A43-B62C-C759-CA02-EE4E88AB74D1}"/>
              </a:ext>
            </a:extLst>
          </p:cNvPr>
          <p:cNvSpPr txBox="1">
            <a:spLocks/>
          </p:cNvSpPr>
          <p:nvPr/>
        </p:nvSpPr>
        <p:spPr>
          <a:xfrm>
            <a:off x="9113279" y="2423948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Lead/CSO sign-off; legal for substantial mod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7B636B5-BB1A-FF7F-B72A-A0372FF94ACC}"/>
              </a:ext>
            </a:extLst>
          </p:cNvPr>
          <p:cNvSpPr txBox="1">
            <a:spLocks/>
          </p:cNvSpPr>
          <p:nvPr/>
        </p:nvSpPr>
        <p:spPr>
          <a:xfrm>
            <a:off x="3708941" y="4215848"/>
            <a:ext cx="2366161" cy="33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7 — Staged Deploy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394E11C-A979-1E1F-E338-6580E217F597}"/>
              </a:ext>
            </a:extLst>
          </p:cNvPr>
          <p:cNvSpPr txBox="1">
            <a:spLocks/>
          </p:cNvSpPr>
          <p:nvPr/>
        </p:nvSpPr>
        <p:spPr>
          <a:xfrm>
            <a:off x="3708941" y="4548247"/>
            <a:ext cx="2366161" cy="1408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Deploy with testing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Emergency Change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rPr dirty="0"/>
              <a:t>Bypasses normal flow — but stricter </a:t>
            </a:r>
            <a:br>
              <a:rPr lang="en-US" dirty="0"/>
            </a:br>
            <a:r>
              <a:rPr dirty="0"/>
              <a:t>post-change governance</a:t>
            </a:r>
          </a:p>
          <a:p>
            <a:r>
              <a:rPr dirty="0"/>
              <a:t>Four qualifiers: active incident, CVE </a:t>
            </a:r>
            <a:br>
              <a:rPr lang="en-US" dirty="0"/>
            </a:br>
            <a:r>
              <a:rPr dirty="0"/>
              <a:t>exploit, regulatory, rollback</a:t>
            </a:r>
          </a:p>
          <a:p>
            <a:r>
              <a:rPr dirty="0"/>
              <a:t>Verbal approval documented; </a:t>
            </a:r>
            <a:br>
              <a:rPr lang="en-US" dirty="0"/>
            </a:br>
            <a:r>
              <a:rPr dirty="0"/>
              <a:t>retrospective within 48h</a:t>
            </a:r>
          </a:p>
          <a:p>
            <a:r>
              <a:rPr dirty="0"/>
              <a:t>High frequency signals a </a:t>
            </a:r>
            <a:br>
              <a:rPr lang="en-US" dirty="0"/>
            </a:br>
            <a:r>
              <a:rPr dirty="0"/>
              <a:t>process bottleneck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8C0149-94AF-194E-3D0F-8D2E6ABD1E4E}"/>
              </a:ext>
            </a:extLst>
          </p:cNvPr>
          <p:cNvSpPr/>
          <p:nvPr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Eight-Check Architecture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Data pipeline, registry, inference endpoint, output monitoring</a:t>
            </a:r>
          </a:p>
          <a:p>
            <a:r>
              <a:rPr dirty="0"/>
              <a:t>Audit logging, DPA current, model card, risk register clean</a:t>
            </a:r>
          </a:p>
          <a:p>
            <a:r>
              <a:rPr dirty="0"/>
              <a:t>Every check is binary — 'mostly' doesn't pass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Four Architecture Failures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6072" y="1481328"/>
            <a:ext cx="6144768" cy="4645152"/>
          </a:xfrm>
        </p:spPr>
        <p:txBody>
          <a:bodyPr/>
          <a:lstStyle/>
          <a:p>
            <a:r>
              <a:rPr dirty="0"/>
              <a:t>Training &amp; inference not separated</a:t>
            </a:r>
          </a:p>
          <a:p>
            <a:r>
              <a:rPr dirty="0"/>
              <a:t>Model update treated as a software patch</a:t>
            </a:r>
          </a:p>
          <a:p>
            <a:r>
              <a:rPr dirty="0"/>
              <a:t>Architecture review skipped for speed</a:t>
            </a:r>
          </a:p>
          <a:p>
            <a:r>
              <a:rPr dirty="0"/>
              <a:t>Emergency change used to bypass governance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Module 5 Finale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Four layers + five principles</a:t>
            </a:r>
          </a:p>
          <a:p>
            <a:r>
              <a:t>Material-change framework + eight-step process</a:t>
            </a:r>
          </a:p>
          <a:p>
            <a:r>
              <a:t>Emergency criteria + eight-check review gate</a:t>
            </a:r>
          </a:p>
          <a:p>
            <a:r>
              <a:t>Legal required for substantial modifications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9ED26-B189-4BA1-99D0-1112D8C2F106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13a0c8d5-cff5-4140-b58f-0947a5552a6a"/>
    <ds:schemaRef ds:uri="1046e879-d081-4053-adba-52e34fa7725d"/>
    <ds:schemaRef ds:uri="76027dd9-77cd-484f-b6db-8bbe1351c2b5"/>
  </ds:schemaRefs>
</ds:datastoreItem>
</file>

<file path=customXml/itemProps2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111</TotalTime>
  <Words>3174</Words>
  <Application>Microsoft Office PowerPoint</Application>
  <PresentationFormat>Widescreen</PresentationFormat>
  <Paragraphs>566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Aptos</vt:lpstr>
      <vt:lpstr>Arial</vt:lpstr>
      <vt:lpstr>Segoe Sans Text</vt:lpstr>
      <vt:lpstr>Segoe Sans Text ExtraBold</vt:lpstr>
      <vt:lpstr>AAISM_PPT_Template</vt:lpstr>
      <vt:lpstr>Threat Intelligence &amp; AI Attack Chains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Deepfakes, Insider Threat &amp; AI Agents</vt:lpstr>
      <vt:lpstr>PowerPoint Presentation</vt:lpstr>
      <vt:lpstr>PowerPoint Presentation</vt:lpstr>
      <vt:lpstr>PowerPoint Presentation</vt:lpstr>
      <vt:lpstr>Three Emerging AI Threats</vt:lpstr>
      <vt:lpstr>PowerPoint Presentation</vt:lpstr>
      <vt:lpstr>Deepfake Modalities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Vendor Due Diligence &amp; Contracts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Provider vs Deployer Accountability</vt:lpstr>
      <vt:lpstr>Two EU AI  Act Roles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Third, Fourth &amp; Fifth-Party Risk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 Ownership &amp; Liability</vt:lpstr>
      <vt:lpstr>What This Episode Covers</vt:lpstr>
      <vt:lpstr>PowerPoint Presentation</vt:lpstr>
      <vt:lpstr>PowerPoint Presentation</vt:lpstr>
      <vt:lpstr>PowerPoint Presentation</vt:lpstr>
      <vt:lpstr>PowerPoint Presentation</vt:lpstr>
      <vt:lpstr>Four Model Ownership Scenarios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Vendor Monitoring &amp; Risk Changes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Security Architecture &amp; Change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8</cp:revision>
  <cp:lastPrinted>2026-03-03T20:52:42Z</cp:lastPrinted>
  <dcterms:created xsi:type="dcterms:W3CDTF">2025-05-21T23:03:00Z</dcterms:created>
  <dcterms:modified xsi:type="dcterms:W3CDTF">2026-08-11T05:19:12Z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