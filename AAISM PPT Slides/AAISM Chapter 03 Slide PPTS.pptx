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8" r:id="rId4"/>
  </p:sldMasterIdLst>
  <p:notesMasterIdLst>
    <p:notesMasterId r:id="rId101"/>
  </p:notesMasterIdLst>
  <p:handoutMasterIdLst>
    <p:handoutMasterId r:id="rId102"/>
  </p:handoutMasterIdLst>
  <p:sldIdLst>
    <p:sldId id="2580" r:id="rId5"/>
    <p:sldId id="2581" r:id="rId6"/>
    <p:sldId id="2583" r:id="rId7"/>
    <p:sldId id="2584" r:id="rId8"/>
    <p:sldId id="2585" r:id="rId9"/>
    <p:sldId id="2586" r:id="rId10"/>
    <p:sldId id="2588" r:id="rId11"/>
    <p:sldId id="2589" r:id="rId12"/>
    <p:sldId id="2590" r:id="rId13"/>
    <p:sldId id="2591" r:id="rId14"/>
    <p:sldId id="2592" r:id="rId15"/>
    <p:sldId id="2593" r:id="rId16"/>
    <p:sldId id="2595" r:id="rId17"/>
    <p:sldId id="2596" r:id="rId18"/>
    <p:sldId id="2587" r:id="rId19"/>
    <p:sldId id="2597" r:id="rId20"/>
    <p:sldId id="2598" r:id="rId21"/>
    <p:sldId id="2600" r:id="rId22"/>
    <p:sldId id="2601" r:id="rId23"/>
    <p:sldId id="2602" r:id="rId24"/>
    <p:sldId id="2604" r:id="rId25"/>
    <p:sldId id="2605" r:id="rId26"/>
    <p:sldId id="2606" r:id="rId27"/>
    <p:sldId id="2582" r:id="rId28"/>
    <p:sldId id="2607" r:id="rId29"/>
    <p:sldId id="2608" r:id="rId30"/>
    <p:sldId id="2609" r:id="rId31"/>
    <p:sldId id="2610" r:id="rId32"/>
    <p:sldId id="2611" r:id="rId33"/>
    <p:sldId id="2612" r:id="rId34"/>
    <p:sldId id="2613" r:id="rId35"/>
    <p:sldId id="2614" r:id="rId36"/>
    <p:sldId id="2615" r:id="rId37"/>
    <p:sldId id="2616" r:id="rId38"/>
    <p:sldId id="2617" r:id="rId39"/>
    <p:sldId id="2618" r:id="rId40"/>
    <p:sldId id="2619" r:id="rId41"/>
    <p:sldId id="2620" r:id="rId42"/>
    <p:sldId id="2621" r:id="rId43"/>
    <p:sldId id="2622" r:id="rId44"/>
    <p:sldId id="2623" r:id="rId45"/>
    <p:sldId id="2624" r:id="rId46"/>
    <p:sldId id="2625" r:id="rId47"/>
    <p:sldId id="2626" r:id="rId48"/>
    <p:sldId id="2627" r:id="rId49"/>
    <p:sldId id="2628" r:id="rId50"/>
    <p:sldId id="2629" r:id="rId51"/>
    <p:sldId id="2630" r:id="rId52"/>
    <p:sldId id="2631" r:id="rId53"/>
    <p:sldId id="2632" r:id="rId54"/>
    <p:sldId id="2633" r:id="rId55"/>
    <p:sldId id="2634" r:id="rId56"/>
    <p:sldId id="2635" r:id="rId57"/>
    <p:sldId id="2636" r:id="rId58"/>
    <p:sldId id="2637" r:id="rId59"/>
    <p:sldId id="2638" r:id="rId60"/>
    <p:sldId id="2639" r:id="rId61"/>
    <p:sldId id="2640" r:id="rId62"/>
    <p:sldId id="2641" r:id="rId63"/>
    <p:sldId id="2642" r:id="rId64"/>
    <p:sldId id="2643" r:id="rId65"/>
    <p:sldId id="2644" r:id="rId66"/>
    <p:sldId id="2645" r:id="rId67"/>
    <p:sldId id="2646" r:id="rId68"/>
    <p:sldId id="2647" r:id="rId69"/>
    <p:sldId id="2648" r:id="rId70"/>
    <p:sldId id="2649" r:id="rId71"/>
    <p:sldId id="2650" r:id="rId72"/>
    <p:sldId id="2651" r:id="rId73"/>
    <p:sldId id="2652" r:id="rId74"/>
    <p:sldId id="2653" r:id="rId75"/>
    <p:sldId id="2654" r:id="rId76"/>
    <p:sldId id="2655" r:id="rId77"/>
    <p:sldId id="2657" r:id="rId78"/>
    <p:sldId id="2658" r:id="rId79"/>
    <p:sldId id="2660" r:id="rId80"/>
    <p:sldId id="2661" r:id="rId81"/>
    <p:sldId id="2662" r:id="rId82"/>
    <p:sldId id="2663" r:id="rId83"/>
    <p:sldId id="2664" r:id="rId84"/>
    <p:sldId id="2665" r:id="rId85"/>
    <p:sldId id="2666" r:id="rId86"/>
    <p:sldId id="2667" r:id="rId87"/>
    <p:sldId id="2594" r:id="rId88"/>
    <p:sldId id="2668" r:id="rId89"/>
    <p:sldId id="2670" r:id="rId90"/>
    <p:sldId id="2671" r:id="rId91"/>
    <p:sldId id="2673" r:id="rId92"/>
    <p:sldId id="2674" r:id="rId93"/>
    <p:sldId id="2675" r:id="rId94"/>
    <p:sldId id="2676" r:id="rId95"/>
    <p:sldId id="2677" r:id="rId96"/>
    <p:sldId id="2678" r:id="rId97"/>
    <p:sldId id="2679" r:id="rId98"/>
    <p:sldId id="2680" r:id="rId99"/>
    <p:sldId id="2682" r:id="rId10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ules" id="{C7096EA7-3C19-4043-8044-919E80557B30}">
          <p14:sldIdLst>
            <p14:sldId id="2580"/>
            <p14:sldId id="2581"/>
            <p14:sldId id="2583"/>
            <p14:sldId id="2584"/>
            <p14:sldId id="2585"/>
            <p14:sldId id="2586"/>
            <p14:sldId id="2588"/>
            <p14:sldId id="2589"/>
            <p14:sldId id="2590"/>
            <p14:sldId id="2591"/>
            <p14:sldId id="2592"/>
            <p14:sldId id="2593"/>
            <p14:sldId id="2595"/>
            <p14:sldId id="2596"/>
            <p14:sldId id="2587"/>
            <p14:sldId id="2597"/>
            <p14:sldId id="2598"/>
            <p14:sldId id="2600"/>
            <p14:sldId id="2601"/>
            <p14:sldId id="2602"/>
            <p14:sldId id="2604"/>
            <p14:sldId id="2605"/>
            <p14:sldId id="2606"/>
            <p14:sldId id="2582"/>
            <p14:sldId id="2607"/>
            <p14:sldId id="2608"/>
            <p14:sldId id="2609"/>
            <p14:sldId id="2610"/>
            <p14:sldId id="2611"/>
            <p14:sldId id="2612"/>
            <p14:sldId id="2613"/>
            <p14:sldId id="2614"/>
            <p14:sldId id="2615"/>
            <p14:sldId id="2616"/>
            <p14:sldId id="2617"/>
            <p14:sldId id="2618"/>
            <p14:sldId id="2619"/>
            <p14:sldId id="2620"/>
            <p14:sldId id="2621"/>
            <p14:sldId id="2622"/>
            <p14:sldId id="2623"/>
            <p14:sldId id="2624"/>
            <p14:sldId id="2625"/>
            <p14:sldId id="2626"/>
            <p14:sldId id="2627"/>
            <p14:sldId id="2628"/>
            <p14:sldId id="2629"/>
            <p14:sldId id="2630"/>
            <p14:sldId id="2631"/>
            <p14:sldId id="2632"/>
            <p14:sldId id="2633"/>
            <p14:sldId id="2634"/>
            <p14:sldId id="2635"/>
            <p14:sldId id="2636"/>
            <p14:sldId id="2637"/>
            <p14:sldId id="2638"/>
            <p14:sldId id="2639"/>
            <p14:sldId id="2640"/>
            <p14:sldId id="2641"/>
            <p14:sldId id="2642"/>
            <p14:sldId id="2643"/>
            <p14:sldId id="2644"/>
            <p14:sldId id="2645"/>
            <p14:sldId id="2646"/>
            <p14:sldId id="2647"/>
            <p14:sldId id="2648"/>
            <p14:sldId id="2649"/>
            <p14:sldId id="2650"/>
            <p14:sldId id="2651"/>
            <p14:sldId id="2652"/>
            <p14:sldId id="2653"/>
            <p14:sldId id="2654"/>
            <p14:sldId id="2655"/>
            <p14:sldId id="2657"/>
            <p14:sldId id="2658"/>
            <p14:sldId id="2660"/>
            <p14:sldId id="2661"/>
            <p14:sldId id="2662"/>
            <p14:sldId id="2663"/>
            <p14:sldId id="2664"/>
            <p14:sldId id="2665"/>
            <p14:sldId id="2666"/>
            <p14:sldId id="2667"/>
            <p14:sldId id="2594"/>
            <p14:sldId id="2668"/>
            <p14:sldId id="2670"/>
            <p14:sldId id="2671"/>
            <p14:sldId id="2673"/>
            <p14:sldId id="2674"/>
            <p14:sldId id="2675"/>
            <p14:sldId id="2676"/>
            <p14:sldId id="2677"/>
            <p14:sldId id="2678"/>
            <p14:sldId id="2679"/>
            <p14:sldId id="2680"/>
            <p14:sldId id="2682"/>
          </p14:sldIdLst>
        </p14:section>
        <p14:section name="Optional Layouts" id="{06CC3140-8FC6-084B-A5CE-CF002997860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0E4221-6F06-64E5-5214-772388C857B5}" name="Elizabeth Feldbruegge (ALLEGIS GROUP HOLDINGS INC)" initials="EF(GHI" userId="S::v-felizabeth@microsoft.com::ba5aea11-28e4-484d-8e49-c15efb1bd2e9" providerId="AD"/>
  <p188:author id="{98C28768-C62F-F64F-6347-87559A624ABE}" name="Kaila Orsucci" initials="K" userId="S::kaila@andersenconsultants.com::11b61a15-dbbf-4176-9673-5e6d6ac372ec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53D"/>
    <a:srgbClr val="6CC24A"/>
    <a:srgbClr val="0079DF"/>
    <a:srgbClr val="0070C0"/>
    <a:srgbClr val="FFFFFF"/>
    <a:srgbClr val="FFC32D"/>
    <a:srgbClr val="00AFEF"/>
    <a:srgbClr val="90C84B"/>
    <a:srgbClr val="F26B35"/>
    <a:srgbClr val="7979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3A7340-8293-511A-8F45-2E7BC7711776}" v="28" dt="2026-07-14T16:10:02.2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77"/>
    <p:restoredTop sz="94658"/>
  </p:normalViewPr>
  <p:slideViewPr>
    <p:cSldViewPr snapToGrid="0">
      <p:cViewPr varScale="1">
        <p:scale>
          <a:sx n="57" d="100"/>
          <a:sy n="57" d="100"/>
        </p:scale>
        <p:origin x="48" y="10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07" Type="http://schemas.microsoft.com/office/2015/10/relationships/revisionInfo" Target="revisionInfo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presProps" Target="presProps.xml"/><Relationship Id="rId108" Type="http://schemas.microsoft.com/office/2018/10/relationships/authors" Target="author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viewProps" Target="view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83EA4-C3B9-60B5-A63E-035650D67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B29004-8F98-DCE6-4D97-CE313EEAB3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51D699-168E-22EC-17FF-89384D6741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1CD02-E58A-5466-FA33-1127086366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9255757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S Headshot/Dem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9032E92-E690-3EF2-6485-F2DF15E39903}"/>
              </a:ext>
            </a:extLst>
          </p:cNvPr>
          <p:cNvSpPr/>
          <p:nvPr userDrawn="1"/>
        </p:nvSpPr>
        <p:spPr>
          <a:xfrm>
            <a:off x="152401" y="180716"/>
            <a:ext cx="11887199" cy="6496568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8061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0091DA"/>
          </p15:clr>
        </p15:guide>
        <p15:guide id="6" pos="3840">
          <p15:clr>
            <a:srgbClr val="0091DA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Content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64D38536-57AB-5EAB-9CE8-9796DAF1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685800"/>
            <a:ext cx="9052560" cy="1508760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2160C0A1-5692-F2A8-A18C-A2194E5352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3998" y="2286000"/>
            <a:ext cx="10058400" cy="4023360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2000"/>
            </a:lvl2pPr>
            <a:lvl3pPr marL="457200" indent="0">
              <a:buNone/>
              <a:defRPr sz="2000"/>
            </a:lvl3pPr>
            <a:lvl4pPr marL="685800" indent="0">
              <a:buNone/>
              <a:defRPr sz="2000"/>
            </a:lvl4pPr>
            <a:lvl5pPr marL="914400" indent="0">
              <a:buNone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DFACEC5-4969-F3A0-4BA7-BFFD0245B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1248" y="1655064"/>
            <a:ext cx="0" cy="520293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F10B99AC-155F-3A58-AB62-070ACE105579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4" name="Graphic 12">
              <a:extLst>
                <a:ext uri="{FF2B5EF4-FFF2-40B4-BE49-F238E27FC236}">
                  <a16:creationId xmlns:a16="http://schemas.microsoft.com/office/drawing/2014/main" id="{464553C6-B8E8-FE32-AF30-0A1591CA3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5D9B330B-7590-B21F-FCF4-74387F173E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F40F2BA8-9C33-77BE-CC02-0ED983F5F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9094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-roll with Multiple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14E4ACA-29F5-C83F-5764-FD89B1F4E828}"/>
              </a:ext>
            </a:extLst>
          </p:cNvPr>
          <p:cNvSpPr/>
          <p:nvPr userDrawn="1"/>
        </p:nvSpPr>
        <p:spPr>
          <a:xfrm>
            <a:off x="7090064" y="1659491"/>
            <a:ext cx="4587898" cy="4415743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9CCDAF-14B9-0D6E-071B-33A6643E178C}"/>
              </a:ext>
            </a:extLst>
          </p:cNvPr>
          <p:cNvCxnSpPr>
            <a:cxnSpLocks/>
          </p:cNvCxnSpPr>
          <p:nvPr/>
        </p:nvCxnSpPr>
        <p:spPr>
          <a:xfrm>
            <a:off x="-4875379" y="6378417"/>
            <a:ext cx="10515600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42">
            <a:extLst>
              <a:ext uri="{FF2B5EF4-FFF2-40B4-BE49-F238E27FC236}">
                <a16:creationId xmlns:a16="http://schemas.microsoft.com/office/drawing/2014/main" id="{C7C7C8E9-FEB4-209E-EAD7-6BC6CB8E95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275" y="1718955"/>
            <a:ext cx="2208612" cy="391061"/>
          </a:xfrm>
        </p:spPr>
        <p:txBody>
          <a:bodyPr anchor="ctr"/>
          <a:lstStyle>
            <a:lvl1pPr>
              <a:defRPr sz="18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2">
            <a:extLst>
              <a:ext uri="{FF2B5EF4-FFF2-40B4-BE49-F238E27FC236}">
                <a16:creationId xmlns:a16="http://schemas.microsoft.com/office/drawing/2014/main" id="{BC996D52-2E93-F9D8-A886-A01A83DD1B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9275" y="2110016"/>
            <a:ext cx="2208612" cy="1466167"/>
          </a:xfrm>
        </p:spPr>
        <p:txBody>
          <a:bodyPr>
            <a:normAutofit/>
          </a:bodyPr>
          <a:lstStyle>
            <a:lvl1pPr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2">
            <a:extLst>
              <a:ext uri="{FF2B5EF4-FFF2-40B4-BE49-F238E27FC236}">
                <a16:creationId xmlns:a16="http://schemas.microsoft.com/office/drawing/2014/main" id="{5DC7264E-E2D6-671E-B9C8-A414A85DAE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55771" y="1718955"/>
            <a:ext cx="2208612" cy="391061"/>
          </a:xfrm>
        </p:spPr>
        <p:txBody>
          <a:bodyPr anchor="ctr"/>
          <a:lstStyle>
            <a:lvl1pPr>
              <a:defRPr sz="18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2">
            <a:extLst>
              <a:ext uri="{FF2B5EF4-FFF2-40B4-BE49-F238E27FC236}">
                <a16:creationId xmlns:a16="http://schemas.microsoft.com/office/drawing/2014/main" id="{3689FD6F-655A-D6A8-1737-574978BD91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55771" y="2110016"/>
            <a:ext cx="2208612" cy="1466167"/>
          </a:xfrm>
        </p:spPr>
        <p:txBody>
          <a:bodyPr>
            <a:normAutofit/>
          </a:bodyPr>
          <a:lstStyle>
            <a:lvl1pPr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2">
            <a:extLst>
              <a:ext uri="{FF2B5EF4-FFF2-40B4-BE49-F238E27FC236}">
                <a16:creationId xmlns:a16="http://schemas.microsoft.com/office/drawing/2014/main" id="{733429DA-67C0-6FE0-823C-85CE3005BAF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9275" y="3742828"/>
            <a:ext cx="2208612" cy="442302"/>
          </a:xfrm>
        </p:spPr>
        <p:txBody>
          <a:bodyPr anchor="ctr"/>
          <a:lstStyle>
            <a:lvl1pPr>
              <a:defRPr sz="18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42">
            <a:extLst>
              <a:ext uri="{FF2B5EF4-FFF2-40B4-BE49-F238E27FC236}">
                <a16:creationId xmlns:a16="http://schemas.microsoft.com/office/drawing/2014/main" id="{F67AE1BD-0EA2-83E4-1CDD-25AA52342BB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49275" y="4248686"/>
            <a:ext cx="2208612" cy="974250"/>
          </a:xfrm>
        </p:spPr>
        <p:txBody>
          <a:bodyPr>
            <a:normAutofit/>
          </a:bodyPr>
          <a:lstStyle>
            <a:lvl1pPr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42">
            <a:extLst>
              <a:ext uri="{FF2B5EF4-FFF2-40B4-BE49-F238E27FC236}">
                <a16:creationId xmlns:a16="http://schemas.microsoft.com/office/drawing/2014/main" id="{C55217DB-FE37-17F4-A822-C83DA878DC0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755771" y="3742828"/>
            <a:ext cx="2208612" cy="442302"/>
          </a:xfrm>
        </p:spPr>
        <p:txBody>
          <a:bodyPr anchor="ctr"/>
          <a:lstStyle>
            <a:lvl1pPr>
              <a:defRPr sz="18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42">
            <a:extLst>
              <a:ext uri="{FF2B5EF4-FFF2-40B4-BE49-F238E27FC236}">
                <a16:creationId xmlns:a16="http://schemas.microsoft.com/office/drawing/2014/main" id="{5D503262-4B9C-D6DB-D846-CE6423FFF36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755771" y="4248686"/>
            <a:ext cx="2208612" cy="974250"/>
          </a:xfrm>
        </p:spPr>
        <p:txBody>
          <a:bodyPr>
            <a:normAutofit/>
          </a:bodyPr>
          <a:lstStyle>
            <a:lvl1pPr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42">
            <a:extLst>
              <a:ext uri="{FF2B5EF4-FFF2-40B4-BE49-F238E27FC236}">
                <a16:creationId xmlns:a16="http://schemas.microsoft.com/office/drawing/2014/main" id="{A337E456-4BEB-B2DF-0DF4-D0E9B0DBE4E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49275" y="5433775"/>
            <a:ext cx="5439151" cy="294800"/>
          </a:xfrm>
        </p:spPr>
        <p:txBody>
          <a:bodyPr anchor="ctr"/>
          <a:lstStyle>
            <a:lvl1pPr>
              <a:defRPr sz="18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42">
            <a:extLst>
              <a:ext uri="{FF2B5EF4-FFF2-40B4-BE49-F238E27FC236}">
                <a16:creationId xmlns:a16="http://schemas.microsoft.com/office/drawing/2014/main" id="{8FE9EA60-14EE-1EE6-7912-4994FB26F3C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9275" y="5792130"/>
            <a:ext cx="5439151" cy="403534"/>
          </a:xfrm>
        </p:spPr>
        <p:txBody>
          <a:bodyPr>
            <a:normAutofit/>
          </a:bodyPr>
          <a:lstStyle>
            <a:lvl1pPr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2">
            <a:extLst>
              <a:ext uri="{FF2B5EF4-FFF2-40B4-BE49-F238E27FC236}">
                <a16:creationId xmlns:a16="http://schemas.microsoft.com/office/drawing/2014/main" id="{BCFC70CF-89AB-2A62-E0D7-6008642E6B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74430" y="723129"/>
            <a:ext cx="10029253" cy="652665"/>
          </a:xfrm>
        </p:spPr>
        <p:txBody>
          <a:bodyPr>
            <a:noAutofit/>
          </a:bodyPr>
          <a:lstStyle>
            <a:lvl1pPr algn="l">
              <a:defRPr sz="3600" b="1" i="0">
                <a:solidFill>
                  <a:schemeClr val="accent2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0594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" grpId="0" build="p">
        <p:tmplLst>
          <p:tmpl lvl="1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-roll with Text Box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D725A4B-76B5-3FBB-9BAA-70260131915B}"/>
              </a:ext>
            </a:extLst>
          </p:cNvPr>
          <p:cNvSpPr/>
          <p:nvPr userDrawn="1"/>
        </p:nvSpPr>
        <p:spPr>
          <a:xfrm>
            <a:off x="5910834" y="111868"/>
            <a:ext cx="6151294" cy="6634264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19" y="387572"/>
            <a:ext cx="4847160" cy="146304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19" y="1568741"/>
            <a:ext cx="4847159" cy="460345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2000"/>
            </a:lvl2pPr>
            <a:lvl3pPr marL="457200" indent="0">
              <a:buNone/>
              <a:defRPr sz="2000"/>
            </a:lvl3pPr>
            <a:lvl4pPr marL="685800" indent="0">
              <a:buNone/>
              <a:defRPr sz="2000"/>
            </a:lvl4pPr>
            <a:lvl5pPr marL="914400" indent="0"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46278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shot with Text Box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B49CE33-B8B3-2D75-95E4-7E6D376D8E78}"/>
              </a:ext>
            </a:extLst>
          </p:cNvPr>
          <p:cNvSpPr/>
          <p:nvPr userDrawn="1"/>
        </p:nvSpPr>
        <p:spPr>
          <a:xfrm>
            <a:off x="7327686" y="723129"/>
            <a:ext cx="3817856" cy="5411741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 Placeholder 42">
            <a:extLst>
              <a:ext uri="{FF2B5EF4-FFF2-40B4-BE49-F238E27FC236}">
                <a16:creationId xmlns:a16="http://schemas.microsoft.com/office/drawing/2014/main" id="{4911D5E0-19C5-9584-815B-507E057942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4431" y="723129"/>
            <a:ext cx="6146586" cy="652665"/>
          </a:xfrm>
        </p:spPr>
        <p:txBody>
          <a:bodyPr>
            <a:noAutofit/>
          </a:bodyPr>
          <a:lstStyle>
            <a:lvl1pPr algn="l">
              <a:defRPr sz="3600" b="1" i="0">
                <a:solidFill>
                  <a:schemeClr val="accent2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42">
            <a:extLst>
              <a:ext uri="{FF2B5EF4-FFF2-40B4-BE49-F238E27FC236}">
                <a16:creationId xmlns:a16="http://schemas.microsoft.com/office/drawing/2014/main" id="{10C0D632-510F-3DE6-4496-83F41BABFBC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4431" y="1375794"/>
            <a:ext cx="6146586" cy="4759075"/>
          </a:xfrm>
        </p:spPr>
        <p:txBody>
          <a:bodyPr>
            <a:normAutofit/>
          </a:bodyPr>
          <a:lstStyle>
            <a:lvl1pPr algn="l">
              <a:defRPr sz="20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26549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_with Tex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42">
            <a:extLst>
              <a:ext uri="{FF2B5EF4-FFF2-40B4-BE49-F238E27FC236}">
                <a16:creationId xmlns:a16="http://schemas.microsoft.com/office/drawing/2014/main" id="{16CD5EB2-C966-9CE5-B2EF-DC57A3EDF56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08941" y="2070524"/>
            <a:ext cx="2366161" cy="332399"/>
          </a:xfrm>
        </p:spPr>
        <p:txBody>
          <a:bodyPr anchor="ctr">
            <a:normAutofit/>
          </a:bodyPr>
          <a:lstStyle>
            <a:lvl1pPr algn="l">
              <a:defRPr sz="16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2">
            <a:extLst>
              <a:ext uri="{FF2B5EF4-FFF2-40B4-BE49-F238E27FC236}">
                <a16:creationId xmlns:a16="http://schemas.microsoft.com/office/drawing/2014/main" id="{4D1CD856-FB4D-247B-850C-15FDC2AE30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08941" y="2402923"/>
            <a:ext cx="2366161" cy="1408543"/>
          </a:xfrm>
        </p:spPr>
        <p:txBody>
          <a:bodyPr/>
          <a:lstStyle>
            <a:lvl1pPr algn="l"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42">
            <a:extLst>
              <a:ext uri="{FF2B5EF4-FFF2-40B4-BE49-F238E27FC236}">
                <a16:creationId xmlns:a16="http://schemas.microsoft.com/office/drawing/2014/main" id="{5EAD42C6-911D-9028-DDDE-ED7EC2EDC63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08941" y="4215848"/>
            <a:ext cx="2366161" cy="332399"/>
          </a:xfrm>
        </p:spPr>
        <p:txBody>
          <a:bodyPr anchor="ctr">
            <a:normAutofit/>
          </a:bodyPr>
          <a:lstStyle>
            <a:lvl1pPr algn="l">
              <a:defRPr sz="16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42">
            <a:extLst>
              <a:ext uri="{FF2B5EF4-FFF2-40B4-BE49-F238E27FC236}">
                <a16:creationId xmlns:a16="http://schemas.microsoft.com/office/drawing/2014/main" id="{D564146D-BC49-92E0-396D-89ED83F08F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708941" y="4548247"/>
            <a:ext cx="2366161" cy="1408543"/>
          </a:xfrm>
        </p:spPr>
        <p:txBody>
          <a:bodyPr/>
          <a:lstStyle>
            <a:lvl1pPr algn="l"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42">
            <a:extLst>
              <a:ext uri="{FF2B5EF4-FFF2-40B4-BE49-F238E27FC236}">
                <a16:creationId xmlns:a16="http://schemas.microsoft.com/office/drawing/2014/main" id="{D767864E-6A31-8E42-F96B-9D663082755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113279" y="2070524"/>
            <a:ext cx="2366161" cy="332399"/>
          </a:xfrm>
        </p:spPr>
        <p:txBody>
          <a:bodyPr anchor="ctr">
            <a:normAutofit/>
          </a:bodyPr>
          <a:lstStyle>
            <a:lvl1pPr algn="l">
              <a:defRPr sz="16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2">
            <a:extLst>
              <a:ext uri="{FF2B5EF4-FFF2-40B4-BE49-F238E27FC236}">
                <a16:creationId xmlns:a16="http://schemas.microsoft.com/office/drawing/2014/main" id="{B5436DB4-D46F-AB47-30BA-CDFFB6B49FF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13279" y="2402923"/>
            <a:ext cx="2366161" cy="1408543"/>
          </a:xfrm>
        </p:spPr>
        <p:txBody>
          <a:bodyPr/>
          <a:lstStyle>
            <a:lvl1pPr algn="l"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2">
            <a:extLst>
              <a:ext uri="{FF2B5EF4-FFF2-40B4-BE49-F238E27FC236}">
                <a16:creationId xmlns:a16="http://schemas.microsoft.com/office/drawing/2014/main" id="{D2D2CF00-3BEB-912A-7690-FEBD9090DD9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113279" y="4215848"/>
            <a:ext cx="2366161" cy="332399"/>
          </a:xfrm>
        </p:spPr>
        <p:txBody>
          <a:bodyPr anchor="ctr">
            <a:normAutofit/>
          </a:bodyPr>
          <a:lstStyle>
            <a:lvl1pPr algn="l">
              <a:defRPr sz="16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42">
            <a:extLst>
              <a:ext uri="{FF2B5EF4-FFF2-40B4-BE49-F238E27FC236}">
                <a16:creationId xmlns:a16="http://schemas.microsoft.com/office/drawing/2014/main" id="{E164BD6D-AECC-321A-E90D-FF1C0143865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113279" y="4548247"/>
            <a:ext cx="2366161" cy="1408543"/>
          </a:xfrm>
        </p:spPr>
        <p:txBody>
          <a:bodyPr/>
          <a:lstStyle>
            <a:lvl1pPr algn="l"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7412933-24E0-59C1-F8F1-B61D91DF16C1}"/>
              </a:ext>
            </a:extLst>
          </p:cNvPr>
          <p:cNvSpPr/>
          <p:nvPr userDrawn="1"/>
        </p:nvSpPr>
        <p:spPr>
          <a:xfrm>
            <a:off x="6235083" y="4215848"/>
            <a:ext cx="2739716" cy="1748556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E3768A1-D02A-96FE-29B5-D21CCF781C0D}"/>
              </a:ext>
            </a:extLst>
          </p:cNvPr>
          <p:cNvSpPr/>
          <p:nvPr userDrawn="1"/>
        </p:nvSpPr>
        <p:spPr>
          <a:xfrm>
            <a:off x="830745" y="4215848"/>
            <a:ext cx="2739716" cy="1748556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69C4F6D-A0FC-D651-701A-2830B673DC51}"/>
              </a:ext>
            </a:extLst>
          </p:cNvPr>
          <p:cNvSpPr/>
          <p:nvPr userDrawn="1"/>
        </p:nvSpPr>
        <p:spPr>
          <a:xfrm>
            <a:off x="6235083" y="2081241"/>
            <a:ext cx="2739716" cy="1748556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FDA3E61-FBF4-0B4E-E307-2D0CFB2383AB}"/>
              </a:ext>
            </a:extLst>
          </p:cNvPr>
          <p:cNvSpPr/>
          <p:nvPr userDrawn="1"/>
        </p:nvSpPr>
        <p:spPr>
          <a:xfrm>
            <a:off x="830745" y="2081241"/>
            <a:ext cx="2739716" cy="1730225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ext Placeholder 42">
            <a:extLst>
              <a:ext uri="{FF2B5EF4-FFF2-40B4-BE49-F238E27FC236}">
                <a16:creationId xmlns:a16="http://schemas.microsoft.com/office/drawing/2014/main" id="{EF3240BB-1BE2-D3FA-71B3-6B911A31583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74430" y="723129"/>
            <a:ext cx="10029253" cy="652665"/>
          </a:xfrm>
        </p:spPr>
        <p:txBody>
          <a:bodyPr>
            <a:noAutofit/>
          </a:bodyPr>
          <a:lstStyle>
            <a:lvl1pPr algn="l">
              <a:defRPr sz="3600" b="1" i="0">
                <a:solidFill>
                  <a:schemeClr val="accent2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5C1CA91-7871-7EEF-850C-A2E078054761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5" name="Graphic 12">
              <a:extLst>
                <a:ext uri="{FF2B5EF4-FFF2-40B4-BE49-F238E27FC236}">
                  <a16:creationId xmlns:a16="http://schemas.microsoft.com/office/drawing/2014/main" id="{44126652-E4C7-3337-7D65-36D70EF92A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7" name="Graphic 13">
              <a:extLst>
                <a:ext uri="{FF2B5EF4-FFF2-40B4-BE49-F238E27FC236}">
                  <a16:creationId xmlns:a16="http://schemas.microsoft.com/office/drawing/2014/main" id="{5C7837FF-55AE-5C42-0052-95B9010852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9" name="Graphic 15">
              <a:extLst>
                <a:ext uri="{FF2B5EF4-FFF2-40B4-BE49-F238E27FC236}">
                  <a16:creationId xmlns:a16="http://schemas.microsoft.com/office/drawing/2014/main" id="{158A825B-27A9-8B2F-5DA2-60C926A3A6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6814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animBg="1"/>
      <p:bldP spid="6" grpId="0" animBg="1"/>
      <p:bldP spid="10" grpId="0" animBg="1"/>
      <p:bldP spid="4" grpId="0" animBg="1"/>
      <p:bldP spid="2" grpId="0" build="p">
        <p:tmplLst>
          <p:tmpl lvl="1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Top with Text O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9032E92-E690-3EF2-6485-F2DF15E39903}"/>
              </a:ext>
            </a:extLst>
          </p:cNvPr>
          <p:cNvSpPr/>
          <p:nvPr userDrawn="1"/>
        </p:nvSpPr>
        <p:spPr>
          <a:xfrm>
            <a:off x="152399" y="164032"/>
            <a:ext cx="11887199" cy="4046705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1" y="4687536"/>
            <a:ext cx="9973455" cy="9387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1" y="5656642"/>
            <a:ext cx="9973455" cy="457200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60072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0091DA"/>
          </p15:clr>
        </p15:guide>
        <p15:guide id="6" pos="3840">
          <p15:clr>
            <a:srgbClr val="0091DA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HS with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FA245D79-8386-DABE-53EC-D23D2D196FB9}"/>
              </a:ext>
            </a:extLst>
          </p:cNvPr>
          <p:cNvSpPr/>
          <p:nvPr userDrawn="1"/>
        </p:nvSpPr>
        <p:spPr>
          <a:xfrm>
            <a:off x="1316427" y="1655064"/>
            <a:ext cx="3649273" cy="3649272"/>
          </a:xfrm>
          <a:prstGeom prst="ellipse">
            <a:avLst/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2F46A82-71BF-F4CF-0CCA-F8EDE46E12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5891" y="685800"/>
            <a:ext cx="5910407" cy="175259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accent2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C3E55B71-84F9-223B-46EC-202E6DCC1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668946" y="2971800"/>
            <a:ext cx="5910417" cy="320039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685800" indent="-457200">
              <a:buFont typeface="+mj-lt"/>
              <a:buAutoNum type="arabicPeriod"/>
              <a:defRPr sz="1600">
                <a:solidFill>
                  <a:schemeClr val="bg1"/>
                </a:solidFill>
              </a:defRPr>
            </a:lvl2pPr>
            <a:lvl3pPr marL="800100" indent="-342900">
              <a:buFont typeface="+mj-lt"/>
              <a:buAutoNum type="arabicPeriod"/>
              <a:defRPr sz="1400">
                <a:solidFill>
                  <a:schemeClr val="bg1"/>
                </a:solidFill>
              </a:defRPr>
            </a:lvl3pPr>
            <a:lvl4pPr marL="1028700" indent="-342900">
              <a:buFont typeface="+mj-lt"/>
              <a:buAutoNum type="arabicPeriod"/>
              <a:defRPr sz="1400">
                <a:solidFill>
                  <a:schemeClr val="bg1"/>
                </a:solidFill>
              </a:defRPr>
            </a:lvl4pPr>
            <a:lvl5pPr marL="1257300" indent="-342900">
              <a:buFont typeface="+mj-lt"/>
              <a:buAutoNum type="arabicPeriod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41F9AE9-4D1B-F10A-6C35-328127A91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1248" y="1655064"/>
            <a:ext cx="0" cy="520293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585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1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/H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DF39E82-A876-DB43-2155-B467EEC7495E}"/>
              </a:ext>
            </a:extLst>
          </p:cNvPr>
          <p:cNvSpPr/>
          <p:nvPr userDrawn="1"/>
        </p:nvSpPr>
        <p:spPr>
          <a:xfrm>
            <a:off x="7010401" y="1721141"/>
            <a:ext cx="4571999" cy="4154370"/>
          </a:xfrm>
          <a:prstGeom prst="roundRect">
            <a:avLst>
              <a:gd name="adj" fmla="val 3969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8EFD2888-AFCC-8F6C-23EA-6CC9E518F2B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74430" y="1721141"/>
            <a:ext cx="5977130" cy="415625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BD7B2E1-3857-60DC-4A59-90051A146598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3" name="Graphic 12">
              <a:extLst>
                <a:ext uri="{FF2B5EF4-FFF2-40B4-BE49-F238E27FC236}">
                  <a16:creationId xmlns:a16="http://schemas.microsoft.com/office/drawing/2014/main" id="{695288CE-EA3E-77BC-98EF-17D52D2BB9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4" name="Graphic 13">
              <a:extLst>
                <a:ext uri="{FF2B5EF4-FFF2-40B4-BE49-F238E27FC236}">
                  <a16:creationId xmlns:a16="http://schemas.microsoft.com/office/drawing/2014/main" id="{6906A4B7-5DDC-1476-CFD5-2F5DFFD4BE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5" name="Graphic 15">
              <a:extLst>
                <a:ext uri="{FF2B5EF4-FFF2-40B4-BE49-F238E27FC236}">
                  <a16:creationId xmlns:a16="http://schemas.microsoft.com/office/drawing/2014/main" id="{4375CD8A-A423-E39D-3A64-2E26D3323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7" name="Text Placeholder 42">
            <a:extLst>
              <a:ext uri="{FF2B5EF4-FFF2-40B4-BE49-F238E27FC236}">
                <a16:creationId xmlns:a16="http://schemas.microsoft.com/office/drawing/2014/main" id="{D01C904B-D90B-04B0-5AA7-E2CF9756D89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74430" y="723129"/>
            <a:ext cx="11007970" cy="652665"/>
          </a:xfrm>
        </p:spPr>
        <p:txBody>
          <a:bodyPr>
            <a:noAutofit/>
          </a:bodyPr>
          <a:lstStyle>
            <a:lvl1pPr algn="l">
              <a:defRPr sz="3600" b="1" i="0">
                <a:solidFill>
                  <a:schemeClr val="accent2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8988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>
        <p:tmplLst>
          <p:tmpl lvl="1">
            <p:tnLst>
              <p:par>
                <p:cTn presetID="1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47B80538-E0C0-8B37-2CBC-715464FE8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9442" y="731520"/>
            <a:ext cx="10052958" cy="96259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7C0431DD-A630-224B-A787-6BF3732EE15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524000" y="1905000"/>
            <a:ext cx="4846320" cy="42687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B9CDF450-BB1A-E96B-F44C-F881C731657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736080" y="1905000"/>
            <a:ext cx="4846320" cy="42687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4E2D18C-90AA-6695-2849-42F0DF3B0F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1248" y="1112520"/>
            <a:ext cx="0" cy="57454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8012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pisode Title">
    <p:bg>
      <p:bgPr>
        <a:solidFill>
          <a:srgbClr val="00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CEC42AA-27BF-B007-BB04-09C8C9EC4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3824" y="1821900"/>
            <a:ext cx="10058376" cy="2303329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8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D02356A-0FAC-18A7-430E-172D662A1E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3824" y="4337220"/>
            <a:ext cx="8229593" cy="123576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341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0091DA"/>
          </p15:clr>
        </p15:guide>
        <p15:guide id="6" pos="3840">
          <p15:clr>
            <a:srgbClr val="0091DA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n't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B435440-213B-C667-2EBF-8629860DBD4D}"/>
              </a:ext>
            </a:extLst>
          </p:cNvPr>
          <p:cNvSpPr/>
          <p:nvPr userDrawn="1"/>
        </p:nvSpPr>
        <p:spPr>
          <a:xfrm>
            <a:off x="645111" y="1476738"/>
            <a:ext cx="4039848" cy="4716946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>
            <a:noFill/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1833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195401-05E7-2FB1-B1F7-AA9B27AD522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51" y="0"/>
            <a:ext cx="12223751" cy="6858000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E2FF643-8127-476F-F25A-C06D05518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893BF79-CC69-E772-9BF9-DAB9ECC07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18FE52-BA7D-6403-12A9-AB2F150B7C18}"/>
              </a:ext>
            </a:extLst>
          </p:cNvPr>
          <p:cNvCxnSpPr>
            <a:cxnSpLocks/>
          </p:cNvCxnSpPr>
          <p:nvPr/>
        </p:nvCxnSpPr>
        <p:spPr>
          <a:xfrm>
            <a:off x="838200" y="6336472"/>
            <a:ext cx="10515600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row of different colors&#10;&#10;AI-generated content may be incorrect.">
            <a:extLst>
              <a:ext uri="{FF2B5EF4-FFF2-40B4-BE49-F238E27FC236}">
                <a16:creationId xmlns:a16="http://schemas.microsoft.com/office/drawing/2014/main" id="{51267AAB-D7A7-4439-B78C-82E20D4F0A19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845066" y="2457681"/>
            <a:ext cx="6867093" cy="195173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086F249-C031-21A6-4EBB-289339D6FBBA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3" name="Graphic 12">
              <a:extLst>
                <a:ext uri="{FF2B5EF4-FFF2-40B4-BE49-F238E27FC236}">
                  <a16:creationId xmlns:a16="http://schemas.microsoft.com/office/drawing/2014/main" id="{97A1ACA9-1A1F-C402-ABCA-CE07E1AF30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348E2D1C-60C8-B3BB-2FD2-73893F612B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C29DD7D2-2DD0-8394-2C58-02C9D289FE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592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908" r:id="rId2"/>
    <p:sldLayoutId id="2147483960" r:id="rId3"/>
    <p:sldLayoutId id="2147483916" r:id="rId4"/>
    <p:sldLayoutId id="2147483965" r:id="rId5"/>
    <p:sldLayoutId id="2147483967" r:id="rId6"/>
    <p:sldLayoutId id="2147483975" r:id="rId7"/>
    <p:sldLayoutId id="2147483903" r:id="rId8"/>
    <p:sldLayoutId id="2147483923" r:id="rId9"/>
    <p:sldLayoutId id="2147483939" r:id="rId10"/>
    <p:sldLayoutId id="2147483969" r:id="rId11"/>
    <p:sldLayoutId id="2147483958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accent2"/>
          </a:solidFill>
          <a:latin typeface="Segoe Sans Text ExtraBold" pitchFamily="2" charset="0"/>
          <a:ea typeface="+mj-ea"/>
          <a:cs typeface="Segoe Sans Text ExtraBold" pitchFamily="2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bg1"/>
          </a:solidFill>
          <a:latin typeface="Segoe Sans Text" pitchFamily="2" charset="0"/>
          <a:ea typeface="+mn-ea"/>
          <a:cs typeface="Segoe Sans Text" pitchFamily="2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bg1"/>
          </a:solidFill>
          <a:latin typeface="Segoe Sans Text" pitchFamily="2" charset="0"/>
          <a:ea typeface="+mn-ea"/>
          <a:cs typeface="Segoe Sans Text" pitchFamily="2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bg1"/>
          </a:solidFill>
          <a:latin typeface="Segoe Sans Text" pitchFamily="2" charset="0"/>
          <a:ea typeface="+mn-ea"/>
          <a:cs typeface="Segoe Sans Text" pitchFamily="2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bg1"/>
          </a:solidFill>
          <a:latin typeface="Segoe Sans Text" pitchFamily="2" charset="0"/>
          <a:ea typeface="+mn-ea"/>
          <a:cs typeface="Segoe Sans Text" pitchFamily="2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bg1"/>
          </a:solidFill>
          <a:latin typeface="Segoe Sans Text" pitchFamily="2" charset="0"/>
          <a:ea typeface="+mn-ea"/>
          <a:cs typeface="Segoe Sans Text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6CC24A"/>
          </p15:clr>
        </p15:guide>
        <p15:guide id="2" pos="3840" userDrawn="1">
          <p15:clr>
            <a:srgbClr val="6CC24A"/>
          </p15:clr>
        </p15:guide>
        <p15:guide id="3" pos="7296" userDrawn="1">
          <p15:clr>
            <a:srgbClr val="6CC24A"/>
          </p15:clr>
        </p15:guide>
        <p15:guide id="4" pos="384" userDrawn="1">
          <p15:clr>
            <a:srgbClr val="6CC24A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8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9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8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9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7200"/>
              <a:t>Data Destruction &amp; Retention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03 · Episode 1 — Dr. Michael Solomon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Designing the Program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Governance → operational practice</a:t>
            </a:r>
          </a:p>
          <a:p>
            <a:r>
              <a:t>Policies, structures, metrics, response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/>
              <a:t>What This Episode Covers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t>Retention schedule by asset type</a:t>
            </a:r>
          </a:p>
          <a:p>
            <a:r>
              <a:t>3 destruction methods + certificate</a:t>
            </a:r>
          </a:p>
          <a:p>
            <a:r>
              <a:t>4 AI challenges · 5 policy components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Training data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MODEL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Model artifacts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LOGS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Inference logs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t>≠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t>Different basis &amp; periods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2863C99-BE52-7C03-4448-C50A6705D78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Segoe Sans Text"/>
                <a:cs typeface="Segoe Sans Text"/>
              </a:rPr>
              <a:t>Retention Obligations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000">
                <a:latin typeface="Segoe Sans Text"/>
                <a:cs typeface="Segoe Sans Text"/>
              </a:rPr>
              <a:t>Retain for model use + legal hold</a:t>
            </a:r>
            <a:endParaRPr lang="en-US" sz="2000">
              <a:latin typeface="Segoe Sans Text"/>
              <a:cs typeface="Segoe Sans Text"/>
            </a:endParaRPr>
          </a:p>
          <a:p>
            <a:r>
              <a:rPr sz="2000">
                <a:latin typeface="Segoe Sans Text"/>
                <a:cs typeface="Segoe Sans Text"/>
              </a:rPr>
              <a:t>Minimum = forensic investigation</a:t>
            </a:r>
          </a:p>
          <a:p>
            <a:r>
              <a:rPr sz="2000">
                <a:latin typeface="Segoe Sans Text"/>
                <a:cs typeface="Segoe Sans Text"/>
              </a:rPr>
              <a:t>Max bounded by GDPR storage limitation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TRAINING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000">
                <a:latin typeface="Segoe Sans Text"/>
                <a:cs typeface="Segoe Sans Text"/>
              </a:rPr>
              <a:t>Weights, versions, registry entries</a:t>
            </a:r>
            <a:endParaRPr lang="en-US" sz="2000">
              <a:latin typeface="Segoe Sans Text"/>
              <a:cs typeface="Segoe Sans Text"/>
            </a:endParaRPr>
          </a:p>
          <a:p>
            <a:r>
              <a:rPr sz="2000">
                <a:latin typeface="Segoe Sans Text"/>
                <a:cs typeface="Segoe Sans Text"/>
              </a:rPr>
              <a:t>Retain production versions in service</a:t>
            </a:r>
          </a:p>
          <a:p>
            <a:r>
              <a:rPr sz="2000">
                <a:latin typeface="Segoe Sans Text"/>
                <a:cs typeface="Segoe Sans Text"/>
              </a:rPr>
              <a:t>Post-retirement 4–5 yrs (high-risk)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MODEL ARTIFACTS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000">
                <a:latin typeface="Segoe Sans Text"/>
                <a:cs typeface="Segoe Sans Text"/>
              </a:rPr>
              <a:t>Standard deletion ≠ embedded data</a:t>
            </a:r>
            <a:endParaRPr lang="en-US" sz="2000">
              <a:latin typeface="Segoe Sans Text"/>
              <a:cs typeface="Segoe Sans Text"/>
            </a:endParaRPr>
          </a:p>
          <a:p>
            <a:r>
              <a:rPr sz="2000">
                <a:latin typeface="Segoe Sans Text"/>
                <a:cs typeface="Segoe Sans Text"/>
              </a:rPr>
              <a:t>Vendor: written confirmation</a:t>
            </a:r>
          </a:p>
          <a:p>
            <a:r>
              <a:rPr sz="2000">
                <a:latin typeface="Segoe Sans Text"/>
                <a:cs typeface="Segoe Sans Text"/>
              </a:rPr>
              <a:t>Self-host: secure weight deletion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DESTRUCTION PROCEDURES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19" y="387572"/>
            <a:ext cx="4847160" cy="1097280"/>
          </a:xfrm>
        </p:spPr>
        <p:txBody>
          <a:bodyPr/>
          <a:lstStyle/>
          <a:p>
            <a:r>
              <a:rPr sz="2800"/>
              <a:t>Destruction Records =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731519" y="1645920"/>
            <a:ext cx="4847159" cy="4526280"/>
          </a:xfrm>
        </p:spPr>
        <p:txBody>
          <a:bodyPr/>
          <a:lstStyle/>
          <a:p>
            <a:r>
              <a:t>Produced for regulators (GDPR)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Recap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t>3 retention categories &amp; periods</a:t>
            </a:r>
          </a:p>
          <a:p>
            <a:r>
              <a:t>Destruction procedures</a:t>
            </a:r>
          </a:p>
          <a:p>
            <a:r>
              <a:rPr>
                <a:latin typeface="Segoe Sans Text"/>
                <a:cs typeface="Segoe Sans Text"/>
              </a:rPr>
              <a:t>6</a:t>
            </a:r>
            <a:r>
              <a:rPr dirty="0">
                <a:latin typeface="Segoe Sans Text"/>
                <a:cs typeface="Segoe Sans Text"/>
              </a:rPr>
              <a:t> min · data persists in weights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/>
              <a:t>Developing the AI Security Program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03 · Episode 2 — Dr. Michael Solomon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The Master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Translates governance → operational program</a:t>
            </a:r>
          </a:p>
          <a:p>
            <a:r>
              <a:t>References every other document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/>
              <a:t>What This Episode Covers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t>7 components · measurable objectives</a:t>
            </a:r>
          </a:p>
          <a:p>
            <a:r>
              <a:t>Scope &amp; resourcing</a:t>
            </a:r>
          </a:p>
          <a:p>
            <a:r>
              <a:t>6-stage process · 4 failure patterns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Governance structure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Framework alignment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t>Risk appetite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235C4F-DDBD-889E-6AEB-84C8EFDA79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Required Sections 1–4</a:t>
            </a:r>
            <a:endParaRPr lang="en-US" b="0"/>
          </a:p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10CEEC8-C04A-8392-C6BD-883396F60F8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fontScale="92500" lnSpcReduction="20000"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Asset inventory reference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Control framework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7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Monitoring approach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t>…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t>Reporting structure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1BF0C17-9BC8-5CE5-D11D-B752579BB93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Segoe Sans Text"/>
                <a:cs typeface="Segoe Sans Text"/>
              </a:rPr>
              <a:t>Required Sections 5–7</a:t>
            </a:r>
            <a:endParaRPr lang="en-US" b="0">
              <a:latin typeface="Segoe Sans Text"/>
              <a:cs typeface="Segoe Sans Text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Each Section Carries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An owner</a:t>
            </a:r>
          </a:p>
          <a:p>
            <a:r>
              <a:t>A review cadence</a:t>
            </a:r>
          </a:p>
          <a:p>
            <a:r>
              <a:t>A last-review date — navigational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000">
                <a:latin typeface="Segoe Sans Text"/>
                <a:cs typeface="Segoe Sans Text"/>
              </a:rPr>
              <a:t>Federal contractors → OMB AI guidance</a:t>
            </a:r>
            <a:endParaRPr lang="en-US" sz="2000">
              <a:latin typeface="Segoe Sans Text"/>
              <a:cs typeface="Segoe Sans Text"/>
            </a:endParaRPr>
          </a:p>
          <a:p>
            <a:r>
              <a:rPr sz="2000">
                <a:latin typeface="Segoe Sans Text"/>
                <a:cs typeface="Segoe Sans Text"/>
              </a:rPr>
              <a:t>Financial → OCC / FDIC</a:t>
            </a:r>
          </a:p>
          <a:p>
            <a:r>
              <a:rPr sz="2000">
                <a:latin typeface="Segoe Sans Text"/>
                <a:cs typeface="Segoe Sans Text"/>
              </a:rPr>
              <a:t>Structure is jurisdiction-neutral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US REGULATORY NOTE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The Governance Thread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Connects all six modules</a:t>
            </a:r>
          </a:p>
          <a:p>
            <a:r>
              <a:t>Control catalog · monitoring · IR</a:t>
            </a:r>
          </a:p>
          <a:p>
            <a:r>
              <a:t>One authoritative coordination doc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19" y="387572"/>
            <a:ext cx="4847160" cy="1097280"/>
          </a:xfrm>
        </p:spPr>
        <p:txBody>
          <a:bodyPr/>
          <a:lstStyle/>
          <a:p>
            <a:r>
              <a:rPr sz="2800"/>
              <a:t>Four Failure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731519" y="1645920"/>
            <a:ext cx="4847159" cy="4526280"/>
          </a:xfrm>
        </p:spPr>
        <p:txBody>
          <a:bodyPr/>
          <a:lstStyle/>
          <a:p>
            <a:r>
              <a:t>A diagnosis and fix for each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Failure Patterns 1–2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No executive endorsement</a:t>
            </a:r>
          </a:p>
          <a:p>
            <a:r>
              <a:t>Scope too narrow — excludes dev/test</a:t>
            </a:r>
          </a:p>
          <a:p>
            <a:r>
              <a:t>(where most incidents originate)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Failure Patterns 3–4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Objectives without metrics</a:t>
            </a:r>
          </a:p>
          <a:p>
            <a:r>
              <a:t>Stale scope after material change</a:t>
            </a:r>
          </a:p>
          <a:p>
            <a:r>
              <a:t>No baseline, no deadline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Recap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7 components · SMART objectives</a:t>
            </a:r>
          </a:p>
          <a:p>
            <a:r>
              <a:t>Exec approval — not just CISO</a:t>
            </a:r>
          </a:p>
          <a:p>
            <a:r>
              <a:t>Material change → mandatory review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/>
              <a:t>Aligning AI Security with Enterprise InfoSec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03 · Episode 3 — Dr. Michael Solomon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Extend, Don't Replace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AI security extends enterprise security</a:t>
            </a:r>
          </a:p>
          <a:p>
            <a:r>
              <a:t>Not a separate silo</a:t>
            </a:r>
          </a:p>
          <a:p>
            <a:r>
              <a:t>Misalignment = duplicate structures + gaps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1 · Risk Register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AI register feeds the enterprise register</a:t>
            </a:r>
          </a:p>
          <a:p>
            <a:r>
              <a:t>Above-appetite risks escalate up</a:t>
            </a:r>
          </a:p>
          <a:p>
            <a:r>
              <a:t>A subset, not a replacement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2 · Incident Response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Integrated with enterprise IR</a:t>
            </a:r>
          </a:p>
          <a:p>
            <a:r>
              <a:t>Personal data → GDPR notification</a:t>
            </a:r>
          </a:p>
          <a:p>
            <a:r>
              <a:t>Category A → CISO + board notify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3 · Change Management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AI changes use the 8-step process</a:t>
            </a:r>
          </a:p>
          <a:p>
            <a:r>
              <a:t>Significant changes feed the enterprise CAB</a:t>
            </a:r>
          </a:p>
          <a:p>
            <a:r>
              <a:t>A subset of enterprise change management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4 · Audit &amp; Compliance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AI evidence in the enterprise audit package</a:t>
            </a:r>
          </a:p>
          <a:p>
            <a:r>
              <a:t>Framework alignment on the compliance calendar</a:t>
            </a:r>
          </a:p>
          <a:p>
            <a:r>
              <a:t>Findings carry enterprise-level severity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5 · Security Operations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AI SIEM rules extend the enterprise SIEM</a:t>
            </a:r>
          </a:p>
          <a:p>
            <a:r>
              <a:t>Inference · pipeline · registry logs feed it</a:t>
            </a:r>
          </a:p>
          <a:p>
            <a:r>
              <a:t>AI engineer interfaces with the SOC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PARALLEL IR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AI IR runs beside enterprise IR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t>SILOED RISK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t>AI risks invisible to the CRO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t>CAB BYPASS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t>Changes skip the enterprise CAB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t>MISMATCH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t>ISO 42001 vs 27001, no mapping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Four Alignment Failures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The Fixes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IR integrated with enterprise IR</a:t>
            </a:r>
          </a:p>
          <a:p>
            <a:r>
              <a:t>AI register feeds enterprise register</a:t>
            </a:r>
          </a:p>
          <a:p>
            <a:r>
              <a:t>Material changes → enterprise CAB</a:t>
            </a:r>
          </a:p>
          <a:p>
            <a:r>
              <a:t>Annual alignment review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19" y="387572"/>
            <a:ext cx="4847160" cy="1097280"/>
          </a:xfrm>
        </p:spPr>
        <p:txBody>
          <a:bodyPr/>
          <a:lstStyle/>
          <a:p>
            <a:r>
              <a:rPr sz="2800"/>
              <a:t>Alignment Is an Obligation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731519" y="1645920"/>
            <a:ext cx="4847159" cy="4526280"/>
          </a:xfrm>
        </p:spPr>
        <p:txBody>
          <a:bodyPr/>
          <a:lstStyle/>
          <a:p>
            <a:r>
              <a:t>Each integration point has a named owner</a:t>
            </a:r>
          </a:p>
          <a:p>
            <a:r>
              <a:t>Drift caught in annual alignment reviews</a:t>
            </a:r>
          </a:p>
          <a:p>
            <a:r>
              <a:t>Alignment section = audit evidence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/>
              <a:t>AI Security Team Structure &amp; Proficiencies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03 · Episode 4 — Dr. Michael Solomon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SECURITY LEAD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Owns program · L3+ escalations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t>COMPLIANCE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t>Inventory · licenses · DPIA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t>SEC ENGINEER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t>SIEM · detection · vuln mgmt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t>RISK ANALYST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t>Risk register · V&amp;V cycle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Four Core Roles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Proficiency Requirements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379728"/>
            <a:ext cx="6146586" cy="4645152"/>
          </a:xfrm>
        </p:spPr>
        <p:txBody>
          <a:bodyPr/>
          <a:lstStyle/>
          <a:p>
            <a:r>
              <a:t>Lead: AI/ML + governance frameworks</a:t>
            </a:r>
          </a:p>
          <a:p>
            <a:r>
              <a:t>Assess model claims, not build models</a:t>
            </a:r>
          </a:p>
          <a:p>
            <a:r>
              <a:t>All roles: EU AI Act · GDPR 22 · AI RMF</a:t>
            </a:r>
          </a:p>
          <a:p>
            <a:r>
              <a:t>Lead accountable; team responsible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Reporting Lines &amp; Independence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379728"/>
            <a:ext cx="6146586" cy="4187952"/>
          </a:xfrm>
        </p:spPr>
        <p:txBody>
          <a:bodyPr/>
          <a:lstStyle/>
          <a:p>
            <a:r>
              <a:t>Lead reports to CISO, not the AI team</a:t>
            </a:r>
          </a:p>
          <a:p>
            <a:r>
              <a:t>Governance independent of development</a:t>
            </a:r>
          </a:p>
          <a:p>
            <a:r>
              <a:t>If not fully: conflict-of-interest controls</a:t>
            </a:r>
          </a:p>
          <a:p>
            <a:r>
              <a:t>Independence is structural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RACI for Key Activities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379728"/>
            <a:ext cx="6146586" cy="4645152"/>
          </a:xfrm>
        </p:spPr>
        <p:txBody>
          <a:bodyPr/>
          <a:lstStyle/>
          <a:p>
            <a:r>
              <a:t>Lead = A for all governance activities</a:t>
            </a:r>
          </a:p>
          <a:p>
            <a:r>
              <a:t>Compliance = R: inventory · licenses · DPIA</a:t>
            </a:r>
          </a:p>
          <a:p>
            <a:r>
              <a:t>Engineer = R: monitoring · SIEM · vulns</a:t>
            </a:r>
          </a:p>
          <a:p>
            <a:r>
              <a:t>Risk analyst = R: register · V&amp;V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Team Size &amp; Scaling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379728"/>
            <a:ext cx="6146586" cy="4645152"/>
          </a:xfrm>
        </p:spPr>
        <p:txBody>
          <a:bodyPr/>
          <a:lstStyle/>
          <a:p>
            <a:r>
              <a:t>Min viable tier-1: 2 FTE (lead + analyst)</a:t>
            </a:r>
          </a:p>
          <a:p>
            <a:r>
              <a:t>Coverage gaps = accepted register risks</a:t>
            </a:r>
          </a:p>
          <a:p>
            <a:r>
              <a:t>Consultants OK — the lead stays internal</a:t>
            </a:r>
          </a:p>
          <a:p>
            <a:r>
              <a:t>Accountable role cannot be outsourced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Competency Framework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379728"/>
            <a:ext cx="6146586" cy="4645152"/>
          </a:xfrm>
        </p:spPr>
        <p:txBody>
          <a:bodyPr/>
          <a:lstStyle/>
          <a:p>
            <a:r>
              <a:t>Documented competencies + dev plan</a:t>
            </a:r>
          </a:p>
          <a:p>
            <a:r>
              <a:t>Annual competency review</a:t>
            </a:r>
          </a:p>
          <a:p>
            <a:r>
              <a:t>A program-plan requirement, not just HR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LOST INDEPENDENCE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Lead reports into AI development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t>OUTSOURCED 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t>Accountable role to a consultant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t>HIDDEN GAPS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t>Competency gaps undocumented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t>IMPLICIT GAPS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t>0.5 FTE, no register entry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Four Structure Failures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The Fixes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Lead reports to CISO, not development</a:t>
            </a:r>
          </a:p>
          <a:p>
            <a:r>
              <a:t>Accountable roles stay internal</a:t>
            </a:r>
          </a:p>
          <a:p>
            <a:r>
              <a:t>Document + address competency gaps</a:t>
            </a:r>
          </a:p>
          <a:p>
            <a:r>
              <a:t>Coverage gaps become register entries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1" y="4687536"/>
            <a:ext cx="9973455" cy="445299"/>
          </a:xfrm>
        </p:spPr>
        <p:txBody>
          <a:bodyPr/>
          <a:lstStyle/>
          <a:p>
            <a:r>
              <a:rPr sz="2800"/>
              <a:t>Structure = Program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609601" y="5126871"/>
            <a:ext cx="9973455" cy="457200"/>
          </a:xfrm>
        </p:spPr>
        <p:txBody>
          <a:bodyPr/>
          <a:lstStyle/>
          <a:p>
            <a:r>
              <a:t>Roles align to the governance RACI</a:t>
            </a:r>
          </a:p>
          <a:p>
            <a:r>
              <a:t>Role gaps = control gaps on the register</a:t>
            </a:r>
          </a:p>
          <a:p>
            <a:r>
              <a:t>Team structure reviewed annually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/>
              <a:t>AI-Enabled Security Tools in the Program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03 · Episode 5 — Dr. Michael Solomon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The SOC Scale Problem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Threat volume outpaces analyst capacity</a:t>
            </a:r>
          </a:p>
          <a:p>
            <a:r>
              <a:t>Log data multiplies faster than human review</a:t>
            </a:r>
          </a:p>
          <a:p>
            <a:r>
              <a:t>AI processes telemetry + correlates + accelerates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AI Augments, Doesn't Replace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AI handles volume; analysts apply judgment</a:t>
            </a:r>
          </a:p>
          <a:p>
            <a:r>
              <a:t>Faster, more accurate security operations</a:t>
            </a:r>
          </a:p>
          <a:p>
            <a:r>
              <a:t>Identify tools by category, function, risk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Detection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ML anomaly detection cuts dwell time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Triage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Score, correlate, suppress noise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Investigation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Auto-enrich; query TI in seconds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t>Response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t>Accelerated across the lifecycle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B473DF2-E51A-CC78-AE6D-E91279649D6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Segoe Sans Text"/>
                <a:cs typeface="Segoe Sans Text"/>
              </a:rPr>
              <a:t>AI-Augmented Analyst Workflow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4BA9975-D9DC-49ED-7AA9-C8E834CD767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fontScale="92500" lnSpcReduction="20000"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Threat-Intelligence Tools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AI-specific feeds: MITRE ATLAS, AI Incident Database</a:t>
            </a:r>
          </a:p>
          <a:p>
            <a:r>
              <a:t>CVE alerts for AI components required</a:t>
            </a:r>
          </a:p>
          <a:p>
            <a:r>
              <a:t>Feeds the monitoring-calendar review</a:t>
            </a:r>
          </a:p>
          <a:p>
            <a:r>
              <a:t>Strategic TI triggers threat-model updates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AI Vulnerability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Thousands of findings per scan cycle</a:t>
            </a:r>
          </a:p>
          <a:p>
            <a:r>
              <a:t>AI ranks by exploitability, context, adversary interest</a:t>
            </a:r>
          </a:p>
          <a:p>
            <a:r>
              <a:t>Surfaces the urgent few from the many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F3E36-0401-3DD5-BED0-00A672647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2B3209-C56A-DBBB-E07E-E7670A1F16F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Three Vuln-Analysis Capabilities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E43F332E-EA10-49F3-2D52-79A446F1FE2F}"/>
              </a:ext>
            </a:extLst>
          </p:cNvPr>
          <p:cNvSpPr txBox="1">
            <a:spLocks/>
          </p:cNvSpPr>
          <p:nvPr/>
        </p:nvSpPr>
        <p:spPr>
          <a:xfrm>
            <a:off x="574430" y="1752364"/>
            <a:ext cx="2366161" cy="332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Pattern Recognition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EE15E55-044E-C453-0775-AEE16B0591B0}"/>
              </a:ext>
            </a:extLst>
          </p:cNvPr>
          <p:cNvSpPr txBox="1">
            <a:spLocks/>
          </p:cNvSpPr>
          <p:nvPr/>
        </p:nvSpPr>
        <p:spPr>
          <a:xfrm>
            <a:off x="574430" y="2084763"/>
            <a:ext cx="2366161" cy="1408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Static + dynamic analysis of code/behavior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D162237-BE63-F602-AF34-5FFEBE0ED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430" y="2902248"/>
            <a:ext cx="2413000" cy="1778000"/>
          </a:xfrm>
          <a:prstGeom prst="rect">
            <a:avLst/>
          </a:prstGeom>
        </p:spPr>
      </p:pic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F82D4073-E3FE-C0D2-55FE-EA8D8D713E41}"/>
              </a:ext>
            </a:extLst>
          </p:cNvPr>
          <p:cNvSpPr txBox="1">
            <a:spLocks/>
          </p:cNvSpPr>
          <p:nvPr/>
        </p:nvSpPr>
        <p:spPr>
          <a:xfrm>
            <a:off x="574430" y="4160430"/>
            <a:ext cx="2366161" cy="332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Anomaly Detection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965EC8FC-7560-0485-711B-21517BC9A59B}"/>
              </a:ext>
            </a:extLst>
          </p:cNvPr>
          <p:cNvSpPr txBox="1">
            <a:spLocks/>
          </p:cNvSpPr>
          <p:nvPr/>
        </p:nvSpPr>
        <p:spPr>
          <a:xfrm>
            <a:off x="574430" y="4492829"/>
            <a:ext cx="2366161" cy="1408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Drift from baselines; no signature needed</a:t>
            </a:r>
          </a:p>
        </p:txBody>
      </p:sp>
    </p:spTree>
    <p:extLst>
      <p:ext uri="{BB962C8B-B14F-4D97-AF65-F5344CB8AC3E}">
        <p14:creationId xmlns:p14="http://schemas.microsoft.com/office/powerpoint/2010/main" val="27274175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Governance Requirements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Continuous model updates + retraining schedules</a:t>
            </a:r>
          </a:p>
          <a:p>
            <a:r>
              <a:t>Human validation workflows (false-positive mgmt)</a:t>
            </a:r>
          </a:p>
          <a:p>
            <a:r>
              <a:t>Asset-inventory integration for context</a:t>
            </a:r>
          </a:p>
          <a:p>
            <a:r>
              <a:t>Distinguishes mature programs from ad-hoc scanning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They require asset-inventory registration + governance</a:t>
            </a:r>
          </a:p>
          <a:p>
            <a:r>
              <a:t>Same intake track as operational AI</a:t>
            </a:r>
          </a:p>
          <a:p>
            <a:r>
              <a:t>UEBA, TI, SIEM-ML all subject to 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SECURITY AI TOOLS ARE AI SYSTEMS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7200"/>
              <a:t>AI Security Metrics: KPIs &amp; KRIs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03 · Episode 6 — Dr. Michael Solomon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vs KRI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t>KPI</a:t>
            </a:r>
          </a:p>
          <a:p>
            <a:r>
              <a:t>Measures control performance</a:t>
            </a:r>
          </a:p>
          <a:p>
            <a:r>
              <a:t>“Is the control working?”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t>KRI</a:t>
            </a:r>
          </a:p>
          <a:p>
            <a:r>
              <a:t>Measures residual-risk exposure</a:t>
            </a:r>
          </a:p>
          <a:p>
            <a:r>
              <a:t>Both required per control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KPI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Name · method · target · cadence · owner</a:t>
            </a:r>
          </a:p>
          <a:p>
            <a:r>
              <a:t>e.g. 99%+ AI decisions fully logged</a:t>
            </a:r>
          </a:p>
          <a:p>
            <a:r>
              <a:t>Below threshold → L2+ finding</a:t>
            </a:r>
          </a:p>
          <a:p>
            <a:r>
              <a:t>No KPI = nominal, not operational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KRI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Residual risk after the control operates</a:t>
            </a:r>
          </a:p>
          <a:p>
            <a:r>
              <a:t>A threshold triggers escalation</a:t>
            </a:r>
          </a:p>
          <a:p>
            <a:r>
              <a:t>e.g. injection attempts detected-not-blocked</a:t>
            </a:r>
          </a:p>
          <a:p>
            <a:r>
              <a:t>Primary input to the risk register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19" y="387572"/>
            <a:ext cx="4847160" cy="1097280"/>
          </a:xfrm>
        </p:spPr>
        <p:txBody>
          <a:bodyPr/>
          <a:lstStyle/>
          <a:p>
            <a:r>
              <a:rPr sz="2800"/>
              <a:t>Module-Level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731519" y="1645920"/>
            <a:ext cx="4847159" cy="4526280"/>
          </a:xfrm>
        </p:spPr>
        <p:txBody>
          <a:bodyPr/>
          <a:lstStyle/>
          <a:p>
            <a:r>
              <a:t>Integrates KPIs from all six modules</a:t>
            </a:r>
          </a:p>
          <a:p>
            <a:r>
              <a:t>Governance · data · incident · controls</a:t>
            </a:r>
          </a:p>
          <a:p>
            <a:r>
              <a:t>One monitoring dashboard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Three Reporting Levels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Operational — monthly</a:t>
            </a:r>
          </a:p>
          <a:p>
            <a:r>
              <a:t>Steering — quarterly</a:t>
            </a:r>
          </a:p>
          <a:p>
            <a:r>
              <a:t>Board — annual</a:t>
            </a:r>
          </a:p>
          <a:p>
            <a:r>
              <a:t>L4/L5 → out-of-cycle exec report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Baselines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Every KPI needs a deployment baseline</a:t>
            </a:r>
          </a:p>
          <a:p>
            <a:r>
              <a:t>Calibrate thresholds to the baseline</a:t>
            </a:r>
          </a:p>
          <a:p>
            <a:r>
              <a:t>Review after 30–60 days of data</a:t>
            </a:r>
          </a:p>
          <a:p>
            <a:r>
              <a:t>Baseline before claiming it works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Metrics = Program Plan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Framework documented in the program plan</a:t>
            </a:r>
          </a:p>
          <a:p>
            <a:r>
              <a:t>Controls without KPIs/KRIs = register gaps</a:t>
            </a:r>
          </a:p>
          <a:p>
            <a:r>
              <a:t>Reviewed annually + on material change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NO KPIs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12 controls, none demonstrable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t>NO THRESHOLDS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t>KRIs breach with no trigger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t>NO BASELINE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dirty="0"/>
              <a:t>Can't tell normal</a:t>
            </a:r>
            <a:r>
              <a:rPr lang="en-US" dirty="0"/>
              <a:t>           </a:t>
            </a:r>
            <a:r>
              <a:rPr dirty="0"/>
              <a:t>from degraded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t>NO ACTION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dirty="0"/>
              <a:t>Reported but never</a:t>
            </a:r>
            <a:r>
              <a:rPr lang="en-US" dirty="0"/>
              <a:t>    </a:t>
            </a:r>
            <a:r>
              <a:rPr dirty="0"/>
              <a:t> acted 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Four Metrics Failures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The Fixes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KPI per control before deployment</a:t>
            </a:r>
          </a:p>
          <a:p>
            <a:r>
              <a:t>Explicit KRI thresholds</a:t>
            </a:r>
          </a:p>
          <a:p>
            <a:r>
              <a:t>Baselines measured + reviewed</a:t>
            </a:r>
          </a:p>
          <a:p>
            <a:r>
              <a:t>Breaches trigger documented responses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1" y="4012622"/>
            <a:ext cx="9973455" cy="938784"/>
          </a:xfrm>
        </p:spPr>
        <p:txBody>
          <a:bodyPr/>
          <a:lstStyle/>
          <a:p>
            <a:r>
              <a:rPr sz="2800"/>
              <a:t>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609601" y="4945442"/>
            <a:ext cx="9973455" cy="457200"/>
          </a:xfrm>
        </p:spPr>
        <p:txBody>
          <a:bodyPr/>
          <a:lstStyle/>
          <a:p>
            <a:r>
              <a:t>KPI = performance · KRI = residual risk</a:t>
            </a:r>
          </a:p>
          <a:p>
            <a:r>
              <a:t>Both required per control</a:t>
            </a:r>
          </a:p>
          <a:p>
            <a:r>
              <a:t>Baseline is always required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7200"/>
              <a:t>AI Security Metrics: KPIs &amp; KRIs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03 · Episode 6 — Dr. Michael Solomon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vs KRI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t>KPI</a:t>
            </a:r>
          </a:p>
          <a:p>
            <a:r>
              <a:t>Measures control performance</a:t>
            </a:r>
          </a:p>
          <a:p>
            <a:r>
              <a:t>“Is the control working?”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t>KRI</a:t>
            </a:r>
          </a:p>
          <a:p>
            <a:r>
              <a:t>Measures residual-risk exposure</a:t>
            </a:r>
          </a:p>
          <a:p>
            <a:r>
              <a:t>Both required per control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KPI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Name · method · target · cadence · owner</a:t>
            </a:r>
          </a:p>
          <a:p>
            <a:r>
              <a:t>e.g. 99%+ AI decisions fully logged</a:t>
            </a:r>
          </a:p>
          <a:p>
            <a:r>
              <a:t>Below threshold → L2+ finding</a:t>
            </a:r>
          </a:p>
          <a:p>
            <a:r>
              <a:t>No KPI = nominal, not operational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KRI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Residual risk after the control operates</a:t>
            </a:r>
          </a:p>
          <a:p>
            <a:r>
              <a:t>A threshold triggers escalation</a:t>
            </a:r>
          </a:p>
          <a:p>
            <a:r>
              <a:t>e.g. injection attempts detected-not-blocked</a:t>
            </a:r>
          </a:p>
          <a:p>
            <a:r>
              <a:t>Primary input to the risk register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19" y="387572"/>
            <a:ext cx="4847160" cy="1097280"/>
          </a:xfrm>
        </p:spPr>
        <p:txBody>
          <a:bodyPr/>
          <a:lstStyle/>
          <a:p>
            <a:r>
              <a:rPr sz="2800"/>
              <a:t>Module-Level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731519" y="1645920"/>
            <a:ext cx="4847159" cy="4526280"/>
          </a:xfrm>
        </p:spPr>
        <p:txBody>
          <a:bodyPr/>
          <a:lstStyle/>
          <a:p>
            <a:r>
              <a:t>Integrates KPIs from all six modules</a:t>
            </a:r>
          </a:p>
          <a:p>
            <a:r>
              <a:t>Governance · data · incident · controls</a:t>
            </a:r>
          </a:p>
          <a:p>
            <a:r>
              <a:t>One monitoring dashboard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Three Reporting Levels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Operational — monthly</a:t>
            </a:r>
          </a:p>
          <a:p>
            <a:r>
              <a:t>Steering — quarterly</a:t>
            </a:r>
          </a:p>
          <a:p>
            <a:r>
              <a:t>Board — annual</a:t>
            </a:r>
          </a:p>
          <a:p>
            <a:r>
              <a:t>L4/L5 → out-of-cycle exec report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Baselines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Every KPI needs a deployment baseline</a:t>
            </a:r>
          </a:p>
          <a:p>
            <a:r>
              <a:t>Calibrate thresholds to the baseline</a:t>
            </a:r>
          </a:p>
          <a:p>
            <a:r>
              <a:t>Review after 30–60 days of data</a:t>
            </a:r>
          </a:p>
          <a:p>
            <a:r>
              <a:t>Baseline before claiming it works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Metrics = Program Plan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Framework documented in the program plan</a:t>
            </a:r>
          </a:p>
          <a:p>
            <a:r>
              <a:t>Controls without KPIs/KRIs = register gaps</a:t>
            </a:r>
          </a:p>
          <a:p>
            <a:r>
              <a:t>Reviewed annually + on material change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NO KPIs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12 controls, none demonstrable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t>NO THRESHOLDS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t>KRIs breach with no trigger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t>NO BASELINE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dirty="0"/>
              <a:t>Can't tell normal</a:t>
            </a:r>
            <a:r>
              <a:rPr lang="en-US" dirty="0"/>
              <a:t>           </a:t>
            </a:r>
            <a:r>
              <a:rPr dirty="0"/>
              <a:t>from degraded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t>NO ACTION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dirty="0"/>
              <a:t>Reported but never</a:t>
            </a:r>
            <a:r>
              <a:rPr lang="en-US" dirty="0"/>
              <a:t>    </a:t>
            </a:r>
            <a:r>
              <a:rPr dirty="0"/>
              <a:t> acted 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Four Metrics Failures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The Fixes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KPI per control before deployment</a:t>
            </a:r>
          </a:p>
          <a:p>
            <a:r>
              <a:t>Explicit KRI thresholds</a:t>
            </a:r>
          </a:p>
          <a:p>
            <a:r>
              <a:t>Baselines measured + reviewed</a:t>
            </a:r>
          </a:p>
          <a:p>
            <a:r>
              <a:t>Breaches trigger documented responses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1" y="4012622"/>
            <a:ext cx="9973455" cy="938784"/>
          </a:xfrm>
        </p:spPr>
        <p:txBody>
          <a:bodyPr/>
          <a:lstStyle/>
          <a:p>
            <a:r>
              <a:rPr sz="2800"/>
              <a:t>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609601" y="4945442"/>
            <a:ext cx="9973455" cy="457200"/>
          </a:xfrm>
        </p:spPr>
        <p:txBody>
          <a:bodyPr/>
          <a:lstStyle/>
          <a:p>
            <a:r>
              <a:t>KPI = performance · KRI = residual risk</a:t>
            </a:r>
          </a:p>
          <a:p>
            <a:r>
              <a:t>Both required per control</a:t>
            </a:r>
          </a:p>
          <a:p>
            <a:r>
              <a:t>Baseline is always required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7200"/>
              <a:t>Executive &amp; Management Reporting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03 · Episode 7 — Dr. Michael Solomon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Two Failure Modes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Rubber-stamp approval</a:t>
            </a:r>
          </a:p>
          <a:p>
            <a:r>
              <a:t>Disengagement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/>
              <a:t>What This Episode Covers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t>5-section report · RAG status</a:t>
            </a:r>
          </a:p>
          <a:p>
            <a:r>
              <a:t>Business translation · decision framing</a:t>
            </a:r>
          </a:p>
          <a:p>
            <a:r>
              <a:t>Annual board report · 4 failures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Three Reporting Tiers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Operational — monthly (security lead)</a:t>
            </a:r>
          </a:p>
          <a:p>
            <a:r>
              <a:t>Steering — quarterly (committee)</a:t>
            </a:r>
          </a:p>
          <a:p>
            <a:r>
              <a:t>Board — annual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What Each Tier Contains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Monthly: KPI/CRI + L3+ findings</a:t>
            </a:r>
          </a:p>
          <a:p>
            <a:r>
              <a:t>Quarterly: risk register, vendors, incidents</a:t>
            </a:r>
          </a:p>
          <a:p>
            <a:r>
              <a:t>Annual: appetite, maturity, compliance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Appetite vs </a:t>
            </a:r>
            <a:br>
              <a:rPr lang="en-US"/>
            </a:br>
            <a:r>
              <a:t>actual posture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dirty="0"/>
              <a:t>Material risks </a:t>
            </a:r>
            <a:br>
              <a:rPr lang="en-US" dirty="0"/>
            </a:br>
            <a:r>
              <a:rPr dirty="0"/>
              <a:t>above appetite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Incident summaries (A/B)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t>Regulatory horizon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69F2B6E-AC5C-6764-C972-69F458D319A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Segoe Sans Text"/>
                <a:cs typeface="Segoe Sans Text"/>
              </a:rPr>
              <a:t>Board Report Content</a:t>
            </a:r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L4/L5 findings → immediate notice</a:t>
            </a:r>
          </a:p>
          <a:p>
            <a:r>
              <a:t>Out-of-cycle: description, response, status</a:t>
            </a:r>
          </a:p>
          <a:p>
            <a:r>
              <a:t>Board notice: L5, enforcement, vendor failure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TRIGGER REPORTING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Report Format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Concise, risk-oriented, governance-framed</a:t>
            </a:r>
          </a:p>
          <a:p>
            <a:r>
              <a:t>NOT technical — translate to risk</a:t>
            </a:r>
          </a:p>
          <a:p>
            <a:r>
              <a:t>Appetite framework as the anchor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19" y="387572"/>
            <a:ext cx="4847160" cy="1097280"/>
          </a:xfrm>
        </p:spPr>
        <p:txBody>
          <a:bodyPr/>
          <a:lstStyle/>
          <a:p>
            <a:r>
              <a:rPr sz="2800"/>
              <a:t>Board Report =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731519" y="1645920"/>
            <a:ext cx="4847159" cy="4526280"/>
          </a:xfrm>
        </p:spPr>
        <p:txBody>
          <a:bodyPr/>
          <a:lstStyle/>
          <a:p>
            <a:r>
              <a:t>Retained for audit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Failures 1–2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Chronic green — 8 quarters, no actions</a:t>
            </a:r>
          </a:p>
          <a:p>
            <a:r>
              <a:t>Technical language execs can't act on</a:t>
            </a:r>
          </a:p>
          <a:p>
            <a:r>
              <a:t>Green is not reassuring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Failures 3–4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No decision items</a:t>
            </a:r>
          </a:p>
          <a:p>
            <a:r>
              <a:t>Late red — managed at amber</a:t>
            </a:r>
          </a:p>
          <a:p>
            <a:r>
              <a:t>Board learns when it's an incident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Recap · Module Close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5 report sections &amp; order</a:t>
            </a:r>
          </a:p>
          <a:p>
            <a:r>
              <a:t>3 RAG definitions</a:t>
            </a:r>
          </a:p>
          <a:p>
            <a:r>
              <a:t>Decision brief = 2 options + rec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7200"/>
              <a:t>Executive &amp; Management Reporting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03 · Episode 7 — Dr. Michael Solomon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Two Failure Modes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Rubber-stamp approval</a:t>
            </a:r>
          </a:p>
          <a:p>
            <a:r>
              <a:t>Disengagement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/>
              <a:t>What This Episode Covers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t>5-section report · RAG status</a:t>
            </a:r>
          </a:p>
          <a:p>
            <a:r>
              <a:t>Business translation · decision framing</a:t>
            </a:r>
          </a:p>
          <a:p>
            <a:r>
              <a:t>Annual board report · 4 failures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Three Reporting Tiers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Operational — monthly (security lead)</a:t>
            </a:r>
          </a:p>
          <a:p>
            <a:r>
              <a:t>Steering — quarterly (committee)</a:t>
            </a:r>
          </a:p>
          <a:p>
            <a:r>
              <a:t>Board — annual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What Each Tier Contains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Monthly: KPI/CRI + L3+ findings</a:t>
            </a:r>
          </a:p>
          <a:p>
            <a:r>
              <a:t>Quarterly: risk register, vendors, incidents</a:t>
            </a:r>
          </a:p>
          <a:p>
            <a:r>
              <a:t>Annual: appetite, maturity, compliance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Appetite vs </a:t>
            </a:r>
            <a:br>
              <a:rPr lang="en-US"/>
            </a:br>
            <a:r>
              <a:t>actual posture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dirty="0"/>
              <a:t>Material risks </a:t>
            </a:r>
            <a:br>
              <a:rPr lang="en-US" dirty="0"/>
            </a:br>
            <a:r>
              <a:rPr dirty="0"/>
              <a:t>above appetite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Incident summaries (A/B)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t>Regulatory horizon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69F2B6E-AC5C-6764-C972-69F458D319A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Segoe Sans Text"/>
                <a:cs typeface="Segoe Sans Text"/>
              </a:rPr>
              <a:t>Board Report Content</a:t>
            </a:r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L4/L5 findings → immediate notice</a:t>
            </a:r>
          </a:p>
          <a:p>
            <a:r>
              <a:t>Out-of-cycle: description, response, status</a:t>
            </a:r>
          </a:p>
          <a:p>
            <a:r>
              <a:t>Board notice: L5, enforcement, vendor failure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TRIGGER REPORTING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Report Format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Concise, risk-oriented, governance-framed</a:t>
            </a:r>
          </a:p>
          <a:p>
            <a:r>
              <a:t>NOT technical — translate to risk</a:t>
            </a:r>
          </a:p>
          <a:p>
            <a:r>
              <a:t>Appetite framework as the anchor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19" y="387572"/>
            <a:ext cx="4847160" cy="1097280"/>
          </a:xfrm>
        </p:spPr>
        <p:txBody>
          <a:bodyPr/>
          <a:lstStyle/>
          <a:p>
            <a:r>
              <a:rPr sz="2800"/>
              <a:t>Board Report =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731519" y="1645920"/>
            <a:ext cx="4847159" cy="4526280"/>
          </a:xfrm>
        </p:spPr>
        <p:txBody>
          <a:bodyPr/>
          <a:lstStyle/>
          <a:p>
            <a:r>
              <a:t>Retained for audit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Failures 1–2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Chronic green — 8 quarters, no actions</a:t>
            </a:r>
          </a:p>
          <a:p>
            <a:r>
              <a:t>Technical language execs can't act on</a:t>
            </a:r>
          </a:p>
          <a:p>
            <a:r>
              <a:t>Green is not reassuring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Failures 3–4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No decision items</a:t>
            </a:r>
          </a:p>
          <a:p>
            <a:r>
              <a:t>Late red — managed at amber</a:t>
            </a:r>
          </a:p>
          <a:p>
            <a:r>
              <a:t>Board learns when it's an incident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Recap · Module Close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5 report sections &amp; order</a:t>
            </a:r>
          </a:p>
          <a:p>
            <a:r>
              <a:t>3 RAG definitions</a:t>
            </a:r>
          </a:p>
          <a:p>
            <a:r>
              <a:t>Decision brief = 2 options + rec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AISM_PPT_Template">
  <a:themeElements>
    <a:clrScheme name="MCAPS_Blue">
      <a:dk1>
        <a:srgbClr val="4F4F4F"/>
      </a:dk1>
      <a:lt1>
        <a:srgbClr val="FFFFFF"/>
      </a:lt1>
      <a:dk2>
        <a:srgbClr val="4F4F4F"/>
      </a:dk2>
      <a:lt2>
        <a:srgbClr val="FFF8F3"/>
      </a:lt2>
      <a:accent1>
        <a:srgbClr val="0091DA"/>
      </a:accent1>
      <a:accent2>
        <a:srgbClr val="6CC24A"/>
      </a:accent2>
      <a:accent3>
        <a:srgbClr val="49C5B1"/>
      </a:accent3>
      <a:accent4>
        <a:srgbClr val="D59DD7"/>
      </a:accent4>
      <a:accent5>
        <a:srgbClr val="6CC24A"/>
      </a:accent5>
      <a:accent6>
        <a:srgbClr val="0091DA"/>
      </a:accent6>
      <a:hlink>
        <a:srgbClr val="0077D3"/>
      </a:hlink>
      <a:folHlink>
        <a:srgbClr val="0077D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radient_PPT_Template" id="{DD4A2566-3BC9-5A4E-B1A7-C82913F696C9}" vid="{9B7D320E-4ACD-7A46-B913-C9EB59A6892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046e879-d081-4053-adba-52e34fa7725d" xsi:nil="true"/>
    <lcf76f155ced4ddcb4097134ff3c332f xmlns="76027dd9-77cd-484f-b6db-8bbe1351c2b5">
      <Terms xmlns="http://schemas.microsoft.com/office/infopath/2007/PartnerControls"/>
    </lcf76f155ced4ddcb4097134ff3c332f>
    <Comments xmlns="76027dd9-77cd-484f-b6db-8bbe1351c2b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34B67D360B774FBA94A353DF812505" ma:contentTypeVersion="22" ma:contentTypeDescription="Create a new document." ma:contentTypeScope="" ma:versionID="36ad41d1389f7dc8fcbb5d4285216769">
  <xsd:schema xmlns:xsd="http://www.w3.org/2001/XMLSchema" xmlns:xs="http://www.w3.org/2001/XMLSchema" xmlns:p="http://schemas.microsoft.com/office/2006/metadata/properties" xmlns:ns2="76027dd9-77cd-484f-b6db-8bbe1351c2b5" xmlns:ns3="1046e879-d081-4053-adba-52e34fa7725d" xmlns:ns4="13a0c8d5-cff5-4140-b58f-0947a5552a6a" targetNamespace="http://schemas.microsoft.com/office/2006/metadata/properties" ma:root="true" ma:fieldsID="f2fb244498141b944b4dbc5f58037586" ns2:_="" ns3:_="" ns4:_="">
    <xsd:import namespace="76027dd9-77cd-484f-b6db-8bbe1351c2b5"/>
    <xsd:import namespace="1046e879-d081-4053-adba-52e34fa7725d"/>
    <xsd:import namespace="13a0c8d5-cff5-4140-b58f-0947a5552a6a"/>
    <xsd:element name="properties">
      <xsd:complexType>
        <xsd:sequence>
          <xsd:element name="documentManagement">
            <xsd:complexType>
              <xsd:all>
                <xsd:element ref="ns2:MediaServiceAutoTags" minOccurs="0"/>
                <xsd:element ref="ns2:MediaServiceOCR" minOccurs="0"/>
                <xsd:element ref="ns2:MediaServiceKeyPoints" minOccurs="0"/>
                <xsd:element ref="ns2:MediaLengthInSeconds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4:SharedWithUsers" minOccurs="0"/>
                <xsd:element ref="ns4:SharedWithDetails" minOccurs="0"/>
                <xsd:element ref="ns2:Comment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027dd9-77cd-484f-b6db-8bbe1351c2b5" elementFormDefault="qualified">
    <xsd:import namespace="http://schemas.microsoft.com/office/2006/documentManagement/types"/>
    <xsd:import namespace="http://schemas.microsoft.com/office/infopath/2007/PartnerControls"/>
    <xsd:element name="MediaServiceAutoTags" ma:index="8" nillable="true" ma:displayName="Tags" ma:description="" ma:internalName="MediaServiceAutoTags" ma:readOnly="true">
      <xsd:simpleType>
        <xsd:restriction base="dms:Text"/>
      </xsd:simpleType>
    </xsd:element>
    <xsd:element name="MediaServiceOCR" ma:index="9" nillable="true" ma:displayName="Extracted Text" ma:description="" ma:internalName="MediaServiceOCR" ma:readOnly="true">
      <xsd:simpleType>
        <xsd:restriction base="dms:Note">
          <xsd:maxLength value="255"/>
        </xsd:restriction>
      </xsd:simpleType>
    </xsd:element>
    <xsd:element name="MediaServiceKeyPoints" ma:index="10" nillable="true" ma:displayName="KeyPoints" ma:description="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3815b79-2db2-4fbd-a0c4-bf2740f263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Comments" ma:index="24" nillable="true" ma:displayName="Comments" ma:format="Dropdown" ma:internalName="Comments">
      <xsd:simpleType>
        <xsd:restriction base="dms:Note">
          <xsd:maxLength value="255"/>
        </xsd:restriction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46e879-d081-4053-adba-52e34fa7725d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d854264f-763b-4eb6-a464-f18878f8c660}" ma:internalName="TaxCatchAll" ma:showField="CatchAllData" ma:web="1046e879-d081-4053-adba-52e34fa772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a0c8d5-cff5-4140-b58f-0947a5552a6a" elementFormDefault="qualified">
    <xsd:import namespace="http://schemas.microsoft.com/office/2006/documentManagement/types"/>
    <xsd:import namespace="http://schemas.microsoft.com/office/infopath/2007/PartnerControls"/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E339AF-67FC-4BA3-8B2E-038B3ED310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B99ED26-B189-4BA1-99D0-1112D8C2F106}">
  <ds:schemaRefs>
    <ds:schemaRef ds:uri="http://schemas.microsoft.com/office/2006/documentManagement/types"/>
    <ds:schemaRef ds:uri="76027dd9-77cd-484f-b6db-8bbe1351c2b5"/>
    <ds:schemaRef ds:uri="http://purl.org/dc/dcmitype/"/>
    <ds:schemaRef ds:uri="http://schemas.openxmlformats.org/package/2006/metadata/core-properties"/>
    <ds:schemaRef ds:uri="1046e879-d081-4053-adba-52e34fa7725d"/>
    <ds:schemaRef ds:uri="http://purl.org/dc/elements/1.1/"/>
    <ds:schemaRef ds:uri="http://schemas.microsoft.com/office/2006/metadata/properties"/>
    <ds:schemaRef ds:uri="http://schemas.microsoft.com/office/infopath/2007/PartnerControls"/>
    <ds:schemaRef ds:uri="13a0c8d5-cff5-4140-b58f-0947a5552a6a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ADABC1A-3DB4-4388-8FB7-5B14A7711A61}">
  <ds:schemaRefs>
    <ds:schemaRef ds:uri="1046e879-d081-4053-adba-52e34fa7725d"/>
    <ds:schemaRef ds:uri="13a0c8d5-cff5-4140-b58f-0947a5552a6a"/>
    <ds:schemaRef ds:uri="76027dd9-77cd-484f-b6db-8bbe1351c2b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Gradient_PPT_Template</Template>
  <TotalTime>393</TotalTime>
  <Words>1974</Words>
  <Application>Microsoft Office PowerPoint</Application>
  <PresentationFormat>Widescreen</PresentationFormat>
  <Paragraphs>434</Paragraphs>
  <Slides>96</Slides>
  <Notes>96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96</vt:i4>
      </vt:variant>
    </vt:vector>
  </HeadingPairs>
  <TitlesOfParts>
    <vt:vector size="101" baseType="lpstr">
      <vt:lpstr>Aptos</vt:lpstr>
      <vt:lpstr>Arial</vt:lpstr>
      <vt:lpstr>Segoe Sans Text</vt:lpstr>
      <vt:lpstr>Segoe Sans Text ExtraBold</vt:lpstr>
      <vt:lpstr>AAISM_PPT_Template</vt:lpstr>
      <vt:lpstr>Data Destruction &amp; Retention</vt:lpstr>
      <vt:lpstr>PowerPoint Presentation</vt:lpstr>
      <vt:lpstr>What This Episode Covers</vt:lpstr>
      <vt:lpstr>PowerPoint Presentation</vt:lpstr>
      <vt:lpstr>PowerPoint Presentation</vt:lpstr>
      <vt:lpstr>PowerPoint Presentation</vt:lpstr>
      <vt:lpstr>PowerPoint Presentation</vt:lpstr>
      <vt:lpstr>Destruction Records = Evidence</vt:lpstr>
      <vt:lpstr>PowerPoint Presentation</vt:lpstr>
      <vt:lpstr>Developing the AI Security Program Plan</vt:lpstr>
      <vt:lpstr>PowerPoint Presentation</vt:lpstr>
      <vt:lpstr>What This Episode Covers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Four Failure Patterns</vt:lpstr>
      <vt:lpstr>PowerPoint Presentation</vt:lpstr>
      <vt:lpstr>PowerPoint Presentation</vt:lpstr>
      <vt:lpstr>PowerPoint Presentation</vt:lpstr>
      <vt:lpstr>Aligning AI Security with Enterprise InfoSec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Alignment Is an Obligation</vt:lpstr>
      <vt:lpstr>AI Security Team Structure &amp; Proficiencies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Structure = Program Plan</vt:lpstr>
      <vt:lpstr>AI-Enabled Security Tools in the Program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AI Security Metrics: KPIs &amp; KRIs</vt:lpstr>
      <vt:lpstr>KPI vs KRI</vt:lpstr>
      <vt:lpstr>PowerPoint Presentation</vt:lpstr>
      <vt:lpstr>PowerPoint Presentation</vt:lpstr>
      <vt:lpstr>Module-Level 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Recap</vt:lpstr>
      <vt:lpstr>AI Security Metrics: KPIs &amp; KRIs</vt:lpstr>
      <vt:lpstr>KPI vs KRI</vt:lpstr>
      <vt:lpstr>PowerPoint Presentation</vt:lpstr>
      <vt:lpstr>PowerPoint Presentation</vt:lpstr>
      <vt:lpstr>Module-Level 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Recap</vt:lpstr>
      <vt:lpstr>Executive &amp; Management Reporting</vt:lpstr>
      <vt:lpstr>PowerPoint Presentation</vt:lpstr>
      <vt:lpstr>What This Episode Covers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Board Report = Evidence</vt:lpstr>
      <vt:lpstr>PowerPoint Presentation</vt:lpstr>
      <vt:lpstr>PowerPoint Presentation</vt:lpstr>
      <vt:lpstr>PowerPoint Presentation</vt:lpstr>
      <vt:lpstr>Executive &amp; Management Reporting</vt:lpstr>
      <vt:lpstr>PowerPoint Presentation</vt:lpstr>
      <vt:lpstr>What This Episode Covers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Board Report = Evidence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Dana</dc:creator>
  <cp:lastModifiedBy>Dana Barineau</cp:lastModifiedBy>
  <cp:revision>14</cp:revision>
  <cp:lastPrinted>2026-03-03T20:52:42Z</cp:lastPrinted>
  <dcterms:created xsi:type="dcterms:W3CDTF">2025-05-21T23:03:00Z</dcterms:created>
  <dcterms:modified xsi:type="dcterms:W3CDTF">2026-08-11T04:57:32Z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0x010100C634B67D360B774FBA94A353DF812505</vt:lpwstr>
  </property>
</Properties>
</file>