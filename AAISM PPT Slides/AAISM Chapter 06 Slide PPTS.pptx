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4"/>
  </p:sldMasterIdLst>
  <p:notesMasterIdLst>
    <p:notesMasterId r:id="rId87"/>
  </p:notesMasterIdLst>
  <p:handoutMasterIdLst>
    <p:handoutMasterId r:id="rId88"/>
  </p:handoutMasterIdLst>
  <p:sldIdLst>
    <p:sldId id="2580" r:id="rId5"/>
    <p:sldId id="2581" r:id="rId6"/>
    <p:sldId id="2582" r:id="rId7"/>
    <p:sldId id="2583" r:id="rId8"/>
    <p:sldId id="2584" r:id="rId9"/>
    <p:sldId id="2585" r:id="rId10"/>
    <p:sldId id="2586" r:id="rId11"/>
    <p:sldId id="2587" r:id="rId12"/>
    <p:sldId id="2588" r:id="rId13"/>
    <p:sldId id="2589" r:id="rId14"/>
    <p:sldId id="2590" r:id="rId15"/>
    <p:sldId id="2591" r:id="rId16"/>
    <p:sldId id="2592" r:id="rId17"/>
    <p:sldId id="2593" r:id="rId18"/>
    <p:sldId id="2594" r:id="rId19"/>
    <p:sldId id="2595" r:id="rId20"/>
    <p:sldId id="2596" r:id="rId21"/>
    <p:sldId id="2597" r:id="rId22"/>
    <p:sldId id="2598" r:id="rId23"/>
    <p:sldId id="2599" r:id="rId24"/>
    <p:sldId id="2600" r:id="rId25"/>
    <p:sldId id="2601" r:id="rId26"/>
    <p:sldId id="2602" r:id="rId27"/>
    <p:sldId id="2604" r:id="rId28"/>
    <p:sldId id="2605" r:id="rId29"/>
    <p:sldId id="2606" r:id="rId30"/>
    <p:sldId id="2607" r:id="rId31"/>
    <p:sldId id="2608" r:id="rId32"/>
    <p:sldId id="2609" r:id="rId33"/>
    <p:sldId id="2610" r:id="rId34"/>
    <p:sldId id="2611" r:id="rId35"/>
    <p:sldId id="2612" r:id="rId36"/>
    <p:sldId id="2613" r:id="rId37"/>
    <p:sldId id="2614" r:id="rId38"/>
    <p:sldId id="2615" r:id="rId39"/>
    <p:sldId id="2616" r:id="rId40"/>
    <p:sldId id="2617" r:id="rId41"/>
    <p:sldId id="2618" r:id="rId42"/>
    <p:sldId id="2619" r:id="rId43"/>
    <p:sldId id="2620" r:id="rId44"/>
    <p:sldId id="2621" r:id="rId45"/>
    <p:sldId id="2622" r:id="rId46"/>
    <p:sldId id="2623" r:id="rId47"/>
    <p:sldId id="2624" r:id="rId48"/>
    <p:sldId id="2625" r:id="rId49"/>
    <p:sldId id="2626" r:id="rId50"/>
    <p:sldId id="2627" r:id="rId51"/>
    <p:sldId id="2628" r:id="rId52"/>
    <p:sldId id="2629" r:id="rId53"/>
    <p:sldId id="2630" r:id="rId54"/>
    <p:sldId id="2631" r:id="rId55"/>
    <p:sldId id="2632" r:id="rId56"/>
    <p:sldId id="2633" r:id="rId57"/>
    <p:sldId id="2634" r:id="rId58"/>
    <p:sldId id="2635" r:id="rId59"/>
    <p:sldId id="2636" r:id="rId60"/>
    <p:sldId id="2637" r:id="rId61"/>
    <p:sldId id="2638" r:id="rId62"/>
    <p:sldId id="2639" r:id="rId63"/>
    <p:sldId id="2640" r:id="rId64"/>
    <p:sldId id="2641" r:id="rId65"/>
    <p:sldId id="2642" r:id="rId66"/>
    <p:sldId id="2643" r:id="rId67"/>
    <p:sldId id="2644" r:id="rId68"/>
    <p:sldId id="2645" r:id="rId69"/>
    <p:sldId id="2646" r:id="rId70"/>
    <p:sldId id="2647" r:id="rId71"/>
    <p:sldId id="2649" r:id="rId72"/>
    <p:sldId id="2650" r:id="rId73"/>
    <p:sldId id="2651" r:id="rId74"/>
    <p:sldId id="2652" r:id="rId75"/>
    <p:sldId id="2653" r:id="rId76"/>
    <p:sldId id="2654" r:id="rId77"/>
    <p:sldId id="2655" r:id="rId78"/>
    <p:sldId id="2656" r:id="rId79"/>
    <p:sldId id="2657" r:id="rId80"/>
    <p:sldId id="2658" r:id="rId81"/>
    <p:sldId id="2659" r:id="rId82"/>
    <p:sldId id="2660" r:id="rId83"/>
    <p:sldId id="2662" r:id="rId84"/>
    <p:sldId id="2663" r:id="rId85"/>
    <p:sldId id="2664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s" id="{C7096EA7-3C19-4043-8044-919E80557B30}">
          <p14:sldIdLst>
            <p14:sldId id="2580"/>
            <p14:sldId id="2581"/>
            <p14:sldId id="2582"/>
            <p14:sldId id="2583"/>
            <p14:sldId id="2584"/>
            <p14:sldId id="2585"/>
            <p14:sldId id="2586"/>
            <p14:sldId id="2587"/>
            <p14:sldId id="2588"/>
            <p14:sldId id="2589"/>
            <p14:sldId id="2590"/>
            <p14:sldId id="2591"/>
            <p14:sldId id="2592"/>
            <p14:sldId id="2593"/>
            <p14:sldId id="2594"/>
            <p14:sldId id="2595"/>
            <p14:sldId id="2596"/>
            <p14:sldId id="2597"/>
            <p14:sldId id="2598"/>
            <p14:sldId id="2599"/>
            <p14:sldId id="2600"/>
            <p14:sldId id="2601"/>
            <p14:sldId id="2602"/>
            <p14:sldId id="2604"/>
            <p14:sldId id="2605"/>
            <p14:sldId id="2606"/>
            <p14:sldId id="2607"/>
            <p14:sldId id="2608"/>
            <p14:sldId id="2609"/>
            <p14:sldId id="2610"/>
            <p14:sldId id="2611"/>
            <p14:sldId id="2612"/>
            <p14:sldId id="2613"/>
            <p14:sldId id="2614"/>
            <p14:sldId id="2615"/>
            <p14:sldId id="2616"/>
            <p14:sldId id="2617"/>
            <p14:sldId id="2618"/>
            <p14:sldId id="2619"/>
            <p14:sldId id="2620"/>
            <p14:sldId id="2621"/>
            <p14:sldId id="2622"/>
            <p14:sldId id="2623"/>
            <p14:sldId id="2624"/>
            <p14:sldId id="2625"/>
            <p14:sldId id="2626"/>
            <p14:sldId id="2627"/>
            <p14:sldId id="2628"/>
            <p14:sldId id="2629"/>
            <p14:sldId id="2630"/>
            <p14:sldId id="2631"/>
            <p14:sldId id="2632"/>
            <p14:sldId id="2633"/>
            <p14:sldId id="2634"/>
            <p14:sldId id="2635"/>
            <p14:sldId id="2636"/>
            <p14:sldId id="2637"/>
            <p14:sldId id="2638"/>
            <p14:sldId id="2639"/>
            <p14:sldId id="2640"/>
            <p14:sldId id="2641"/>
            <p14:sldId id="2642"/>
            <p14:sldId id="2643"/>
            <p14:sldId id="2644"/>
            <p14:sldId id="2645"/>
            <p14:sldId id="2646"/>
            <p14:sldId id="2647"/>
            <p14:sldId id="2649"/>
            <p14:sldId id="2650"/>
            <p14:sldId id="2651"/>
            <p14:sldId id="2652"/>
            <p14:sldId id="2653"/>
            <p14:sldId id="2654"/>
            <p14:sldId id="2655"/>
            <p14:sldId id="2656"/>
            <p14:sldId id="2657"/>
            <p14:sldId id="2658"/>
            <p14:sldId id="2659"/>
            <p14:sldId id="2660"/>
            <p14:sldId id="2662"/>
            <p14:sldId id="2663"/>
            <p14:sldId id="2664"/>
          </p14:sldIdLst>
        </p14:section>
        <p14:section name="Optional Layouts" id="{06CC3140-8FC6-084B-A5CE-CF002997860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3D"/>
    <a:srgbClr val="6CC24A"/>
    <a:srgbClr val="0079DF"/>
    <a:srgbClr val="0070C0"/>
    <a:srgbClr val="FFFFFF"/>
    <a:srgbClr val="FFC32D"/>
    <a:srgbClr val="00AFEF"/>
    <a:srgbClr val="90C84B"/>
    <a:srgbClr val="F26B35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6866F-F369-6C4B-94E6-25C6930E72F7}" v="3" dt="2026-07-14T16:35:03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0"/>
    <p:restoredTop sz="94658"/>
  </p:normalViewPr>
  <p:slideViewPr>
    <p:cSldViewPr snapToGrid="0">
      <p:cViewPr varScale="1">
        <p:scale>
          <a:sx n="103" d="100"/>
          <a:sy n="103" d="100"/>
        </p:scale>
        <p:origin x="28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3B8AD-5F8A-23D0-2673-45FDB3D7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4C931-9BCA-9162-9D49-5A02AD765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DE03F-3DC2-95FC-2EC2-35154CF235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6A422-833B-CCA5-B74B-A9128D2D2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63873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S Headshot/Dem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401" y="180716"/>
            <a:ext cx="11887199" cy="6496568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D38536-57AB-5EAB-9CE8-9796DAF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160C0A1-5692-F2A8-A18C-A2194E5352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8" y="2286000"/>
            <a:ext cx="10058400" cy="4023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FACEC5-4969-F3A0-4BA7-BFFD024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0B99AC-155F-3A58-AB62-070ACE105579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464553C6-B8E8-FE32-AF30-0A1591CA3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5D9B330B-7590-B21F-FCF4-74387F173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F40F2BA8-9C33-77BE-CC02-0ED983F5F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Multipl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4E4ACA-29F5-C83F-5764-FD89B1F4E828}"/>
              </a:ext>
            </a:extLst>
          </p:cNvPr>
          <p:cNvSpPr/>
          <p:nvPr userDrawn="1"/>
        </p:nvSpPr>
        <p:spPr>
          <a:xfrm>
            <a:off x="7090064" y="1659491"/>
            <a:ext cx="4587898" cy="4415743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9CCDAF-14B9-0D6E-071B-33A6643E178C}"/>
              </a:ext>
            </a:extLst>
          </p:cNvPr>
          <p:cNvCxnSpPr>
            <a:cxnSpLocks/>
          </p:cNvCxnSpPr>
          <p:nvPr/>
        </p:nvCxnSpPr>
        <p:spPr>
          <a:xfrm>
            <a:off x="-4875379" y="6378417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42">
            <a:extLst>
              <a:ext uri="{FF2B5EF4-FFF2-40B4-BE49-F238E27FC236}">
                <a16:creationId xmlns:a16="http://schemas.microsoft.com/office/drawing/2014/main" id="{C7C7C8E9-FEB4-209E-EAD7-6BC6CB8E9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2">
            <a:extLst>
              <a:ext uri="{FF2B5EF4-FFF2-40B4-BE49-F238E27FC236}">
                <a16:creationId xmlns:a16="http://schemas.microsoft.com/office/drawing/2014/main" id="{BC996D52-2E93-F9D8-A886-A01A83DD1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275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2">
            <a:extLst>
              <a:ext uri="{FF2B5EF4-FFF2-40B4-BE49-F238E27FC236}">
                <a16:creationId xmlns:a16="http://schemas.microsoft.com/office/drawing/2014/main" id="{5DC7264E-E2D6-671E-B9C8-A414A85DA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55771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3689FD6F-655A-D6A8-1737-574978BD91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5771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733429DA-67C0-6FE0-823C-85CE3005BA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9275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2">
            <a:extLst>
              <a:ext uri="{FF2B5EF4-FFF2-40B4-BE49-F238E27FC236}">
                <a16:creationId xmlns:a16="http://schemas.microsoft.com/office/drawing/2014/main" id="{F67AE1BD-0EA2-83E4-1CDD-25AA52342B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275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2">
            <a:extLst>
              <a:ext uri="{FF2B5EF4-FFF2-40B4-BE49-F238E27FC236}">
                <a16:creationId xmlns:a16="http://schemas.microsoft.com/office/drawing/2014/main" id="{C55217DB-FE37-17F4-A822-C83DA878DC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55771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2">
            <a:extLst>
              <a:ext uri="{FF2B5EF4-FFF2-40B4-BE49-F238E27FC236}">
                <a16:creationId xmlns:a16="http://schemas.microsoft.com/office/drawing/2014/main" id="{5D503262-4B9C-D6DB-D846-CE6423FFF3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5771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A337E456-4BEB-B2DF-0DF4-D0E9B0DBE4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9275" y="5433775"/>
            <a:ext cx="5439151" cy="294800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8FE9EA60-14EE-1EE6-7912-4994FB26F3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9275" y="5792130"/>
            <a:ext cx="5439151" cy="403534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BCFC70CF-89AB-2A62-E0D7-6008642E6B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59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725A4B-76B5-3FBB-9BAA-70260131915B}"/>
              </a:ext>
            </a:extLst>
          </p:cNvPr>
          <p:cNvSpPr/>
          <p:nvPr userDrawn="1"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4630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19" y="1568741"/>
            <a:ext cx="4847159" cy="460345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9CE33-B8B3-2D75-95E4-7E6D376D8E78}"/>
              </a:ext>
            </a:extLst>
          </p:cNvPr>
          <p:cNvSpPr/>
          <p:nvPr userDrawn="1"/>
        </p:nvSpPr>
        <p:spPr>
          <a:xfrm>
            <a:off x="7327686" y="723129"/>
            <a:ext cx="3817856" cy="5411741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4911D5E0-19C5-9584-815B-507E057942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146586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10C0D632-510F-3DE6-4496-83F41BABFB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375794"/>
            <a:ext cx="6146586" cy="4759075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_with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42">
            <a:extLst>
              <a:ext uri="{FF2B5EF4-FFF2-40B4-BE49-F238E27FC236}">
                <a16:creationId xmlns:a16="http://schemas.microsoft.com/office/drawing/2014/main" id="{16CD5EB2-C966-9CE5-B2EF-DC57A3EDF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08941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4D1CD856-FB4D-247B-850C-15FDC2AE30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941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5EAD42C6-911D-9028-DDDE-ED7EC2EDC6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8941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D564146D-BC49-92E0-396D-89ED83F08F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08941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D767864E-6A31-8E42-F96B-9D66308275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13279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2">
            <a:extLst>
              <a:ext uri="{FF2B5EF4-FFF2-40B4-BE49-F238E27FC236}">
                <a16:creationId xmlns:a16="http://schemas.microsoft.com/office/drawing/2014/main" id="{B5436DB4-D46F-AB47-30BA-CDFFB6B49F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13279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2">
            <a:extLst>
              <a:ext uri="{FF2B5EF4-FFF2-40B4-BE49-F238E27FC236}">
                <a16:creationId xmlns:a16="http://schemas.microsoft.com/office/drawing/2014/main" id="{D2D2CF00-3BEB-912A-7690-FEBD9090DD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13279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2">
            <a:extLst>
              <a:ext uri="{FF2B5EF4-FFF2-40B4-BE49-F238E27FC236}">
                <a16:creationId xmlns:a16="http://schemas.microsoft.com/office/drawing/2014/main" id="{E164BD6D-AECC-321A-E90D-FF1C014386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412933-24E0-59C1-F8F1-B61D91DF16C1}"/>
              </a:ext>
            </a:extLst>
          </p:cNvPr>
          <p:cNvSpPr/>
          <p:nvPr userDrawn="1"/>
        </p:nvSpPr>
        <p:spPr>
          <a:xfrm>
            <a:off x="6235083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768A1-D02A-96FE-29B5-D21CCF781C0D}"/>
              </a:ext>
            </a:extLst>
          </p:cNvPr>
          <p:cNvSpPr/>
          <p:nvPr userDrawn="1"/>
        </p:nvSpPr>
        <p:spPr>
          <a:xfrm>
            <a:off x="830745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9C4F6D-A0FC-D651-701A-2830B673DC51}"/>
              </a:ext>
            </a:extLst>
          </p:cNvPr>
          <p:cNvSpPr/>
          <p:nvPr userDrawn="1"/>
        </p:nvSpPr>
        <p:spPr>
          <a:xfrm>
            <a:off x="6235083" y="2081241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A3E61-FBF4-0B4E-E307-2D0CFB2383AB}"/>
              </a:ext>
            </a:extLst>
          </p:cNvPr>
          <p:cNvSpPr/>
          <p:nvPr userDrawn="1"/>
        </p:nvSpPr>
        <p:spPr>
          <a:xfrm>
            <a:off x="830745" y="2081241"/>
            <a:ext cx="2739716" cy="173022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EF3240BB-1BE2-D3FA-71B3-6B911A3158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CA91-7871-7EEF-850C-A2E07805476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44126652-E4C7-3337-7D65-36D70EF9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C7837FF-55AE-5C42-0052-95B901085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5">
              <a:extLst>
                <a:ext uri="{FF2B5EF4-FFF2-40B4-BE49-F238E27FC236}">
                  <a16:creationId xmlns:a16="http://schemas.microsoft.com/office/drawing/2014/main" id="{158A825B-27A9-8B2F-5DA2-60C926A3A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81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6" grpId="0" animBg="1"/>
      <p:bldP spid="10" grpId="0" animBg="1"/>
      <p:bldP spid="4" grpId="0" animBg="1"/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Top with Text O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399" y="164032"/>
            <a:ext cx="11887199" cy="404670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687536"/>
            <a:ext cx="9973455" cy="9387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5656642"/>
            <a:ext cx="9973455" cy="45720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007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HS 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A245D79-8386-DABE-53EC-D23D2D196FB9}"/>
              </a:ext>
            </a:extLst>
          </p:cNvPr>
          <p:cNvSpPr/>
          <p:nvPr userDrawn="1"/>
        </p:nvSpPr>
        <p:spPr>
          <a:xfrm>
            <a:off x="1316427" y="1655064"/>
            <a:ext cx="3649273" cy="3649272"/>
          </a:xfrm>
          <a:prstGeom prst="ellipse">
            <a:avLst/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F46A82-71BF-F4CF-0CCA-F8EDE46E1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891" y="685800"/>
            <a:ext cx="5910407" cy="175259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C3E55B71-84F9-223B-46EC-202E6DCC1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8946" y="2971800"/>
            <a:ext cx="5910417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1F9AE9-4D1B-F10A-6C35-328127A9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/H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F39E82-A876-DB43-2155-B467EEC7495E}"/>
              </a:ext>
            </a:extLst>
          </p:cNvPr>
          <p:cNvSpPr/>
          <p:nvPr userDrawn="1"/>
        </p:nvSpPr>
        <p:spPr>
          <a:xfrm>
            <a:off x="7010401" y="1721141"/>
            <a:ext cx="4571999" cy="4154370"/>
          </a:xfrm>
          <a:prstGeom prst="roundRect">
            <a:avLst>
              <a:gd name="adj" fmla="val 3969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FD2888-AFCC-8F6C-23EA-6CC9E518F2B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4430" y="1721141"/>
            <a:ext cx="5977130" cy="41562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D7B2E1-3857-60DC-4A59-90051A146598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695288CE-EA3E-77BC-98EF-17D52D2BB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6906A4B7-5DDC-1476-CFD5-2F5DFFD4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4375CD8A-A423-E39D-3A64-2E26D3323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D01C904B-D90B-04B0-5AA7-E2CF9756D8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1007970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B80538-E0C0-8B37-2CBC-715464F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C0431DD-A630-224B-A787-6BF3732EE1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9CDF450-BB1A-E96B-F44C-F881C731657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2D18C-90AA-6695-2849-42F0DF3B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pisode Title"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EC42AA-27BF-B007-BB04-09C8C9EC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24" y="1821900"/>
            <a:ext cx="10058376" cy="230332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2356A-0FAC-18A7-430E-172D662A1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24" y="4337220"/>
            <a:ext cx="8229593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4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n'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35440-213B-C667-2EBF-8629860DBD4D}"/>
              </a:ext>
            </a:extLst>
          </p:cNvPr>
          <p:cNvSpPr/>
          <p:nvPr userDrawn="1"/>
        </p:nvSpPr>
        <p:spPr>
          <a:xfrm>
            <a:off x="645111" y="1476738"/>
            <a:ext cx="4039848" cy="471694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>
            <a:noFill/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183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Image_with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42">
            <a:extLst>
              <a:ext uri="{FF2B5EF4-FFF2-40B4-BE49-F238E27FC236}">
                <a16:creationId xmlns:a16="http://schemas.microsoft.com/office/drawing/2014/main" id="{16CD5EB2-C966-9CE5-B2EF-DC57A3EDF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08941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4D1CD856-FB4D-247B-850C-15FDC2AE30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941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5EAD42C6-911D-9028-DDDE-ED7EC2EDC6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8941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D564146D-BC49-92E0-396D-89ED83F08F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08941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D767864E-6A31-8E42-F96B-9D66308275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13279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2">
            <a:extLst>
              <a:ext uri="{FF2B5EF4-FFF2-40B4-BE49-F238E27FC236}">
                <a16:creationId xmlns:a16="http://schemas.microsoft.com/office/drawing/2014/main" id="{B5436DB4-D46F-AB47-30BA-CDFFB6B49F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13279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768A1-D02A-96FE-29B5-D21CCF781C0D}"/>
              </a:ext>
            </a:extLst>
          </p:cNvPr>
          <p:cNvSpPr/>
          <p:nvPr userDrawn="1"/>
        </p:nvSpPr>
        <p:spPr>
          <a:xfrm>
            <a:off x="830745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9C4F6D-A0FC-D651-701A-2830B673DC51}"/>
              </a:ext>
            </a:extLst>
          </p:cNvPr>
          <p:cNvSpPr/>
          <p:nvPr userDrawn="1"/>
        </p:nvSpPr>
        <p:spPr>
          <a:xfrm>
            <a:off x="6235083" y="2081241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A3E61-FBF4-0B4E-E307-2D0CFB2383AB}"/>
              </a:ext>
            </a:extLst>
          </p:cNvPr>
          <p:cNvSpPr/>
          <p:nvPr userDrawn="1"/>
        </p:nvSpPr>
        <p:spPr>
          <a:xfrm>
            <a:off x="830745" y="2081241"/>
            <a:ext cx="2739716" cy="173022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EF3240BB-1BE2-D3FA-71B3-6B911A3158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CA91-7871-7EEF-850C-A2E07805476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44126652-E4C7-3337-7D65-36D70EF9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C7837FF-55AE-5C42-0052-95B901085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5">
              <a:extLst>
                <a:ext uri="{FF2B5EF4-FFF2-40B4-BE49-F238E27FC236}">
                  <a16:creationId xmlns:a16="http://schemas.microsoft.com/office/drawing/2014/main" id="{158A825B-27A9-8B2F-5DA2-60C926A3A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577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/>
      <p:bldP spid="10" grpId="0" animBg="1"/>
      <p:bldP spid="4" grpId="0" animBg="1"/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95401-05E7-2FB1-B1F7-AA9B27AD522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1" y="0"/>
            <a:ext cx="12223751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E2FF643-8127-476F-F25A-C06D0551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93BF79-CC69-E772-9BF9-DAB9ECC0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8FE52-BA7D-6403-12A9-AB2F150B7C18}"/>
              </a:ext>
            </a:extLst>
          </p:cNvPr>
          <p:cNvCxnSpPr>
            <a:cxnSpLocks/>
          </p:cNvCxnSpPr>
          <p:nvPr/>
        </p:nvCxnSpPr>
        <p:spPr>
          <a:xfrm>
            <a:off x="838200" y="6336472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row of different colors&#10;&#10;AI-generated content may be incorrect.">
            <a:extLst>
              <a:ext uri="{FF2B5EF4-FFF2-40B4-BE49-F238E27FC236}">
                <a16:creationId xmlns:a16="http://schemas.microsoft.com/office/drawing/2014/main" id="{51267AAB-D7A7-4439-B78C-82E20D4F0A19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5066" y="2457681"/>
            <a:ext cx="6867093" cy="19517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86F249-C031-21A6-4EBB-289339D6FBB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97A1ACA9-1A1F-C402-ABCA-CE07E1AF3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348E2D1C-60C8-B3BB-2FD2-73893F612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C29DD7D2-2DD0-8394-2C58-02C9D289F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908" r:id="rId2"/>
    <p:sldLayoutId id="2147483960" r:id="rId3"/>
    <p:sldLayoutId id="2147483916" r:id="rId4"/>
    <p:sldLayoutId id="2147483965" r:id="rId5"/>
    <p:sldLayoutId id="2147483967" r:id="rId6"/>
    <p:sldLayoutId id="2147483975" r:id="rId7"/>
    <p:sldLayoutId id="2147483903" r:id="rId8"/>
    <p:sldLayoutId id="2147483923" r:id="rId9"/>
    <p:sldLayoutId id="2147483939" r:id="rId10"/>
    <p:sldLayoutId id="2147483969" r:id="rId11"/>
    <p:sldLayoutId id="2147483958" r:id="rId12"/>
    <p:sldLayoutId id="214748397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/>
          </a:solidFill>
          <a:latin typeface="Segoe Sans Text ExtraBold" pitchFamily="2" charset="0"/>
          <a:ea typeface="+mj-ea"/>
          <a:cs typeface="Segoe Sans Text ExtraBold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6CC24A"/>
          </p15:clr>
        </p15:guide>
        <p15:guide id="2" pos="3840" userDrawn="1">
          <p15:clr>
            <a:srgbClr val="6CC24A"/>
          </p15:clr>
        </p15:guide>
        <p15:guide id="3" pos="7296" userDrawn="1">
          <p15:clr>
            <a:srgbClr val="6CC24A"/>
          </p15:clr>
        </p15:guide>
        <p15:guide id="4" pos="384" userDrawn="1">
          <p15:clr>
            <a:srgbClr val="6CC24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Model Testing, Regression &amp; TEVV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06 · Episode 1 — Dr. Michael Solomon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Three Testing Cadences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Pre-deployment — full suite before architecture review closes</a:t>
            </a:r>
          </a:p>
          <a:p>
            <a:r>
              <a:t>Periodic production — tier 1 quarterly, tier 2 semiannual</a:t>
            </a:r>
          </a:p>
          <a:p>
            <a:r>
              <a:t>Incident-triggered — out-of-cycle before return to 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What This Episode Proves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Why accuracy alone is insufficient for security</a:t>
            </a:r>
          </a:p>
          <a:p>
            <a:r>
              <a:t>Security-aware evaluation metrics</a:t>
            </a:r>
          </a:p>
          <a:p>
            <a:r>
              <a:t>Adversarial robustness testing</a:t>
            </a:r>
          </a:p>
          <a:p>
            <a:r>
              <a:t>Evaluation as a continuous control, not a one-time gate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Accuracy = average performance on the test distribution</a:t>
            </a:r>
          </a:p>
          <a:p>
            <a:r>
              <a:t>Security = resilience under adversarial pressure</a:t>
            </a:r>
          </a:p>
          <a:p>
            <a:r>
              <a:t>A 97%-accurate IDS can still be trivially evaded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ACCURATE ≠ SECURE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Metrics Must Reflect Asymmetry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 false positive inconveniences; a false negative enables a breach</a:t>
            </a:r>
          </a:p>
          <a:p>
            <a:r>
              <a:t>Precision &amp; recall matter more than overall accuracy</a:t>
            </a:r>
          </a:p>
          <a:p>
            <a:r>
              <a:t>FN rate on highest-severity threats = security posture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Independent Evaluation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Train/eval independence is non-negotiable</a:t>
            </a:r>
          </a:p>
          <a:p>
            <a:r>
              <a:t>Holdout sets are the only honest baseline</a:t>
            </a:r>
          </a:p>
          <a:p>
            <a:r>
              <a:t>Cross-validation catches overfitting holdout misses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Evaluation Bias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Clean lab data fails on noisy production data</a:t>
            </a:r>
          </a:p>
          <a:p>
            <a:r>
              <a:t>Include edge cases, out-of-distribution inputs, realistic noise</a:t>
            </a:r>
          </a:p>
          <a:p>
            <a:r>
              <a:t>Why models that pass testing degrade after 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Adversarial Robustness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Adversarial-example testing probes decision boundaries</a:t>
            </a:r>
          </a:p>
          <a:p>
            <a:r>
              <a:t>Stress testing — unusual formats, extreme/ambiguous inputs</a:t>
            </a:r>
          </a:p>
          <a:p>
            <a:r>
              <a:t>Red teaming — injection, prompt extraction, jailbreak, leakage</a:t>
            </a:r>
          </a:p>
          <a:p>
            <a:r>
              <a:t>Guardrail validation under adversarial pressure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Bias, Fairness &amp; Explainability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Bias is a security vulnerability — a known evasion path</a:t>
            </a:r>
          </a:p>
          <a:p>
            <a:r>
              <a:t>Inconsistent fairness is what attackers look for</a:t>
            </a:r>
          </a:p>
          <a:p>
            <a:r>
              <a:t>Explainability enables root-cause of unexpected outputs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Evaluation Is Continuous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Not a pre-deployment gate — a continuous control</a:t>
            </a:r>
          </a:p>
          <a:p>
            <a:r>
              <a:t>Post-deploy monitoring: drift, confidence, anomaly rates</a:t>
            </a:r>
          </a:p>
          <a:p>
            <a:r>
              <a:t>Regression test after retrain, fine-tune, prune, quantize</a:t>
            </a:r>
          </a:p>
          <a:p>
            <a:r>
              <a:t>Each optimization is a new deployment event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Findings above threshold become risk-register entries</a:t>
            </a:r>
          </a:p>
          <a:p>
            <a:r>
              <a:t>V&amp;V completion gates the architecture-review checklist</a:t>
            </a:r>
          </a:p>
          <a:p>
            <a:r>
              <a:t>Mandatory for high-risk AI under the EU AI 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TEVV = DEPLOYMENT GATE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Encryption: Data at Every Stage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Training data, model artifacts, inference — all sensitive</a:t>
            </a:r>
          </a:p>
          <a:p>
            <a:r>
              <a:t>Three states: at rest, in transit, in use</a:t>
            </a:r>
          </a:p>
          <a:p>
            <a:r>
              <a:t>The exam tests all three independently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Encryption at Rest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Encrypt training data, corpora, vector DBs, model weights</a:t>
            </a:r>
          </a:p>
          <a:p>
            <a:r>
              <a:t>Storage-level + application-level layers</a:t>
            </a:r>
          </a:p>
          <a:p>
            <a:r>
              <a:t>Key governance: isolate keys from data; KMS rotation</a:t>
            </a:r>
          </a:p>
          <a:p>
            <a:r>
              <a:t>Readable data on stolen media = at-rest failure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Encryption in Transit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TLS for all distributed AI communication — a rule, not advice</a:t>
            </a:r>
          </a:p>
          <a:p>
            <a:r>
              <a:t>Mutual authentication for service-to-service</a:t>
            </a:r>
          </a:p>
          <a:p>
            <a:r>
              <a:t>Certificate-lifecycle management; zero-trust internally</a:t>
            </a:r>
          </a:p>
          <a:p>
            <a:r>
              <a:t>Intercepted traffic = in-transit failure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Encryption in 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Confidential computing / trusted execution environments</a:t>
            </a:r>
          </a:p>
          <a:p>
            <a:r>
              <a:t>Isolates memory in multi-tenant cloud</a:t>
            </a:r>
          </a:p>
          <a:p>
            <a:r>
              <a:t>Homomorphic encryption — compute on encrypted data</a:t>
            </a:r>
          </a:p>
          <a:p>
            <a:r>
              <a:t>Leakage despite rest + transit = in-use lacking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Key Governance &amp;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Key rotation, revocation, crypto-operation logging</a:t>
            </a:r>
          </a:p>
          <a:p>
            <a:r>
              <a:t>Regulatory alignment for protected data categories</a:t>
            </a:r>
          </a:p>
          <a:p>
            <a:r>
              <a:t>Encryption without key governance is insufficient</a:t>
            </a:r>
          </a:p>
          <a:p>
            <a:r>
              <a:t>One layer of defense-in-depth, not a standalone answer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Testing &amp; TEVV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Five testing categories: functional, performance, adversarial, fairness, regression</a:t>
            </a:r>
          </a:p>
          <a:p>
            <a:r>
              <a:t>TEVV + the V&amp;V distinction</a:t>
            </a:r>
          </a:p>
          <a:p>
            <a:r>
              <a:t>Regression testing is a mandatory gate after every material 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Data Management Controls &amp; Data Poisoning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06 · Episode 2 — Dr. Michael Solomon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Data Governance — Program Connections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Classification aligns with AI-asset-inventory tiers</a:t>
            </a:r>
          </a:p>
          <a:p>
            <a:r>
              <a:t>Access controls reflected in per-system specs</a:t>
            </a:r>
          </a:p>
          <a:p>
            <a:r>
              <a:t>Retention consistent with the training-data license register</a:t>
            </a:r>
          </a:p>
          <a:p>
            <a:r>
              <a:t>Owned by the AI Compliance Analyst — not a standalone IT policy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Why Data Is a Security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Bad data creates bad models</a:t>
            </a:r>
          </a:p>
          <a:p>
            <a:r>
              <a:t>Compromised data creates compromised models</a:t>
            </a:r>
          </a:p>
          <a:p>
            <a:r>
              <a:t>Objectives: seven controls, quality → security, pipeline integrity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9442" y="731520"/>
            <a:ext cx="10446658" cy="962590"/>
          </a:xfrm>
        </p:spPr>
        <p:txBody>
          <a:bodyPr>
            <a:normAutofit/>
          </a:bodyPr>
          <a:lstStyle/>
          <a:p>
            <a:r>
              <a:rPr sz="4000" dirty="0"/>
              <a:t>Traditional AppSec vs AI Data-Origin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Traditional AppSec: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Vulnerability lives in the code</a:t>
            </a:r>
          </a:p>
          <a:p>
            <a:r>
              <a:rPr sz="2000">
                <a:latin typeface="Segoe Sans Text"/>
                <a:cs typeface="Segoe Sans Text"/>
              </a:rPr>
              <a:t>Fix = patch the code</a:t>
            </a:r>
          </a:p>
          <a:p>
            <a:r>
              <a:rPr sz="2000">
                <a:latin typeface="Segoe Sans Text"/>
                <a:cs typeface="Segoe Sans Text"/>
              </a:rPr>
              <a:t>Auditable — read the source</a:t>
            </a:r>
          </a:p>
          <a:p>
            <a:r>
              <a:rPr sz="2000">
                <a:latin typeface="Segoe Sans Text"/>
                <a:cs typeface="Segoe Sans Text"/>
              </a:rPr>
              <a:t>Point-in-time fixes</a:t>
            </a:r>
          </a:p>
          <a:p>
            <a:r>
              <a:rPr sz="2000">
                <a:latin typeface="Segoe Sans Text"/>
                <a:cs typeface="Segoe Sans Text"/>
              </a:rPr>
              <a:t>Attack surface = running app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AI Data-Origin: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Encoded in model weights</a:t>
            </a:r>
          </a:p>
          <a:p>
            <a:r>
              <a:rPr sz="2000">
                <a:latin typeface="Segoe Sans Text"/>
                <a:cs typeface="Segoe Sans Text"/>
              </a:rPr>
              <a:t>Fix = full retraining</a:t>
            </a:r>
          </a:p>
          <a:p>
            <a:r>
              <a:rPr sz="2000">
                <a:latin typeface="Segoe Sans Text"/>
                <a:cs typeface="Segoe Sans Text"/>
              </a:rPr>
              <a:t>Opaque — can't read weights</a:t>
            </a:r>
          </a:p>
          <a:p>
            <a:r>
              <a:rPr sz="2000">
                <a:latin typeface="Segoe Sans Text"/>
                <a:cs typeface="Segoe Sans Text"/>
              </a:rPr>
              <a:t>Found in production</a:t>
            </a:r>
          </a:p>
          <a:p>
            <a:r>
              <a:rPr sz="2000">
                <a:latin typeface="Segoe Sans Text"/>
                <a:cs typeface="Segoe Sans Text"/>
              </a:rPr>
              <a:t>Attack surface = training pipeline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Prevention before training is the only cost-effective control</a:t>
            </a:r>
          </a:p>
          <a:p>
            <a:r>
              <a:t>Data-processing controls ARE security 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PREVENT BEFORE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1 Cleansing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Remove invalid / duplicate / injected records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2 Verification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Confirm records are authentic (semantic)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3 Lineage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Track journey source → training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4 Integrity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Checksums/hashes — unmodified since collection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Seven Data Controls · 1–4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7D3D-5692-56B1-3D86-A26A4DF3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92F757-D3B1-303E-089F-1C4EC4DED8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>
                <a:latin typeface="Segoe Sans Text"/>
                <a:cs typeface="Segoe Sans Text"/>
              </a:rPr>
              <a:t>1 </a:t>
            </a:r>
            <a:r>
              <a:rPr lang="en-US">
                <a:latin typeface="Segoe Sans Text"/>
                <a:cs typeface="Segoe Sans Text"/>
              </a:rPr>
              <a:t>Provenance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A8B98-6CF5-15DB-1B3A-05A008501F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egoe Sans Text"/>
                <a:cs typeface="Segoe Sans Text"/>
              </a:rPr>
              <a:t>Original source legitimacy + authorization 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40436-9130-3C30-FF47-BC592796FF2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>
                <a:latin typeface="Segoe Sans Text"/>
                <a:cs typeface="Segoe Sans Text"/>
              </a:rPr>
              <a:t>2 </a:t>
            </a:r>
            <a:r>
              <a:rPr lang="en-US">
                <a:latin typeface="Segoe Sans Text"/>
                <a:cs typeface="Segoe Sans Text"/>
              </a:rPr>
              <a:t>Augmentation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F3565-8BDC-B98C-9413-23A3CD0547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egoe Sans Text"/>
                <a:cs typeface="Segoe Sans Text"/>
              </a:rPr>
              <a:t>Review augmented samples for accuracy/bias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DA9BDF-5E87-639C-26B6-D74FE70BC8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>
                <a:latin typeface="Segoe Sans Text"/>
                <a:cs typeface="Segoe Sans Text"/>
              </a:rPr>
              <a:t>3 </a:t>
            </a:r>
            <a:r>
              <a:rPr lang="en-US">
                <a:latin typeface="Segoe Sans Text"/>
                <a:cs typeface="Segoe Sans Text"/>
              </a:rPr>
              <a:t>Balancing</a:t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C44AEB-6244-8F35-7F07-FA92E52497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egoe Sans Text"/>
                <a:cs typeface="Segoe Sans Text"/>
              </a:rPr>
              <a:t>Proportional class </a:t>
            </a:r>
            <a:r>
              <a:rPr lang="en-US">
                <a:latin typeface="Segoe Sans Text"/>
                <a:cs typeface="Segoe Sans Text"/>
              </a:rPr>
              <a:t>representation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8C705D-002C-0DDF-1156-F19A780FA3E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Seven Data Controls · 5–7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63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Controls 1–4 in Depth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Cleansing — structurally valid ≠ safe</a:t>
            </a:r>
          </a:p>
          <a:p>
            <a:r>
              <a:t>Verification — catches semantic fakes cleansing misses</a:t>
            </a:r>
          </a:p>
          <a:p>
            <a:r>
              <a:t>Lineage — evidence chain for in-transit modification</a:t>
            </a:r>
          </a:p>
          <a:p>
            <a:r>
              <a:t>Provenance — trusted source + license (EU AI Act)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Integrity &amp; Provenance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Hash or sign at collection; verify before training</a:t>
            </a:r>
          </a:p>
          <a:p>
            <a:r>
              <a:t>Checksums simplest; cryptographic signatures stronger</a:t>
            </a:r>
          </a:p>
          <a:p>
            <a:r>
              <a:t>Provenance = security + compliance (EU AI Act, GDPR)</a:t>
            </a:r>
          </a:p>
          <a:p>
            <a:r>
              <a:t>Provenance documents are part of the audit trail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Augmentation &amp; Balancing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Augmentation can introduce systematic distortion</a:t>
            </a:r>
          </a:p>
          <a:p>
            <a:r>
              <a:t>Review augmented samples stay unambiguous</a:t>
            </a:r>
          </a:p>
          <a:p>
            <a:r>
              <a:t>10,000 : 100 balance = a false-negative factory</a:t>
            </a:r>
          </a:p>
          <a:p>
            <a:r>
              <a:t>Imbalance creates predictable blind spots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Proactive: evidence base for the license register</a:t>
            </a:r>
          </a:p>
          <a:p>
            <a:r>
              <a:t>Reactive: primary forensic artifact for poisoning</a:t>
            </a:r>
          </a:p>
          <a:p>
            <a:r>
              <a:t>Store write-once / immutable; preserve before remediation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PROVENANCE = LICENSE + FORENSICS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Data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Structured — PII memorization risk</a:t>
            </a:r>
          </a:p>
          <a:p>
            <a:r>
              <a:t>Semi-structured — schema inconsistency fools cleansing</a:t>
            </a:r>
          </a:p>
          <a:p>
            <a:r>
              <a:t>Unstructured — highest risk; extractable via prompting</a:t>
            </a:r>
          </a:p>
          <a:p>
            <a:r>
              <a:t>Classify + redact before training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>
          <a:xfrm>
            <a:off x="574430" y="723129"/>
            <a:ext cx="7147169" cy="652665"/>
          </a:xfrm>
        </p:spPr>
        <p:txBody>
          <a:bodyPr/>
          <a:lstStyle/>
          <a:p>
            <a:r>
              <a:rPr sz="2800" dirty="0"/>
              <a:t>Retrieval-Augmented </a:t>
            </a:r>
            <a:br>
              <a:rPr lang="en-US" sz="2800" dirty="0"/>
            </a:br>
            <a:r>
              <a:rPr sz="2800" dirty="0"/>
              <a:t>Generation (RAG)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Augments responses with retrieved external knowledge</a:t>
            </a:r>
          </a:p>
          <a:p>
            <a:r>
              <a:rPr dirty="0"/>
              <a:t>Query → embedding → vector search → context → response</a:t>
            </a:r>
          </a:p>
          <a:p>
            <a:r>
              <a:rPr dirty="0"/>
              <a:t>Update knowledge without retraining the model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Query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Crafted query retrieves sensitive docs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Retrieval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Poisoned knowledge base = indirect injection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Augmentation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Model can't tell trusted from hostile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Generation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Retrieved sensitive content leaks in output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4D7FFD-B622-B358-CDC8-05EB0290E3B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RAG Attack Surface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RAG Controls &amp; Embeddings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Vector-DB access control; validate before injection</a:t>
            </a:r>
          </a:p>
          <a:p>
            <a:r>
              <a:t>Output filtering; scope retrieval by user permission</a:t>
            </a:r>
          </a:p>
          <a:p>
            <a:r>
              <a:t>Embeddings encode semantic meaning as vectors</a:t>
            </a:r>
          </a:p>
          <a:p>
            <a:r>
              <a:t>Similar concepts sit near each other in vector space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Vector Stores &amp; Watermarking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Vector-store access control = document access control</a:t>
            </a:r>
          </a:p>
          <a:p>
            <a:r>
              <a:t>A compromised vector store enables targeted retrieval</a:t>
            </a:r>
          </a:p>
          <a:p>
            <a:r>
              <a:t>Training-data watermarking detects unauthorized dataset use</a:t>
            </a:r>
          </a:p>
          <a:p>
            <a:r>
              <a:t>Model-output watermarking marks &amp; traces AI content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Five Data-Poisoning Response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1 Classify as Category A + assess severity</a:t>
            </a:r>
          </a:p>
          <a:p>
            <a:r>
              <a:t>2 Preserve evidence (provenance, weights) first</a:t>
            </a:r>
          </a:p>
          <a:p>
            <a:r>
              <a:t>3 Red-button activation if in production</a:t>
            </a:r>
          </a:p>
          <a:p>
            <a:r>
              <a:t>4 Forensics — affected batches, versions, outputs</a:t>
            </a:r>
          </a:p>
          <a:p>
            <a:r>
              <a:t>5 Recovery — rollback if clean; retrain if integrity unconfirmed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Encryption protects confidentiality; integrity protects trust</a:t>
            </a:r>
          </a:p>
          <a:p>
            <a:r>
              <a:t>A silently modified dataset can be catastrophic</a:t>
            </a:r>
          </a:p>
          <a:p>
            <a:r>
              <a:t>Enforce integrity across the entire 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INTEGRITY ≠ CONFIDENTIALITY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Integrity 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Cryptographic hashing fingerprints dataset state</a:t>
            </a:r>
          </a:p>
          <a:p>
            <a:r>
              <a:t>Immutable / write-once storage; change-detection alerts</a:t>
            </a:r>
          </a:p>
          <a:p>
            <a:r>
              <a:t>Version control for reproducible dataset states</a:t>
            </a:r>
          </a:p>
          <a:p>
            <a:r>
              <a:t>Reproducibility is essential for forensic retraining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B4447-C5A7-806E-D22B-9B60534C7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Output Protection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Output validation — unaltered before users/workflows</a:t>
            </a:r>
          </a:p>
          <a:p>
            <a:r>
              <a:t>Secure logging — append-only, timestamped, verifiable</a:t>
            </a:r>
          </a:p>
          <a:p>
            <a:r>
              <a:t>Digital signatures on high-value outputs</a:t>
            </a:r>
          </a:p>
          <a:p>
            <a:r>
              <a:t>Altered AI evidence = insufficient logging integrity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Authenticity &amp; Provenance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Watermarking distinguishes authentic from manipulated output</a:t>
            </a:r>
          </a:p>
          <a:p>
            <a:r>
              <a:t>Provenance tracks dataset origin + training lineage</a:t>
            </a:r>
          </a:p>
          <a:p>
            <a:r>
              <a:t>Detect unauthorized model reuse via provenance comparison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Continuous Integrity Monitoring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Anomaly detection on datasets, configs, parameters</a:t>
            </a:r>
          </a:p>
          <a:p>
            <a:r>
              <a:t>Drift without authorized retraining may signal tampering</a:t>
            </a:r>
          </a:p>
          <a:p>
            <a:r>
              <a:t>Rollback to known-good states; integrate with incident response</a:t>
            </a:r>
          </a:p>
          <a:p>
            <a:r>
              <a:t>Detection alone is insufficient without restoration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Data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Data-governance policy program connections</a:t>
            </a:r>
          </a:p>
          <a:p>
            <a:r>
              <a:t>Provenance is immutable + required for the license register</a:t>
            </a:r>
          </a:p>
          <a:p>
            <a:r>
              <a:t>Data poisoning = Category A — the highest-impact attack</a:t>
            </a:r>
          </a:p>
          <a:p>
            <a:r>
              <a:t>Five data-poisoning response steps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Privacy, Ethical &amp; Trust Controls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06 · Episode 3 — Dr. Michael Solomon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Every principle needs a testable control</a:t>
            </a:r>
          </a:p>
          <a:p>
            <a:r>
              <a:t>Five elements: control, metric, threshold, cadence, owner</a:t>
            </a:r>
          </a:p>
          <a:p>
            <a:r>
              <a:t>Principles without these are just intentions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ASPIRATIONAL vs TESTABLE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Five Responsible-AI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Fairness</a:t>
            </a:r>
          </a:p>
          <a:p>
            <a:r>
              <a:t>Transparency</a:t>
            </a:r>
          </a:p>
          <a:p>
            <a:r>
              <a:t>Privacy</a:t>
            </a:r>
          </a:p>
          <a:p>
            <a:r>
              <a:t>Explainability</a:t>
            </a:r>
          </a:p>
          <a:p>
            <a:r>
              <a:t>Accountability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Fairness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Demographic parity — equal positive-outcome rates</a:t>
            </a:r>
          </a:p>
          <a:p>
            <a:r>
              <a:t>Equal opportunity — equal error rates (esp. false negatives)</a:t>
            </a:r>
          </a:p>
          <a:p>
            <a:r>
              <a:t>Violated when rates differ without legitimate justification</a:t>
            </a:r>
          </a:p>
          <a:p>
            <a:r>
              <a:t>e.g. fraud flagging skewed across groups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Transparency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Communicate existence, purpose, capabilities, limits</a:t>
            </a:r>
          </a:p>
          <a:p>
            <a:r>
              <a:t>Not full disclosure of model internals</a:t>
            </a:r>
          </a:p>
          <a:p>
            <a:r>
              <a:t>Regulated: credit, healthcare, employment</a:t>
            </a:r>
          </a:p>
          <a:p>
            <a:r>
              <a:t>Violated when decision-making is hidden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Privacy — Three AI-Specific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Inference attacks — infer sensitive attributes</a:t>
            </a:r>
          </a:p>
          <a:p>
            <a:r>
              <a:t>Training-data memorization — reproduce personal data</a:t>
            </a:r>
          </a:p>
          <a:p>
            <a:r>
              <a:t>Re-identification of anonymized data via correlation</a:t>
            </a:r>
          </a:p>
          <a:p>
            <a:r>
              <a:t>Privacy by design: minimization, purpose limits, consent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Explainability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Meaningful human account of a specific decision</a:t>
            </a:r>
          </a:p>
          <a:p>
            <a:r>
              <a:t>Explainability ≠ interpretability (full internals)</a:t>
            </a:r>
          </a:p>
          <a:p>
            <a:r>
              <a:t>LIME — local approximation with a simpler model</a:t>
            </a:r>
          </a:p>
          <a:p>
            <a:r>
              <a:t>SHAP — feature-contribution scores via game theory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Accountability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Clear role ownership + audit trails</a:t>
            </a:r>
          </a:p>
          <a:p>
            <a:r>
              <a:t>Governance that attributes decisions to responsible parties</a:t>
            </a:r>
          </a:p>
          <a:p>
            <a:r>
              <a:t>Completes the responsible-AI framework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· Responsible-AI Scorecard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Evaluate an AI system against all five principles in Google Colab — fairness (parity + equal opportunity), the three privacy risks, and LIME/SHAP — producing a compliance scorecard.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Exam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Five principles — definition, implementation, violation each</a:t>
            </a:r>
          </a:p>
          <a:p>
            <a:r>
              <a:t>Fairness: demographic parity vs equal opportunity</a:t>
            </a:r>
          </a:p>
          <a:p>
            <a:r>
              <a:t>Privacy: three risks beyond compliance</a:t>
            </a:r>
          </a:p>
          <a:p>
            <a:r>
              <a:t>LIME (local approx) vs SHAP (feature contribution)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Governance obligations with legal grounding</a:t>
            </a:r>
          </a:p>
          <a:p>
            <a:r>
              <a:t>Explainability without testing fails Article 22</a:t>
            </a:r>
          </a:p>
          <a:p>
            <a:r>
              <a:t>Two legal explainability obligations — documented per 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FAIRNESS WITHOUT A METRIC = INTENT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Legal Explainability Obligations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GDPR Article 22 — meaningful explanation for automated decisions</a:t>
            </a:r>
          </a:p>
          <a:p>
            <a:r>
              <a:t>EU AI Act — inform individuals + provide the logic</a:t>
            </a:r>
          </a:p>
          <a:p>
            <a:r>
              <a:t>A SHAP viz that isn't plain language fails Article 22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 Documentation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Responsible-AI policy with testable controls</a:t>
            </a:r>
          </a:p>
          <a:p>
            <a:r>
              <a:t>Fairness-assessment record</a:t>
            </a:r>
          </a:p>
          <a:p>
            <a:r>
              <a:t>DPA + FRIA together</a:t>
            </a:r>
          </a:p>
          <a:p>
            <a:r>
              <a:t>Explainability-mechanism specification</a:t>
            </a:r>
          </a:p>
          <a:p>
            <a:r>
              <a:t>Trustworthiness assessment + ethics-review record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DPA + FRIA &amp; US Context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DPA + FRIA both required for high-risk personal data</a:t>
            </a:r>
          </a:p>
          <a:p>
            <a:r>
              <a:t>Neither substitutes for the other</a:t>
            </a:r>
          </a:p>
          <a:p>
            <a:r>
              <a:t>US: no direct Article 22 equivalent — FCRA adverse-action closest</a:t>
            </a:r>
          </a:p>
          <a:p>
            <a:r>
              <a:t>EEOC + California CPRA add automated-decision rights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Control Selection, Implementation &amp; Lifecycle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06 · Episode 4 — Dr. Michael Solomon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Control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Select → specify → implement</a:t>
            </a:r>
          </a:p>
          <a:p>
            <a:r>
              <a:t>Measure → review → retire</a:t>
            </a:r>
          </a:p>
          <a:p>
            <a:r>
              <a:t>Unbaselined control = intention, not evidence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RISK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Maps to a risk register entry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LAYER SCOPE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Which of 4 architecture layers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REG ALIGNMENT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EU AI Act · GDPR · sector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PROPORTIONALITY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Cost/complexity fits the tier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Selection Criteria 1–4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Selection Criteria 5–6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5 Measurability — needs a KPI/KRI</a:t>
            </a:r>
          </a:p>
          <a:p>
            <a:r>
              <a:t>6 Interaction effects — document deps</a:t>
            </a:r>
          </a:p>
          <a:p>
            <a:r>
              <a:t>No KPI/KRI = no demonstration</a:t>
            </a:r>
          </a:p>
          <a:p>
            <a:r>
              <a:t>Silent dependency failure = false assurance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FBE2CE-B480-C887-32DA-9F4CDDFFA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085193"/>
            <a:ext cx="9973455" cy="938784"/>
          </a:xfrm>
        </p:spPr>
        <p:txBody>
          <a:bodyPr/>
          <a:lstStyle/>
          <a:p>
            <a:r>
              <a:rPr lang="en-US">
                <a:solidFill>
                  <a:srgbClr val="6CC24A"/>
                </a:solidFill>
                <a:latin typeface="Segoe Sans Text Extrabold"/>
                <a:cs typeface="Segoe Sans Text Extrabold"/>
              </a:rPr>
              <a:t>Four Control Layers (≥2 each)</a:t>
            </a:r>
            <a:endParaRPr lang="en-US">
              <a:latin typeface="Segoe Sans Text Extrabold"/>
              <a:cs typeface="Segoe Sans Text Extrabold"/>
            </a:endParaRP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F360C8D4-F15E-D380-4346-A80B2F4851C8}"/>
              </a:ext>
            </a:extLst>
          </p:cNvPr>
          <p:cNvSpPr txBox="1">
            <a:spLocks/>
          </p:cNvSpPr>
          <p:nvPr/>
        </p:nvSpPr>
        <p:spPr>
          <a:xfrm>
            <a:off x="581112" y="5104010"/>
            <a:ext cx="2366161" cy="33239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latin typeface="Segoe Sans Text"/>
                <a:cs typeface="Segoe Sans Text"/>
              </a:rPr>
              <a:t>RISK COVERAGE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3F364F9-CA6C-847A-6BF9-F5EF11A385D7}"/>
              </a:ext>
            </a:extLst>
          </p:cNvPr>
          <p:cNvSpPr txBox="1">
            <a:spLocks/>
          </p:cNvSpPr>
          <p:nvPr/>
        </p:nvSpPr>
        <p:spPr>
          <a:xfrm>
            <a:off x="581112" y="5436409"/>
            <a:ext cx="2366161" cy="140854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Segoe Sans Text"/>
                <a:cs typeface="Segoe Sans Text"/>
              </a:rPr>
              <a:t>Maps to a risk register entry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23F4162-C8AD-ACF8-BF24-1138739D478A}"/>
              </a:ext>
            </a:extLst>
          </p:cNvPr>
          <p:cNvSpPr txBox="1">
            <a:spLocks/>
          </p:cNvSpPr>
          <p:nvPr/>
        </p:nvSpPr>
        <p:spPr>
          <a:xfrm>
            <a:off x="5798998" y="5101219"/>
            <a:ext cx="2366161" cy="33239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latin typeface="Segoe Sans Text"/>
                <a:cs typeface="Segoe Sans Text"/>
              </a:rPr>
              <a:t>LAYER SCOPE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6AF04967-EF05-AD78-5A35-F136AA7AFDAA}"/>
              </a:ext>
            </a:extLst>
          </p:cNvPr>
          <p:cNvSpPr txBox="1">
            <a:spLocks/>
          </p:cNvSpPr>
          <p:nvPr/>
        </p:nvSpPr>
        <p:spPr>
          <a:xfrm>
            <a:off x="5798998" y="5448133"/>
            <a:ext cx="2366161" cy="140854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Segoe Sans Text"/>
                <a:cs typeface="Segoe Sans Text"/>
              </a:rPr>
              <a:t>Which of 4 architecture layers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946F9C4-3DE9-03A2-018B-5594C89C646C}"/>
              </a:ext>
            </a:extLst>
          </p:cNvPr>
          <p:cNvSpPr txBox="1">
            <a:spLocks/>
          </p:cNvSpPr>
          <p:nvPr/>
        </p:nvSpPr>
        <p:spPr>
          <a:xfrm>
            <a:off x="3191450" y="5111267"/>
            <a:ext cx="2366161" cy="33239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latin typeface="Segoe Sans Text"/>
                <a:cs typeface="Segoe Sans Text"/>
              </a:rPr>
              <a:t>REG ALIGNMENT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5C976B1-C8BF-65BF-5954-4FA4D7FFC767}"/>
              </a:ext>
            </a:extLst>
          </p:cNvPr>
          <p:cNvSpPr txBox="1">
            <a:spLocks/>
          </p:cNvSpPr>
          <p:nvPr/>
        </p:nvSpPr>
        <p:spPr>
          <a:xfrm>
            <a:off x="3191450" y="5436409"/>
            <a:ext cx="2366161" cy="140854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Segoe Sans Text"/>
                <a:cs typeface="Segoe Sans Text"/>
              </a:rPr>
              <a:t>EU AI Act · GDPR · sector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F6D4D12C-73D3-270C-810E-24E3FC4E75F3}"/>
              </a:ext>
            </a:extLst>
          </p:cNvPr>
          <p:cNvSpPr txBox="1">
            <a:spLocks/>
          </p:cNvSpPr>
          <p:nvPr/>
        </p:nvSpPr>
        <p:spPr>
          <a:xfrm>
            <a:off x="8496422" y="5108477"/>
            <a:ext cx="2554846" cy="33239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latin typeface="Segoe Sans Text"/>
                <a:cs typeface="Segoe Sans Text"/>
              </a:rPr>
              <a:t>PROPORTIONALITY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680DA2E-FFAD-46E5-9297-F4EE7D2C5ED3}"/>
              </a:ext>
            </a:extLst>
          </p:cNvPr>
          <p:cNvSpPr txBox="1">
            <a:spLocks/>
          </p:cNvSpPr>
          <p:nvPr/>
        </p:nvSpPr>
        <p:spPr>
          <a:xfrm>
            <a:off x="8496422" y="5440876"/>
            <a:ext cx="2366161" cy="140854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Segoe Sans Text"/>
                <a:cs typeface="Segoe Sans Text"/>
              </a:rPr>
              <a:t>Cost/complexity fits the tier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Implementation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1 Spec — design · monitors · pass/fail</a:t>
            </a:r>
          </a:p>
          <a:p>
            <a:r>
              <a:t>2 Ownership — a named owner</a:t>
            </a:r>
          </a:p>
          <a:p>
            <a:r>
              <a:t>3 Acceptance + baseline</a:t>
            </a:r>
          </a:p>
          <a:p>
            <a:r>
              <a:t>4 Dependencies + fallback</a:t>
            </a:r>
          </a:p>
          <a:p>
            <a:r>
              <a:t>5 Evidence + audit trail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vs KRI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KPI</a:t>
            </a:r>
          </a:p>
          <a:p>
            <a:r>
              <a:t>Control performance</a:t>
            </a:r>
          </a:p>
          <a:p>
            <a:r>
              <a:t>e.g. 99%+ logged</a:t>
            </a:r>
          </a:p>
          <a:p>
            <a:r>
              <a:t>Below → investigate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t>KRI</a:t>
            </a:r>
          </a:p>
          <a:p>
            <a:r>
              <a:t>Residual risk</a:t>
            </a:r>
          </a:p>
          <a:p>
            <a:r>
              <a:t>e.g. log gaps / 7 days</a:t>
            </a:r>
          </a:p>
          <a:p>
            <a:r>
              <a:t>Predefined thresholds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 Lifecycle Phases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dirty="0">
                <a:latin typeface="Segoe Sans Text"/>
                <a:cs typeface="Segoe Sans Text"/>
              </a:rPr>
              <a:t>1 </a:t>
            </a:r>
            <a:r>
              <a:rPr dirty="0" err="1">
                <a:latin typeface="Segoe Sans Text"/>
                <a:cs typeface="Segoe Sans Text"/>
              </a:rPr>
              <a:t>Design→spec</a:t>
            </a:r>
            <a:r>
              <a:rPr dirty="0">
                <a:latin typeface="Segoe Sans Text"/>
                <a:cs typeface="Segoe Sans Text"/>
              </a:rPr>
              <a:t> </a:t>
            </a:r>
            <a:endParaRPr lang="en-US" dirty="0">
              <a:latin typeface="Segoe Sans Text"/>
              <a:cs typeface="Segoe Sans Text"/>
            </a:endParaRPr>
          </a:p>
          <a:p>
            <a:r>
              <a:rPr dirty="0">
                <a:latin typeface="Segoe Sans Text"/>
                <a:cs typeface="Segoe Sans Text"/>
              </a:rPr>
              <a:t>2 </a:t>
            </a:r>
            <a:r>
              <a:rPr dirty="0" err="1">
                <a:latin typeface="Segoe Sans Text"/>
                <a:cs typeface="Segoe Sans Text"/>
              </a:rPr>
              <a:t>Implement→baseline</a:t>
            </a:r>
          </a:p>
          <a:p>
            <a:r>
              <a:rPr dirty="0">
                <a:latin typeface="Segoe Sans Text"/>
                <a:cs typeface="Segoe Sans Text"/>
              </a:rPr>
              <a:t>3 </a:t>
            </a:r>
            <a:r>
              <a:rPr dirty="0" err="1">
                <a:latin typeface="Segoe Sans Text"/>
                <a:cs typeface="Segoe Sans Text"/>
              </a:rPr>
              <a:t>Monitor→monthly</a:t>
            </a:r>
            <a:r>
              <a:rPr dirty="0">
                <a:latin typeface="Segoe Sans Text"/>
                <a:cs typeface="Segoe Sans Text"/>
              </a:rPr>
              <a:t> reports</a:t>
            </a:r>
          </a:p>
          <a:p>
            <a:r>
              <a:rPr dirty="0">
                <a:latin typeface="Segoe Sans Text"/>
                <a:cs typeface="Segoe Sans Text"/>
              </a:rPr>
              <a:t>4 </a:t>
            </a:r>
            <a:r>
              <a:rPr dirty="0" err="1">
                <a:latin typeface="Segoe Sans Text"/>
                <a:cs typeface="Segoe Sans Text"/>
              </a:rPr>
              <a:t>Assess→effectiveness</a:t>
            </a:r>
            <a:r>
              <a:rPr dirty="0">
                <a:latin typeface="Segoe Sans Text"/>
                <a:cs typeface="Segoe Sans Text"/>
              </a:rPr>
              <a:t> (annual/bi-annual)</a:t>
            </a:r>
          </a:p>
          <a:p>
            <a:r>
              <a:rPr dirty="0">
                <a:latin typeface="Segoe Sans Text"/>
                <a:cs typeface="Segoe Sans Text"/>
              </a:rPr>
              <a:t>5 </a:t>
            </a:r>
            <a:r>
              <a:rPr dirty="0" err="1">
                <a:latin typeface="Segoe Sans Text"/>
                <a:cs typeface="Segoe Sans Text"/>
              </a:rPr>
              <a:t>Enhance→change</a:t>
            </a:r>
            <a:r>
              <a:rPr dirty="0">
                <a:latin typeface="Segoe Sans Text"/>
                <a:cs typeface="Segoe Sans Text"/>
              </a:rPr>
              <a:t> record  </a:t>
            </a:r>
            <a:endParaRPr lang="en-US" dirty="0">
              <a:latin typeface="Segoe Sans Text"/>
              <a:cs typeface="Segoe Sans Text"/>
            </a:endParaRPr>
          </a:p>
          <a:p>
            <a:r>
              <a:rPr dirty="0">
                <a:latin typeface="Segoe Sans Text"/>
                <a:cs typeface="Segoe Sans Text"/>
              </a:rPr>
              <a:t>6 </a:t>
            </a:r>
            <a:r>
              <a:rPr dirty="0" err="1">
                <a:latin typeface="Segoe Sans Text"/>
                <a:cs typeface="Segoe Sans Text"/>
              </a:rPr>
              <a:t>Retire→sign-off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Control Gaps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Unimplemented — 4 required elements</a:t>
            </a:r>
          </a:p>
          <a:p>
            <a:r>
              <a:t>Failed — treat as an incident</a:t>
            </a:r>
          </a:p>
          <a:p>
            <a:r>
              <a:t>Vendor-dependent — DD + contract</a:t>
            </a:r>
          </a:p>
          <a:p>
            <a:r>
              <a:t>Unimplemented needs all four elements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NO RISK BASIS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Controls with no register entry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NO BASELINE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Can't tell normal from degraded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92500"/>
          </a:bodyPr>
          <a:lstStyle/>
          <a:p>
            <a:r>
              <a:t>GAP UNDOCUMENTED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Deferred, no register entry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NOT REVIEWED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Drift undetected for years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Lifecycle Failures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Fixes + 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Selection starts from the risk register</a:t>
            </a:r>
          </a:p>
          <a:p>
            <a:r>
              <a:t>Baseline before claiming it works</a:t>
            </a:r>
          </a:p>
          <a:p>
            <a:r>
              <a:t>Undocumented gap = governance failure</a:t>
            </a:r>
          </a:p>
          <a:p>
            <a:r>
              <a:t>Annual (tier-1) / bi-annual (tier-2/3) review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Security Monitoring Metrics &amp; Threat Controls Mapping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06 · Episode 5 — Dr. Michael Solomon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The Monitoring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Integrates KPIs + KRIs from all six modules</a:t>
            </a:r>
          </a:p>
          <a:p>
            <a:r>
              <a:t>Monitoring earns value only when it drives decisions</a:t>
            </a:r>
          </a:p>
          <a:p>
            <a:r>
              <a:t>Closes Module 6 and the full course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Dashboard · Modules 1–3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M1 Governance — policy-review %; risk entries &gt;90 days</a:t>
            </a:r>
          </a:p>
          <a:p>
            <a:r>
              <a:t>M2 Data — assets with a current model card</a:t>
            </a:r>
          </a:p>
          <a:p>
            <a:r>
              <a:t>M3 Security — controls with active KPIs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Dashboard · Modules 4–6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M4 Incident/Risk — mean time to detect &amp; contain</a:t>
            </a:r>
          </a:p>
          <a:p>
            <a:r>
              <a:t>M5 Vendor — third-party monitoring completion</a:t>
            </a:r>
          </a:p>
          <a:p>
            <a:r>
              <a:t>M6 Controls — % controls meeting baseline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 AI-Specific SIEM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Inference logs</a:t>
            </a:r>
          </a:p>
          <a:p>
            <a:r>
              <a:t>Training-pipeline logs</a:t>
            </a:r>
          </a:p>
          <a:p>
            <a:r>
              <a:t>Model-registry audit logs</a:t>
            </a:r>
          </a:p>
          <a:p>
            <a:r>
              <a:t>API-gateway logs</a:t>
            </a:r>
          </a:p>
          <a:p>
            <a:r>
              <a:t>Fairness metrics</a:t>
            </a:r>
          </a:p>
          <a:p>
            <a:r>
              <a:t>UEBA AI baselines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 Detection Rule Categories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Prompt injection</a:t>
            </a:r>
          </a:p>
          <a:p>
            <a:r>
              <a:t>Model extraction</a:t>
            </a:r>
          </a:p>
          <a:p>
            <a:r>
              <a:t>Training-data anomalies</a:t>
            </a:r>
          </a:p>
          <a:p>
            <a:r>
              <a:t>Output anomalies</a:t>
            </a:r>
          </a:p>
          <a:p>
            <a:r>
              <a:t>Insider threat</a:t>
            </a:r>
          </a:p>
          <a:p>
            <a:r>
              <a:t>Supply-chain alerts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Seven MITRE ATLAS </a:t>
            </a:r>
            <a:br>
              <a:rPr lang="en-US" sz="2800"/>
            </a:br>
            <a:r>
              <a:rPr sz="2800"/>
              <a:t>Threat Mappings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ML supply-chain compromise</a:t>
            </a:r>
          </a:p>
          <a:p>
            <a:r>
              <a:t>Data poisoning</a:t>
            </a:r>
          </a:p>
          <a:p>
            <a:r>
              <a:t>Model evasion</a:t>
            </a:r>
          </a:p>
          <a:p>
            <a:r>
              <a:t>Model extraction</a:t>
            </a:r>
          </a:p>
          <a:p>
            <a:r>
              <a:t>Prompt injection</a:t>
            </a:r>
          </a:p>
          <a:p>
            <a:r>
              <a:t>Insider threat</a:t>
            </a:r>
          </a:p>
          <a:p>
            <a:r>
              <a:t>Membership inference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Each threat needs a primary control, a detection control + documented residual risk</a:t>
            </a:r>
          </a:p>
          <a:p>
            <a:r>
              <a:t>Threat + no risk-register entry = unmanaged 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UNMANAGED RISK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3F31E8C-6CAA-9EF6-CFDC-A514CD89D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085193"/>
            <a:ext cx="9973455" cy="938784"/>
          </a:xfrm>
        </p:spPr>
        <p:txBody>
          <a:bodyPr/>
          <a:lstStyle/>
          <a:p>
            <a:r>
              <a:rPr lang="en-US">
                <a:latin typeface="Segoe Sans Text ExtraBold"/>
                <a:cs typeface="Segoe Sans Text ExtraBold"/>
              </a:rPr>
              <a:t>Four Monitoring Maturity Levels</a:t>
            </a:r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C0E7C88-B873-FEC3-D384-0B7F8695DB15}"/>
              </a:ext>
            </a:extLst>
          </p:cNvPr>
          <p:cNvSpPr>
            <a:spLocks noGrp="1"/>
          </p:cNvSpPr>
          <p:nvPr/>
        </p:nvSpPr>
        <p:spPr>
          <a:xfrm>
            <a:off x="631912" y="5024181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L1 Reactive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3A8F689-7B8D-CF38-DE4E-AD61F355A49D}"/>
              </a:ext>
            </a:extLst>
          </p:cNvPr>
          <p:cNvSpPr>
            <a:spLocks noGrp="1"/>
          </p:cNvSpPr>
          <p:nvPr/>
        </p:nvSpPr>
        <p:spPr>
          <a:xfrm>
            <a:off x="631912" y="5356580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Post-harm; no continuous evidence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B0F8582-0E31-D0E3-B398-B41B9F5E12EB}"/>
              </a:ext>
            </a:extLst>
          </p:cNvPr>
          <p:cNvSpPr>
            <a:spLocks noGrp="1"/>
          </p:cNvSpPr>
          <p:nvPr/>
        </p:nvSpPr>
        <p:spPr>
          <a:xfrm>
            <a:off x="3048541" y="5021391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L2 Basic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8D17DE7-AEC5-45BB-1A8E-632B9A00B8F5}"/>
              </a:ext>
            </a:extLst>
          </p:cNvPr>
          <p:cNvSpPr>
            <a:spLocks noGrp="1"/>
          </p:cNvSpPr>
          <p:nvPr/>
        </p:nvSpPr>
        <p:spPr>
          <a:xfrm>
            <a:off x="3048541" y="5252190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Delayed periodic evidence only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40EBE1A-CD30-E5EE-43FF-5A35B77E6F85}"/>
              </a:ext>
            </a:extLst>
          </p:cNvPr>
          <p:cNvSpPr>
            <a:spLocks noGrp="1"/>
          </p:cNvSpPr>
          <p:nvPr/>
        </p:nvSpPr>
        <p:spPr>
          <a:xfrm>
            <a:off x="5593565" y="5024181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L3 Active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965849E-F10D-73EE-5C92-C1066089EB54}"/>
              </a:ext>
            </a:extLst>
          </p:cNvPr>
          <p:cNvSpPr>
            <a:spLocks noGrp="1"/>
          </p:cNvSpPr>
          <p:nvPr/>
        </p:nvSpPr>
        <p:spPr>
          <a:xfrm>
            <a:off x="5593565" y="5356580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Continuous KPI/KRI + alerts — EU AI Act min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5BD6818-C27F-8EB7-D3E4-FEC912C78772}"/>
              </a:ext>
            </a:extLst>
          </p:cNvPr>
          <p:cNvSpPr>
            <a:spLocks noGrp="1"/>
          </p:cNvSpPr>
          <p:nvPr/>
        </p:nvSpPr>
        <p:spPr>
          <a:xfrm>
            <a:off x="7959393" y="5021391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L4 Assurance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6F8FB1BC-086F-6A41-37C9-C477EF448D50}"/>
              </a:ext>
            </a:extLst>
          </p:cNvPr>
          <p:cNvSpPr>
            <a:spLocks noGrp="1"/>
          </p:cNvSpPr>
          <p:nvPr/>
        </p:nvSpPr>
        <p:spPr>
          <a:xfrm>
            <a:off x="7959393" y="5353790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Predictive, self-improving; strongest evidence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Monitoring Cycle · Steps 1–3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1 Collect — six SIEM sources, documented in plan</a:t>
            </a:r>
          </a:p>
          <a:p>
            <a:r>
              <a:t>2 Detect — rules + correlation raise alerts</a:t>
            </a:r>
          </a:p>
          <a:p>
            <a:r>
              <a:t>3 Analyze — triage, classify, record findings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Monitoring Cycle · Steps 4–6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4 Respond — IR + risk-register updates, logged</a:t>
            </a:r>
          </a:p>
          <a:p>
            <a:r>
              <a:t>5 Report — monthly / quarterly / board cadence</a:t>
            </a:r>
          </a:p>
          <a:p>
            <a:r>
              <a:t>6 Improve — tune rules, add sources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Self-improvement is the maturity signal</a:t>
            </a:r>
          </a:p>
          <a:p>
            <a:r>
              <a:t>The improve step distinguishes Level 3 from Level 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IMPROVE = L3 → L4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Module 6 Complete — The Thread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Testing &amp; TEVV</a:t>
            </a:r>
          </a:p>
          <a:p>
            <a:r>
              <a:t>Data management &amp; poisoning</a:t>
            </a:r>
          </a:p>
          <a:p>
            <a:r>
              <a:t>Privacy, ethics &amp; trust</a:t>
            </a:r>
          </a:p>
          <a:p>
            <a:r>
              <a:t>Control lifecycle</a:t>
            </a:r>
          </a:p>
          <a:p>
            <a:r>
              <a:t>Monitoring &amp; controls mapping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Governance Documents =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Asset inventory — proves what you govern</a:t>
            </a:r>
          </a:p>
          <a:p>
            <a:r>
              <a:t>Risk register — proves you assessed it</a:t>
            </a:r>
          </a:p>
          <a:p>
            <a:r>
              <a:t>Control specs — prove you addressed it</a:t>
            </a:r>
          </a:p>
          <a:p>
            <a:r>
              <a:t>Monitoring records — prove you maintained it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Program Must / Must Not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Start every control from the risk register</a:t>
            </a:r>
          </a:p>
          <a:p>
            <a:r>
              <a:t>Treat V&amp;V completion as a deployment gate</a:t>
            </a:r>
          </a:p>
          <a:p>
            <a:r>
              <a:t>Not accept "publicly available" as a license</a:t>
            </a:r>
          </a:p>
          <a:p>
            <a:r>
              <a:t>Not treat model updates as software patches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What the Exam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Provider vs deployer + 4 deemed-provider cases</a:t>
            </a:r>
          </a:p>
          <a:p>
            <a:r>
              <a:t>TEVV vs V&amp;V; 6 control-lifecycle phases</a:t>
            </a:r>
          </a:p>
          <a:p>
            <a:r>
              <a:t>6 monitoring-cycle steps; 5 poisoning-response steps</a:t>
            </a:r>
          </a:p>
          <a:p>
            <a:r>
              <a:t>8 architecture-review checklist items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ISM_PPT_Template">
  <a:themeElements>
    <a:clrScheme name="MCAPS_Blue">
      <a:dk1>
        <a:srgbClr val="4F4F4F"/>
      </a:dk1>
      <a:lt1>
        <a:srgbClr val="FFFFFF"/>
      </a:lt1>
      <a:dk2>
        <a:srgbClr val="4F4F4F"/>
      </a:dk2>
      <a:lt2>
        <a:srgbClr val="FFF8F3"/>
      </a:lt2>
      <a:accent1>
        <a:srgbClr val="0091DA"/>
      </a:accent1>
      <a:accent2>
        <a:srgbClr val="6CC24A"/>
      </a:accent2>
      <a:accent3>
        <a:srgbClr val="49C5B1"/>
      </a:accent3>
      <a:accent4>
        <a:srgbClr val="D59DD7"/>
      </a:accent4>
      <a:accent5>
        <a:srgbClr val="6CC24A"/>
      </a:accent5>
      <a:accent6>
        <a:srgbClr val="0091DA"/>
      </a:accent6>
      <a:hlink>
        <a:srgbClr val="0077D3"/>
      </a:hlink>
      <a:folHlink>
        <a:srgbClr val="0077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radient_PPT_Template" id="{DD4A2566-3BC9-5A4E-B1A7-C82913F696C9}" vid="{9B7D320E-4ACD-7A46-B913-C9EB59A689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46e879-d081-4053-adba-52e34fa7725d" xsi:nil="true"/>
    <lcf76f155ced4ddcb4097134ff3c332f xmlns="76027dd9-77cd-484f-b6db-8bbe1351c2b5">
      <Terms xmlns="http://schemas.microsoft.com/office/infopath/2007/PartnerControls"/>
    </lcf76f155ced4ddcb4097134ff3c332f>
    <Comments xmlns="76027dd9-77cd-484f-b6db-8bbe1351c2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99ED26-B189-4BA1-99D0-1112D8C2F106}">
  <ds:schemaRefs>
    <ds:schemaRef ds:uri="76027dd9-77cd-484f-b6db-8bbe1351c2b5"/>
    <ds:schemaRef ds:uri="1046e879-d081-4053-adba-52e34fa7725d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13a0c8d5-cff5-4140-b58f-0947a5552a6a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DABC1A-3DB4-4388-8FB7-5B14A7711A61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Gradient_PPT_Template</Template>
  <TotalTime>9</TotalTime>
  <Words>2327</Words>
  <Application>Microsoft Office PowerPoint</Application>
  <PresentationFormat>Widescreen</PresentationFormat>
  <Paragraphs>409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Aptos</vt:lpstr>
      <vt:lpstr>Arial</vt:lpstr>
      <vt:lpstr>Segoe Sans Text</vt:lpstr>
      <vt:lpstr>Segoe Sans Text Extrabold</vt:lpstr>
      <vt:lpstr>Segoe Sans Text Extrabold</vt:lpstr>
      <vt:lpstr>AAISM_PPT_Template</vt:lpstr>
      <vt:lpstr>Model Testing, Regression &amp; TEVV</vt:lpstr>
      <vt:lpstr>Three Testing Cadences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Management Controls &amp; Data Poisoning</vt:lpstr>
      <vt:lpstr>PowerPoint Presentation</vt:lpstr>
      <vt:lpstr>PowerPoint Presentation</vt:lpstr>
      <vt:lpstr>Traditional AppSec vs AI Data-Origin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Privacy, Ethical &amp; Trust Controls</vt:lpstr>
      <vt:lpstr>PowerPoint Presentation</vt:lpstr>
      <vt:lpstr>Five Responsible-AI Principles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· Responsible-AI Scorecard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Selection, Implementation &amp; Lifecycle</vt:lpstr>
      <vt:lpstr>PowerPoint Presentation</vt:lpstr>
      <vt:lpstr>PowerPoint Presentation</vt:lpstr>
      <vt:lpstr>PowerPoint Presentation</vt:lpstr>
      <vt:lpstr>Four Control Layers (≥2 each)</vt:lpstr>
      <vt:lpstr>PowerPoint Presentation</vt:lpstr>
      <vt:lpstr>KPI vs KRI</vt:lpstr>
      <vt:lpstr>PowerPoint Presentation</vt:lpstr>
      <vt:lpstr>PowerPoint Presentation</vt:lpstr>
      <vt:lpstr>PowerPoint Presentation</vt:lpstr>
      <vt:lpstr>PowerPoint Presentation</vt:lpstr>
      <vt:lpstr>Security Monitoring Metrics &amp; Threat Controls Mapping</vt:lpstr>
      <vt:lpstr>The Monitoring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Four Monitoring Maturity Levels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</dc:creator>
  <cp:lastModifiedBy>Dana Barineau</cp:lastModifiedBy>
  <cp:revision>2</cp:revision>
  <cp:lastPrinted>2026-03-03T20:52:42Z</cp:lastPrinted>
  <dcterms:created xsi:type="dcterms:W3CDTF">2025-05-21T23:03:00Z</dcterms:created>
  <dcterms:modified xsi:type="dcterms:W3CDTF">2026-08-11T05:30:44Z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0x010100C634B67D360B774FBA94A353DF812505</vt:lpwstr>
  </property>
</Properties>
</file>