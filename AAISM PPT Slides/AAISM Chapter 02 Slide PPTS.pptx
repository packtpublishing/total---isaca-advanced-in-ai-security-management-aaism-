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90"/>
  </p:notesMasterIdLst>
  <p:handoutMasterIdLst>
    <p:handoutMasterId r:id="rId91"/>
  </p:handoutMasterIdLst>
  <p:sldIdLst>
    <p:sldId id="2580" r:id="rId5"/>
    <p:sldId id="2581" r:id="rId6"/>
    <p:sldId id="2582" r:id="rId7"/>
    <p:sldId id="2583" r:id="rId8"/>
    <p:sldId id="2584" r:id="rId9"/>
    <p:sldId id="2585" r:id="rId10"/>
    <p:sldId id="2586" r:id="rId11"/>
    <p:sldId id="2587" r:id="rId12"/>
    <p:sldId id="2588" r:id="rId13"/>
    <p:sldId id="2589" r:id="rId14"/>
    <p:sldId id="2590" r:id="rId15"/>
    <p:sldId id="2591" r:id="rId16"/>
    <p:sldId id="2592" r:id="rId17"/>
    <p:sldId id="2593" r:id="rId18"/>
    <p:sldId id="2594" r:id="rId19"/>
    <p:sldId id="2595" r:id="rId20"/>
    <p:sldId id="2596" r:id="rId21"/>
    <p:sldId id="2597" r:id="rId22"/>
    <p:sldId id="2599" r:id="rId23"/>
    <p:sldId id="2600" r:id="rId24"/>
    <p:sldId id="2601" r:id="rId25"/>
    <p:sldId id="2602" r:id="rId26"/>
    <p:sldId id="2603" r:id="rId27"/>
    <p:sldId id="2604" r:id="rId28"/>
    <p:sldId id="2605" r:id="rId29"/>
    <p:sldId id="2606" r:id="rId30"/>
    <p:sldId id="2607" r:id="rId31"/>
    <p:sldId id="2608" r:id="rId32"/>
    <p:sldId id="2609" r:id="rId33"/>
    <p:sldId id="2611" r:id="rId34"/>
    <p:sldId id="2612" r:id="rId35"/>
    <p:sldId id="2614" r:id="rId36"/>
    <p:sldId id="2615" r:id="rId37"/>
    <p:sldId id="2616" r:id="rId38"/>
    <p:sldId id="2617" r:id="rId39"/>
    <p:sldId id="2618" r:id="rId40"/>
    <p:sldId id="2619" r:id="rId41"/>
    <p:sldId id="2620" r:id="rId42"/>
    <p:sldId id="2621" r:id="rId43"/>
    <p:sldId id="2622" r:id="rId44"/>
    <p:sldId id="2623" r:id="rId45"/>
    <p:sldId id="2624" r:id="rId46"/>
    <p:sldId id="2625" r:id="rId47"/>
    <p:sldId id="2626" r:id="rId48"/>
    <p:sldId id="2627" r:id="rId49"/>
    <p:sldId id="2628" r:id="rId50"/>
    <p:sldId id="2630" r:id="rId51"/>
    <p:sldId id="2631" r:id="rId52"/>
    <p:sldId id="2632" r:id="rId53"/>
    <p:sldId id="2633" r:id="rId54"/>
    <p:sldId id="2634" r:id="rId55"/>
    <p:sldId id="2635" r:id="rId56"/>
    <p:sldId id="2636" r:id="rId57"/>
    <p:sldId id="2637" r:id="rId58"/>
    <p:sldId id="2638" r:id="rId59"/>
    <p:sldId id="2639" r:id="rId60"/>
    <p:sldId id="2640" r:id="rId61"/>
    <p:sldId id="2641" r:id="rId62"/>
    <p:sldId id="2642" r:id="rId63"/>
    <p:sldId id="2643" r:id="rId64"/>
    <p:sldId id="2644" r:id="rId65"/>
    <p:sldId id="2645" r:id="rId66"/>
    <p:sldId id="2646" r:id="rId67"/>
    <p:sldId id="2647" r:id="rId68"/>
    <p:sldId id="2648" r:id="rId69"/>
    <p:sldId id="2649" r:id="rId70"/>
    <p:sldId id="2650" r:id="rId71"/>
    <p:sldId id="2651" r:id="rId72"/>
    <p:sldId id="2652" r:id="rId73"/>
    <p:sldId id="2653" r:id="rId74"/>
    <p:sldId id="2654" r:id="rId75"/>
    <p:sldId id="2655" r:id="rId76"/>
    <p:sldId id="2656" r:id="rId77"/>
    <p:sldId id="2657" r:id="rId78"/>
    <p:sldId id="2658" r:id="rId79"/>
    <p:sldId id="2659" r:id="rId80"/>
    <p:sldId id="2660" r:id="rId81"/>
    <p:sldId id="2661" r:id="rId82"/>
    <p:sldId id="2662" r:id="rId83"/>
    <p:sldId id="2663" r:id="rId84"/>
    <p:sldId id="2664" r:id="rId85"/>
    <p:sldId id="2665" r:id="rId86"/>
    <p:sldId id="2666" r:id="rId87"/>
    <p:sldId id="2667" r:id="rId88"/>
    <p:sldId id="2668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1"/>
            <p14:sldId id="2582"/>
            <p14:sldId id="2583"/>
            <p14:sldId id="2584"/>
            <p14:sldId id="2585"/>
            <p14:sldId id="2586"/>
            <p14:sldId id="2587"/>
            <p14:sldId id="2588"/>
            <p14:sldId id="2589"/>
            <p14:sldId id="2590"/>
            <p14:sldId id="2591"/>
            <p14:sldId id="2592"/>
            <p14:sldId id="2593"/>
            <p14:sldId id="2594"/>
            <p14:sldId id="2595"/>
            <p14:sldId id="2596"/>
            <p14:sldId id="2597"/>
            <p14:sldId id="2599"/>
            <p14:sldId id="2600"/>
            <p14:sldId id="2601"/>
            <p14:sldId id="2602"/>
            <p14:sldId id="2603"/>
            <p14:sldId id="2604"/>
            <p14:sldId id="2605"/>
            <p14:sldId id="2606"/>
            <p14:sldId id="2607"/>
            <p14:sldId id="2608"/>
            <p14:sldId id="2609"/>
            <p14:sldId id="2611"/>
            <p14:sldId id="2612"/>
            <p14:sldId id="2614"/>
            <p14:sldId id="2615"/>
            <p14:sldId id="2616"/>
            <p14:sldId id="2617"/>
            <p14:sldId id="2618"/>
            <p14:sldId id="2619"/>
            <p14:sldId id="2620"/>
            <p14:sldId id="2621"/>
            <p14:sldId id="2622"/>
            <p14:sldId id="2623"/>
            <p14:sldId id="2624"/>
            <p14:sldId id="2625"/>
            <p14:sldId id="2626"/>
            <p14:sldId id="2627"/>
            <p14:sldId id="2628"/>
            <p14:sldId id="2630"/>
            <p14:sldId id="2631"/>
            <p14:sldId id="2632"/>
            <p14:sldId id="2633"/>
            <p14:sldId id="2634"/>
            <p14:sldId id="2635"/>
            <p14:sldId id="2636"/>
            <p14:sldId id="2637"/>
            <p14:sldId id="2638"/>
            <p14:sldId id="2639"/>
            <p14:sldId id="2640"/>
            <p14:sldId id="2641"/>
            <p14:sldId id="2642"/>
            <p14:sldId id="2643"/>
            <p14:sldId id="2644"/>
            <p14:sldId id="2645"/>
            <p14:sldId id="2646"/>
            <p14:sldId id="2647"/>
            <p14:sldId id="2648"/>
            <p14:sldId id="2649"/>
            <p14:sldId id="2650"/>
            <p14:sldId id="2651"/>
            <p14:sldId id="2652"/>
            <p14:sldId id="2653"/>
            <p14:sldId id="2654"/>
            <p14:sldId id="2655"/>
            <p14:sldId id="2656"/>
            <p14:sldId id="2657"/>
            <p14:sldId id="2658"/>
            <p14:sldId id="2659"/>
            <p14:sldId id="2660"/>
            <p14:sldId id="2661"/>
            <p14:sldId id="2662"/>
            <p14:sldId id="2663"/>
            <p14:sldId id="2664"/>
            <p14:sldId id="2665"/>
            <p14:sldId id="2666"/>
            <p14:sldId id="2667"/>
            <p14:sldId id="2668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E7DCC-CC00-C5B3-9946-D288B050DE61}" v="17" dt="2026-07-16T18:44:24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0"/>
    <p:restoredTop sz="94658"/>
  </p:normalViewPr>
  <p:slideViewPr>
    <p:cSldViewPr snapToGrid="0">
      <p:cViewPr varScale="1">
        <p:scale>
          <a:sx n="59" d="100"/>
          <a:sy n="59" d="100"/>
        </p:scale>
        <p:origin x="54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handoutMaster" Target="handoutMasters/handoutMaster1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8/10/relationships/authors" Target="author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S Headshot/Dem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'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Buy vs Build Decision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Governance Owns This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Build vs buy sets your EU AI Act role</a:t>
            </a:r>
          </a:p>
          <a:p>
            <a:r>
              <a:t>Provider (build) vs deployer (buy)</a:t>
            </a:r>
          </a:p>
          <a:p>
            <a:r>
              <a:t>Not procurement's call 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Build → Provider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Full EU AI Act provider obligations</a:t>
            </a:r>
          </a:p>
          <a:p>
            <a:r>
              <a:t>Conformity · tech docs · CE · QMS</a:t>
            </a:r>
          </a:p>
          <a:p>
            <a:r>
              <a:t>Post-market surveillance</a:t>
            </a:r>
          </a:p>
          <a:p>
            <a:r>
              <a:t>IP clear; obligations resource-heavy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Buy → Deployer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Deployer obligations + vendor DD</a:t>
            </a:r>
          </a:p>
          <a:p>
            <a:r>
              <a:t>FRIA · human oversight · logging</a:t>
            </a:r>
          </a:p>
          <a:p>
            <a:r>
              <a:t>Transparency · incident notification</a:t>
            </a:r>
          </a:p>
          <a:p>
            <a:r>
              <a:t>Verify vendor docs — duties nontransferable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Fine-Tune → Deemed Provider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Substantial modification flips the role</a:t>
            </a:r>
          </a:p>
          <a:p>
            <a:r>
              <a:t>Legal review is mandatory</a:t>
            </a:r>
          </a:p>
          <a:p>
            <a:r>
              <a:t>If yes: full provider + conformity 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API Access → Deployer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Model weights stay vendor property</a:t>
            </a:r>
          </a:p>
          <a:p>
            <a:r>
              <a:t>Output &amp; commercial rights per ToS</a:t>
            </a:r>
          </a:p>
          <a:p>
            <a:r>
              <a:t>Model-change + termination risk</a:t>
            </a:r>
          </a:p>
          <a:p>
            <a:r>
              <a:t>No model = BCP 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BUILD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Provider — full obligations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BUY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Deployer + vendor DD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FINE-TUNE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Deemed provider if substantial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API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Deployer — ToS-bound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Deployment Models → EU AI Act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Data Governance </a:t>
            </a:r>
            <a:r>
              <a:rPr lang="en-US">
                <a:latin typeface="Segoe Sans Text"/>
                <a:cs typeface="Segoe Sans Text"/>
              </a:rPr>
              <a:t>Implications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C57BD-83CB-D042-2094-9CB588FF94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847508"/>
            <a:ext cx="6146586" cy="4759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Both: asset inventory · DPIA · register</a:t>
            </a:r>
          </a:p>
          <a:p>
            <a:r>
              <a:rPr lang="en-US"/>
              <a:t>Build: provenance · integrity · registry</a:t>
            </a:r>
          </a:p>
          <a:p>
            <a:r>
              <a:rPr lang="en-US"/>
              <a:t>Buy: change monitoring · vendor metrics</a:t>
            </a:r>
          </a:p>
          <a:p>
            <a:r>
              <a:rPr lang="en-US"/>
              <a:t>Buy: supply-chain risk assessment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Four deployment models</a:t>
            </a:r>
          </a:p>
          <a:p>
            <a:r>
              <a:t>EU AI Act role per model</a:t>
            </a:r>
          </a:p>
          <a:p>
            <a:r>
              <a:t>Document the decision in the program 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On the Exam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Build = provider</a:t>
            </a:r>
          </a:p>
          <a:p>
            <a:r>
              <a:t>Buy = deployer</a:t>
            </a:r>
          </a:p>
          <a:p>
            <a:r>
              <a:t>Fine-tune = deemed provider</a:t>
            </a:r>
          </a:p>
          <a:p>
            <a:r>
              <a:t>API = deployer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 Policy Development &amp; Responsible 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2 — Dr. Michael Solomon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Five Responsible-AI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Fairness</a:t>
            </a:r>
          </a:p>
          <a:p>
            <a:r>
              <a:t>Transparency</a:t>
            </a:r>
          </a:p>
          <a:p>
            <a:r>
              <a:t>Privacy</a:t>
            </a:r>
          </a:p>
          <a:p>
            <a:r>
              <a:t>Explainability</a:t>
            </a:r>
          </a:p>
          <a:p>
            <a:r>
              <a:t>Accountability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Fairness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Demographic parity — equal positive-outcome rates</a:t>
            </a:r>
          </a:p>
          <a:p>
            <a:r>
              <a:t>Equal opportunity — equal error rates</a:t>
            </a:r>
          </a:p>
          <a:p>
            <a:r>
              <a:t>Violated when rates differ without justification</a:t>
            </a:r>
          </a:p>
          <a:p>
            <a:r>
              <a:t>e.g. fraud flagging skewed across groups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Transparency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Communicate existence, purpose, capabilities, limits</a:t>
            </a:r>
          </a:p>
          <a:p>
            <a:r>
              <a:t>Not full disclosure of model internals</a:t>
            </a:r>
          </a:p>
          <a:p>
            <a:r>
              <a:t>Regulated: credit, healthcare, employment</a:t>
            </a:r>
          </a:p>
          <a:p>
            <a:r>
              <a:t>Violated when decision-making is hidden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Privacy — Three AI-Specific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Inference attacks — infer sensitive attributes</a:t>
            </a:r>
          </a:p>
          <a:p>
            <a:r>
              <a:t>Training-data memorization — reproduce personal data</a:t>
            </a:r>
          </a:p>
          <a:p>
            <a:r>
              <a:t>Re-identification of anonymized data</a:t>
            </a:r>
          </a:p>
          <a:p>
            <a:r>
              <a:t>Privacy by design: minimization, purpose, consent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Explainability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Meaningful human account of a specific decision</a:t>
            </a:r>
          </a:p>
          <a:p>
            <a:r>
              <a:t>Explainability ≠ interpretability</a:t>
            </a:r>
          </a:p>
          <a:p>
            <a:r>
              <a:t>LIME — local approximation with a simpler model</a:t>
            </a:r>
          </a:p>
          <a:p>
            <a:r>
              <a:t>SHAP — feature-contribution scores via game 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Accountability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Clear role ownership + audit trails</a:t>
            </a:r>
          </a:p>
          <a:p>
            <a:r>
              <a:t>Attributes decisions to responsible parties</a:t>
            </a:r>
          </a:p>
          <a:p>
            <a:r>
              <a:t>Completes the responsible-AI framework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· Responsible-AI Scorecard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Evaluate an AI system against all five principles in Google Colab — fairness (parity + equal opportunity), the three privacy risks, LIME/SHAP — producing a compliance scorecard.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Exam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Five principles — definition, implementation, violation</a:t>
            </a:r>
          </a:p>
          <a:p>
            <a:r>
              <a:t>Fairness: demographic parity vs equal opportunity</a:t>
            </a:r>
          </a:p>
          <a:p>
            <a:r>
              <a:t>Privacy: three risks beyond compliance</a:t>
            </a:r>
          </a:p>
          <a:p>
            <a:r>
              <a:t>LIME (local approx) vs SHAP (feature contribution)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Synthetic Media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Prohibit deepfakes of colleagues / customers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51697" y="3233774"/>
            <a:ext cx="3145046" cy="345158"/>
          </a:xfrm>
        </p:spPr>
        <p:txBody>
          <a:bodyPr>
            <a:normAutofit/>
          </a:bodyPr>
          <a:lstStyle/>
          <a:p>
            <a:r>
              <a:rPr lang="en-US">
                <a:latin typeface="Segoe Sans Text"/>
                <a:cs typeface="Segoe Sans Text"/>
              </a:rPr>
              <a:t>Automated Decisions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551698" y="3707462"/>
            <a:ext cx="2208612" cy="1466167"/>
          </a:xfrm>
        </p:spPr>
        <p:txBody>
          <a:bodyPr/>
          <a:lstStyle/>
          <a:p>
            <a:r>
              <a:rPr dirty="0"/>
              <a:t>Define which need </a:t>
            </a:r>
            <a:br>
              <a:rPr lang="en-US" dirty="0"/>
            </a:br>
            <a:r>
              <a:rPr dirty="0"/>
              <a:t>human review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03371" y="4826153"/>
            <a:ext cx="2208612" cy="442302"/>
          </a:xfrm>
        </p:spPr>
        <p:txBody>
          <a:bodyPr/>
          <a:lstStyle/>
          <a:p>
            <a:r>
              <a:t>Third-Party Tools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03371" y="5332011"/>
            <a:ext cx="2208612" cy="974250"/>
          </a:xfrm>
        </p:spPr>
        <p:txBody>
          <a:bodyPr/>
          <a:lstStyle/>
          <a:p>
            <a:r>
              <a:t>Policy on personal / consumer AI accounts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137D0E-BA57-DC9E-D3A0-849B9971B43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AUP – Three AI Risk Categories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AUP Jurisdiction &amp;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EU AI Act mandates AUP content for high-risk AI</a:t>
            </a:r>
          </a:p>
          <a:p>
            <a:r>
              <a:t>Reference NIST AI RMF governance function</a:t>
            </a:r>
          </a:p>
          <a:p>
            <a:r>
              <a:t>Sector guidance: OCC/FDIC, FDA, EEOC</a:t>
            </a:r>
          </a:p>
          <a:p>
            <a:r>
              <a:t>Review at least annually + on material 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Corporate AI Policy — Three Dimensions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Sanctioned vs unsanctioned AI use</a:t>
            </a:r>
          </a:p>
          <a:p>
            <a:r>
              <a:t>Private vs public AI models</a:t>
            </a:r>
          </a:p>
          <a:p>
            <a:r>
              <a:t>Sensitive-data governance for 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Sanctioned vs Unsanctioned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Sanctioned = assessed, configured, authorized</a:t>
            </a:r>
          </a:p>
          <a:p>
            <a:r>
              <a:t>Unsanctioned = shadow AI, no authorization</a:t>
            </a:r>
          </a:p>
          <a:p>
            <a:r>
              <a:t>Define approval process + sanctions + pathways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Maintained list of approved tools + use cases + data types + owners</a:t>
            </a:r>
          </a:p>
          <a:p>
            <a:r>
              <a:t>The compliance baseline for audit</a:t>
            </a:r>
          </a:p>
          <a:p>
            <a:r>
              <a:t>Its absence = no verifiable baseline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SANCTIONED USE REGISTER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Sensitive-Data Governance for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Traditional classification wasn't built for AI inference</a:t>
            </a:r>
          </a:p>
          <a:p>
            <a:r>
              <a:t>Training-data provenance + license</a:t>
            </a:r>
          </a:p>
          <a:p>
            <a:r>
              <a:t>Inference-time handling + output filtering</a:t>
            </a:r>
          </a:p>
          <a:p>
            <a:r>
              <a:t>Retention/deletion + cross-border flows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Pre-Training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dirty="0"/>
              <a:t>Classification, minimization, </a:t>
            </a:r>
            <a:br>
              <a:rPr lang="en-US" dirty="0"/>
            </a:br>
            <a:r>
              <a:rPr dirty="0"/>
              <a:t>consent, license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Environment isolation, access controls, logging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Inference handling, output filtering, </a:t>
            </a:r>
            <a:br>
              <a:rPr lang="en-US"/>
            </a:br>
            <a:r>
              <a:t>flow monitoring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Retirement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Artifact deletion, non-reconstruction, docs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37EE07-8FC7-53DB-84C7-9A0B52B2456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Model-Lifecycle Data Governance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AI Policy &amp; Responsible 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AUP structure + required prohibitions</a:t>
            </a:r>
          </a:p>
          <a:p>
            <a:r>
              <a:t>Three AUP categories: synthetic media, automated decisions, third-party tools</a:t>
            </a:r>
          </a:p>
          <a:p>
            <a:r>
              <a:t>Review annually + on material AI strategy change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Governance Procedures &amp; Manuals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3 — Dr. Michael Solomon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Intake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DECIDE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Approval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WATCH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RESPOND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Incident Response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Procedure Types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Use case → deployment approval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Requester, owner, purpose, data, risk</a:t>
            </a:r>
          </a:p>
          <a:p>
            <a:r>
              <a:rPr sz="2000">
                <a:latin typeface="Segoe Sans Text"/>
                <a:cs typeface="Segoe Sans Text"/>
              </a:rPr>
              <a:t>Triggers the risk-based track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INTAKE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Standard → program team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Enhanced → security lead</a:t>
            </a:r>
          </a:p>
          <a:p>
            <a:r>
              <a:rPr sz="2000">
                <a:latin typeface="Segoe Sans Text"/>
                <a:cs typeface="Segoe Sans Text"/>
              </a:rPr>
              <a:t>Full → steering committee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APPROVAL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Cadence + escalation per system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Baselines set at deployment</a:t>
            </a:r>
          </a:p>
          <a:p>
            <a:r>
              <a:rPr sz="2000">
                <a:latin typeface="Segoe Sans Text"/>
                <a:cs typeface="Segoe Sans Text"/>
              </a:rPr>
              <a:t>CRI breach → documented escalation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MONITORING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Procedure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Review annually at minimum</a:t>
            </a:r>
          </a:p>
          <a:p>
            <a:r>
              <a:t>Version: number, effective &amp; review date</a:t>
            </a:r>
          </a:p>
          <a:p>
            <a:r>
              <a:t>Gaps = control gaps → risk register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Four procedure types</a:t>
            </a:r>
          </a:p>
          <a:p>
            <a:r>
              <a:t>Authority mapping</a:t>
            </a:r>
          </a:p>
          <a:p>
            <a:r>
              <a:t>Policy &gt; Procedure &gt; Work Instruction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AI Asset Inventory &amp;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4 — Dr. Michael Solomon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Minimum Inventory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ID · name · owner · purpose</a:t>
            </a:r>
          </a:p>
          <a:p>
            <a:r>
              <a:t>Data classification · EU AI Act status</a:t>
            </a:r>
          </a:p>
          <a:p>
            <a:r>
              <a:t>Vendor · risk-register · DPIA refs</a:t>
            </a:r>
          </a:p>
          <a:p>
            <a:r>
              <a:t>Unregistered = program gap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EU AI Act Status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High-risk under Annex III?</a:t>
            </a:r>
          </a:p>
          <a:p>
            <a:r>
              <a:t>Conformity assessment + V&amp;V status</a:t>
            </a:r>
          </a:p>
          <a:p>
            <a:r>
              <a:t>GPAI → provider docs + data summary</a:t>
            </a:r>
          </a:p>
          <a:p>
            <a:r>
              <a:t>Update when classification changes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Model Card Reference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EF5B4-0CF9-12D8-4AF6-3ED9F87FF3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Every system carries a current model card</a:t>
            </a:r>
          </a:p>
          <a:p>
            <a:r>
              <a:rPr lang="en-US"/>
              <a:t>Updated on deploy · change · test cycle</a:t>
            </a:r>
          </a:p>
          <a:p>
            <a:r>
              <a:rPr lang="en-US"/>
              <a:t>Completeness = high-risk deployment gate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Data Classification Link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Records the data classes per system</a:t>
            </a:r>
          </a:p>
          <a:p>
            <a:r>
              <a:t>Drives GDPR · DPIA · retention · access</a:t>
            </a:r>
          </a:p>
          <a:p>
            <a:r>
              <a:t>A change triggers a risk-register review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 dirty="0"/>
              <a:t>Vendor &amp; Supply-</a:t>
            </a:r>
            <a:br>
              <a:rPr lang="en-US" sz="2800" dirty="0"/>
            </a:br>
            <a:r>
              <a:rPr sz="2800" dirty="0"/>
              <a:t>Chain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Name · tier · DD date · monitoring</a:t>
            </a:r>
          </a:p>
          <a:p>
            <a:r>
              <a:t>Sub-supplier fields for tier 1 &amp; 2</a:t>
            </a:r>
          </a:p>
          <a:p>
            <a:r>
              <a:t>Mapping completeness = a dashboard KPI</a:t>
            </a:r>
          </a:p>
          <a:p>
            <a:r>
              <a:t>Concentration risk shows only when mapped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Regulatory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Produced to the DPA on request</a:t>
            </a:r>
          </a:p>
          <a:p>
            <a:r>
              <a:t>Annual review required</a:t>
            </a:r>
          </a:p>
          <a:p>
            <a:r>
              <a:t>Trigger on material program changes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Inventory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Unregistered systems = accepted risks</a:t>
            </a:r>
          </a:p>
          <a:p>
            <a:r>
              <a:t>Logged in the risk register</a:t>
            </a:r>
          </a:p>
          <a:p>
            <a:r>
              <a:t>Exam: know the minimum fields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Min fields · EU status · model card</a:t>
            </a:r>
          </a:p>
          <a:p>
            <a:r>
              <a:t>Data classification · vendor fields</a:t>
            </a:r>
          </a:p>
          <a:p>
            <a:r>
              <a:t>System of record — unregistered = gap</a:t>
            </a:r>
          </a:p>
          <a:p>
            <a:r>
              <a:t>Model card required for high-risk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Cards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5 — Dr. Michael Solomon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a Model Card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Structured doc that accompanies a model</a:t>
            </a:r>
          </a:p>
          <a:p>
            <a:r>
              <a:t>Intended use &amp; performance</a:t>
            </a:r>
          </a:p>
          <a:p>
            <a:r>
              <a:t>Limitations &amp; ethical considerations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EU AI Act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NIST AI RMF</a:t>
            </a:r>
          </a:p>
          <a:p>
            <a:r>
              <a:rPr sz="2000">
                <a:latin typeface="Segoe Sans Text"/>
                <a:cs typeface="Segoe Sans Text"/>
              </a:rPr>
              <a:t>ISO 42001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FROM RESEARCH TOOL → REQUIREMENT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Required for all AI systems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Mandatory pre-deployment (high-risk)</a:t>
            </a:r>
          </a:p>
          <a:p>
            <a:r>
              <a:rPr sz="2000">
                <a:latin typeface="Segoe Sans Text"/>
                <a:cs typeface="Segoe Sans Text"/>
              </a:rPr>
              <a:t>Completeness = deployment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TECHNICAL PASSPORT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Model description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Intended use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Training data summary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Core Sections 1–4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Limitations &amp; failure modes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Fairness assessment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Security section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Audit logging / explainability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Sections 5–8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Source, license, biases, provenance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Ties to the license register</a:t>
            </a:r>
          </a:p>
          <a:p>
            <a:r>
              <a:rPr sz="2000">
                <a:latin typeface="Segoe Sans Text"/>
                <a:cs typeface="Segoe Sans Text"/>
              </a:rPr>
              <a:t>Incomplete = deployment-gate failure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TRAINING DATA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Accuracy + fairness metric &amp; score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Baseline date</a:t>
            </a:r>
          </a:p>
          <a:p>
            <a:r>
              <a:rPr sz="2000">
                <a:latin typeface="Segoe Sans Text"/>
                <a:cs typeface="Segoe Sans Text"/>
              </a:rPr>
              <a:t>Reference for ongoing monitoring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PERFORMANCE &amp; FAIRNESS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Model Card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Created → updated on change → archived</a:t>
            </a:r>
          </a:p>
          <a:p>
            <a:r>
              <a:t>Version must match the model</a:t>
            </a:r>
          </a:p>
          <a:p>
            <a:r>
              <a:t>Security lead signs off (high-risk)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Card structure &amp; required sections</a:t>
            </a:r>
          </a:p>
          <a:p>
            <a:r>
              <a:t>Training-data connection</a:t>
            </a:r>
          </a:p>
          <a:p>
            <a:r>
              <a:t>Completeness = deployment gate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Data Classification &amp; Discovery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6 — Dr. Michael Solomon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 in Discovery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Training stores, model artifacts, inference logs all need classification</a:t>
            </a:r>
          </a:p>
          <a:p>
            <a:r>
              <a:t>New personal data → DPA review</a:t>
            </a:r>
          </a:p>
          <a:p>
            <a:r>
              <a:t>Cross-reference the classification register to the AI asset inventory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Data Safety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Reduce sensitive-data presence before encryption applies</a:t>
            </a:r>
          </a:p>
          <a:p>
            <a:r>
              <a:t>Masking, redaction, minimization operate at ingestion</a:t>
            </a:r>
          </a:p>
          <a:p>
            <a:r>
              <a:t>The most secure data is the data never collected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Data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Tiers: public, internal, confidential, restricted</a:t>
            </a:r>
          </a:p>
          <a:p>
            <a:r>
              <a:t>Label training sets; segment retrieval corpora</a:t>
            </a:r>
          </a:p>
          <a:p>
            <a:r>
              <a:t>Classify at ingestion, not retroactively</a:t>
            </a:r>
          </a:p>
          <a:p>
            <a:r>
              <a:t>Unlabeled regulated data = policy failure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Static Masking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Permanent, irreversible transformation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Dynamic Masking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Runtime hide; storage unchanged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Tokenization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Reversible tokens + secure mapping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Redaction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Removes content entirely — highest protection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571C7E-3ADE-8F79-C852-D9E740A51C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Masking and Redaction Techniques</a:t>
            </a:r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Data Minimization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Collect only what's necessary — metadata may suffice</a:t>
            </a:r>
          </a:p>
          <a:p>
            <a:r>
              <a:t>Limit retention duration</a:t>
            </a:r>
          </a:p>
          <a:p>
            <a:r>
              <a:t>Purpose-bound usage; no repurposing</a:t>
            </a:r>
          </a:p>
          <a:p>
            <a:r>
              <a:t>Accumulation is unbounded exposure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Continuous ingestion must be paired with disciplined pruning</a:t>
            </a:r>
          </a:p>
          <a:p>
            <a:r>
              <a:rPr dirty="0"/>
              <a:t>Accumulation without governance is exposure without bound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dirty="0"/>
              <a:t>SHORTER RETENTION = SMALLER </a:t>
            </a:r>
            <a:br>
              <a:rPr lang="en-US" dirty="0"/>
            </a:br>
            <a:r>
              <a:rPr dirty="0"/>
              <a:t>BREACH SURFACE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Program-Plan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Classification determines GDPR obligations + DPA + retention</a:t>
            </a:r>
          </a:p>
          <a:p>
            <a:r>
              <a:t>Align with AI-asset-inventory tiers</a:t>
            </a:r>
          </a:p>
          <a:p>
            <a:r>
              <a:t>Restricted / special-category → tier-1 treatment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Classification &amp; Discovery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Classification scheme + discovery for AI systems</a:t>
            </a:r>
          </a:p>
          <a:p>
            <a:r>
              <a:t>Classification drives tier assignment</a:t>
            </a:r>
          </a:p>
          <a:p>
            <a:r>
              <a:t>Restricted / special-category = tier-1 AI treatment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Data Augmentation &amp; Cleaning Controls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7 — Dr. Michael Solomon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Why Data Is a Security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Bad data creates bad models</a:t>
            </a:r>
          </a:p>
          <a:p>
            <a:r>
              <a:t>Compromised data creates compromised models</a:t>
            </a:r>
          </a:p>
          <a:p>
            <a:r>
              <a:t>Objectives: seven controls, quality → security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Traditional AppSec vs AI Data-Origin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Traditional AppSec:</a:t>
            </a:r>
          </a:p>
          <a:p>
            <a:r>
              <a:t>Vulnerability lives in the code</a:t>
            </a:r>
          </a:p>
          <a:p>
            <a:r>
              <a:t>Fix = patch the code</a:t>
            </a:r>
          </a:p>
          <a:p>
            <a:r>
              <a:t>Auditable — read the source</a:t>
            </a:r>
          </a:p>
          <a:p>
            <a:r>
              <a:t>Point-in-time fixes</a:t>
            </a:r>
          </a:p>
          <a:p>
            <a:r>
              <a:t>Attack surface = running app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AI Data-Origin:</a:t>
            </a:r>
          </a:p>
          <a:p>
            <a:r>
              <a:t>Encoded in model weights</a:t>
            </a:r>
          </a:p>
          <a:p>
            <a:r>
              <a:t>Fix = full retraining</a:t>
            </a:r>
          </a:p>
          <a:p>
            <a:r>
              <a:t>Opaque — can't read weights</a:t>
            </a:r>
          </a:p>
          <a:p>
            <a:r>
              <a:t>Found in production</a:t>
            </a:r>
          </a:p>
          <a:p>
            <a:r>
              <a:t>Attack surface = training pipeline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Prevention before training is the only cost-effective control</a:t>
            </a:r>
          </a:p>
          <a:p>
            <a:r>
              <a:t>Data-processing controls ARE security 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PREVENT BEFORE TRAINING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1 Cleansing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Remove invalid / duplicate / injected records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2 Verification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Confirm records are authentic (semantic)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3 Lineage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dirty="0"/>
              <a:t>Track journey </a:t>
            </a:r>
            <a:br>
              <a:rPr lang="en-US" dirty="0"/>
            </a:br>
            <a:r>
              <a:rPr dirty="0"/>
              <a:t>source → training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4 Integrity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Checksums/hashes — unmodified since collection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Seven Data Controls · 1–4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>
                <a:latin typeface="Segoe Sans Text"/>
                <a:cs typeface="Segoe Sans Text"/>
              </a:rPr>
              <a:t> </a:t>
            </a:r>
            <a:r>
              <a:rPr lang="en-US" dirty="0">
                <a:latin typeface="Segoe Sans Text"/>
                <a:cs typeface="Segoe Sans Text"/>
              </a:rPr>
              <a:t>source legitimacy +</a:t>
            </a:r>
            <a:r>
              <a:rPr dirty="0">
                <a:latin typeface="Segoe Sans Text"/>
                <a:cs typeface="Segoe Sans Text"/>
              </a:rPr>
              <a:t> authorization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AEEEA-B535-638A-30CD-C05559B745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7 Balancing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F825B-715D-C973-BD0B-CD843BC534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 dirty="0"/>
              <a:t>proportional class representation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CDBCF8-2737-FB48-F70A-D704594326D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6 Augmentation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19A60D-F837-B472-1FD0-D88F2B6D6B1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/>
              <a:t>review samples for accuracy/bias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62E0C6-E721-E2E8-2DFF-A37B5FE5238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Seven Data Controls · 5-7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A184ED-B2BD-9F95-76D3-2F08295FEF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5 Provenance</a:t>
            </a:r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Controls 1–4 in Depth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Cleansing — structurally valid ≠ safe</a:t>
            </a:r>
          </a:p>
          <a:p>
            <a:r>
              <a:t>Verification — catches semantic fakes</a:t>
            </a:r>
          </a:p>
          <a:p>
            <a:r>
              <a:t>Lineage — evidence chain for in-transit modification</a:t>
            </a:r>
          </a:p>
          <a:p>
            <a:r>
              <a:t>Provenance — trusted source + license (EU AI Act)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Integrity &amp; Provenance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Hash or sign at collection; verify before training</a:t>
            </a:r>
          </a:p>
          <a:p>
            <a:r>
              <a:t>Checksums simplest; signatures stronger</a:t>
            </a:r>
          </a:p>
          <a:p>
            <a:r>
              <a:t>Provenance = security + compliance (EU AI Act, GDPR)</a:t>
            </a:r>
          </a:p>
          <a:p>
            <a:r>
              <a:t>Provenance documents are part of the audit trail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Augmentation &amp; Balancing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Augmentation can introduce systematic distortion</a:t>
            </a:r>
          </a:p>
          <a:p>
            <a:r>
              <a:t>Review augmented samples stay unambiguous</a:t>
            </a:r>
          </a:p>
          <a:p>
            <a:r>
              <a:t>10,000 : 100 balance = a false-negative factory</a:t>
            </a:r>
          </a:p>
          <a:p>
            <a:r>
              <a:t>Imbalance creates predictable blind spots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Augmentation &amp; cleaning steps go in the provenance record</a:t>
            </a:r>
          </a:p>
          <a:p>
            <a:r>
              <a:t>Each transformation must be traceable</a:t>
            </a:r>
          </a:p>
          <a:p>
            <a:r>
              <a:t>Undocumented steps block license-register 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DOCUMENT EVERY TRANSFORMATION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Augmentation &amp; Cleaning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Augmentation &amp; cleaning controls</a:t>
            </a:r>
          </a:p>
          <a:p>
            <a:r>
              <a:t>Provenance documentation requirement</a:t>
            </a:r>
          </a:p>
          <a:p>
            <a:r>
              <a:t>Program integration — quality failures → risk register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Secure Data Storage &amp; Protection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02 · Episode 8 — Dr. Michael Solomon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Data Is More Sensitive </a:t>
            </a:r>
            <a:br>
              <a:rPr lang="en-US" sz="2800" dirty="0"/>
            </a:br>
            <a:r>
              <a:rPr sz="2800" dirty="0"/>
              <a:t>Than the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Training sets hold proprietary + regulated data</a:t>
            </a:r>
          </a:p>
          <a:p>
            <a:r>
              <a:t>Inference-time exposure via prompts + retrieved docs</a:t>
            </a:r>
          </a:p>
          <a:p>
            <a:r>
              <a:t>Data is in motion throughout the system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Model Access ≠ Data Access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RAG + vector DBs expand the exposure surface</a:t>
            </a:r>
          </a:p>
          <a:p>
            <a:r>
              <a:t>Query access must not grant raw-corpus access</a:t>
            </a:r>
          </a:p>
          <a:p>
            <a:r>
              <a:t>Independent control layers</a:t>
            </a:r>
          </a:p>
          <a:p>
            <a:r>
              <a:t>Sensitive leakage → check data access separately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Dataset Segmentation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Classify by sensitivity, then segment by role</a:t>
            </a:r>
          </a:p>
          <a:p>
            <a:r>
              <a:t>Fraud DB → finsec; EDR telemetry → SOC only</a:t>
            </a:r>
          </a:p>
          <a:p>
            <a:r>
              <a:t>Regulated data gets extra isolation + audit</a:t>
            </a:r>
          </a:p>
          <a:p>
            <a:r>
              <a:t>Cross-dataset exposure amplifies bias/privacy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Access Controls: Read vs Write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Differentiate read from write privileges</a:t>
            </a:r>
          </a:p>
          <a:p>
            <a:r>
              <a:t>Only a limited group holds write access</a:t>
            </a:r>
          </a:p>
          <a:p>
            <a:r>
              <a:t>Controlled ingestion with validation + approval</a:t>
            </a:r>
          </a:p>
          <a:p>
            <a:r>
              <a:t>Monitor read-only access for reconnaissance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Data-layer controls are preventative defenses</a:t>
            </a:r>
          </a:p>
          <a:p>
            <a:r>
              <a:t>Document per AI system in the asset inventory</a:t>
            </a:r>
          </a:p>
          <a:p>
            <a:r>
              <a:t>Storage gaps = level-3 monitoring 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STRUCTURALLY ENFORCED, NOT USER TRUST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Deletion of Model-Embedded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Standard deletion misses model-embedded training data</a:t>
            </a:r>
          </a:p>
          <a:p>
            <a:r>
              <a:t>Fine-tuning data persists in model weights</a:t>
            </a:r>
          </a:p>
          <a:p>
            <a:r>
              <a:t>DPA must require written vendor confirmation</a:t>
            </a:r>
          </a:p>
          <a:p>
            <a:r>
              <a:t>'Delete all data' clauses don't cover embedded data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Encryption: Three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Sensitive data exists at every lifecycle stage</a:t>
            </a:r>
          </a:p>
          <a:p>
            <a:r>
              <a:t>At rest, in transit, in use</a:t>
            </a:r>
          </a:p>
          <a:p>
            <a:r>
              <a:t>The exam tests all three independently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 at 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Encrypt training data, corpora, vector DBs, weights</a:t>
            </a:r>
          </a:p>
          <a:p>
            <a:r>
              <a:t>Storage-level + application-level layers</a:t>
            </a:r>
          </a:p>
          <a:p>
            <a:r>
              <a:t>Key governance: isolate keys from data; KMS rotation</a:t>
            </a:r>
          </a:p>
          <a:p>
            <a:r>
              <a:t>Readable data on stolen media = at-rest failure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 in Transit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TLS for all distributed AI communication</a:t>
            </a:r>
          </a:p>
          <a:p>
            <a:r>
              <a:t>Mutual authentication for service-to-service</a:t>
            </a:r>
          </a:p>
          <a:p>
            <a:r>
              <a:t>Certificate-lifecycle management; zero-trust</a:t>
            </a:r>
          </a:p>
          <a:p>
            <a:r>
              <a:t>Intercepted traffic = in-transit failure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Key Governance &amp;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Key rotation, revocation, crypto-operation logging</a:t>
            </a:r>
          </a:p>
          <a:p>
            <a:r>
              <a:t>Regulatory alignment for protected data</a:t>
            </a:r>
          </a:p>
          <a:p>
            <a:r>
              <a:t>Encryption without key governance is insufficient</a:t>
            </a:r>
          </a:p>
          <a:p>
            <a:r>
              <a:t>One layer of defense-in-depth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Secure Data Storage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Storage controls + MFA + least privilege</a:t>
            </a:r>
          </a:p>
          <a:p>
            <a:r>
              <a:t>Deletion obligations for model-embedded data</a:t>
            </a:r>
          </a:p>
          <a:p>
            <a:r>
              <a:t>Fine-tuning data persists in weights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1046e879-d081-4053-adba-52e34fa7725d"/>
    <ds:schemaRef ds:uri="http://schemas.microsoft.com/office/2006/metadata/properties"/>
    <ds:schemaRef ds:uri="http://schemas.microsoft.com/office/2006/documentManagement/types"/>
    <ds:schemaRef ds:uri="76027dd9-77cd-484f-b6db-8bbe1351c2b5"/>
    <ds:schemaRef ds:uri="http://schemas.microsoft.com/office/infopath/2007/PartnerControls"/>
    <ds:schemaRef ds:uri="http://schemas.openxmlformats.org/package/2006/metadata/core-properties"/>
    <ds:schemaRef ds:uri="13a0c8d5-cff5-4140-b58f-0947a5552a6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17</TotalTime>
  <Words>2010</Words>
  <Application>Microsoft Office PowerPoint</Application>
  <PresentationFormat>Widescreen</PresentationFormat>
  <Paragraphs>400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Aptos</vt:lpstr>
      <vt:lpstr>Arial</vt:lpstr>
      <vt:lpstr>Segoe Sans Text</vt:lpstr>
      <vt:lpstr>Segoe Sans Text ExtraBold</vt:lpstr>
      <vt:lpstr>AAISM_PPT_Template</vt:lpstr>
      <vt:lpstr>Buy vs Build Decision Governance</vt:lpstr>
      <vt:lpstr>PowerPoint Presentation</vt:lpstr>
      <vt:lpstr>PowerPoint Presentation</vt:lpstr>
      <vt:lpstr>PowerPoint Presentation</vt:lpstr>
      <vt:lpstr>PowerPoint Presentation</vt:lpstr>
      <vt:lpstr>API Access → Deployer</vt:lpstr>
      <vt:lpstr>PowerPoint Presentation</vt:lpstr>
      <vt:lpstr>PowerPoint Presentation</vt:lpstr>
      <vt:lpstr>PowerPoint Presentation</vt:lpstr>
      <vt:lpstr>PowerPoint Presentation</vt:lpstr>
      <vt:lpstr>AI Policy Development &amp; Responsible Use</vt:lpstr>
      <vt:lpstr>Five Responsible-AI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· Responsible-AI Scorecard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Governance Procedures &amp; Manuals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</vt:lpstr>
      <vt:lpstr>AI Asset Inventory &amp; Documentation</vt:lpstr>
      <vt:lpstr>PowerPoint Presentation</vt:lpstr>
      <vt:lpstr>PowerPoint Presentation</vt:lpstr>
      <vt:lpstr>PowerPoint Presentation</vt:lpstr>
      <vt:lpstr>PowerPoint Presentation</vt:lpstr>
      <vt:lpstr>Vendor &amp; Supply- Chain Fields</vt:lpstr>
      <vt:lpstr>PowerPoint Presentation</vt:lpstr>
      <vt:lpstr>PowerPoint Presentation</vt:lpstr>
      <vt:lpstr>PowerPoint Presentation</vt:lpstr>
      <vt:lpstr>Model Cards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</vt:lpstr>
      <vt:lpstr>Data Classification &amp; Discovery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Augmentation &amp; Cleaning Controls</vt:lpstr>
      <vt:lpstr>PowerPoint Presentation</vt:lpstr>
      <vt:lpstr>Traditional AppSec vs AI Data-Origin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Secure Data Storage &amp; Protection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7</cp:revision>
  <cp:lastPrinted>2026-03-03T20:52:42Z</cp:lastPrinted>
  <dcterms:created xsi:type="dcterms:W3CDTF">2025-05-21T23:03:00Z</dcterms:created>
  <dcterms:modified xsi:type="dcterms:W3CDTF">2026-08-10T22:23:03Z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