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4"/>
  </p:sldMasterIdLst>
  <p:notesMasterIdLst>
    <p:notesMasterId r:id="rId38"/>
  </p:notesMasterIdLst>
  <p:handoutMasterIdLst>
    <p:handoutMasterId r:id="rId39"/>
  </p:handoutMasterIdLst>
  <p:sldIdLst>
    <p:sldId id="2580" r:id="rId5"/>
    <p:sldId id="2581" r:id="rId6"/>
    <p:sldId id="2582" r:id="rId7"/>
    <p:sldId id="2583" r:id="rId8"/>
    <p:sldId id="2584" r:id="rId9"/>
    <p:sldId id="2585" r:id="rId10"/>
    <p:sldId id="2586" r:id="rId11"/>
    <p:sldId id="2587" r:id="rId12"/>
    <p:sldId id="2589" r:id="rId13"/>
    <p:sldId id="2590" r:id="rId14"/>
    <p:sldId id="2591" r:id="rId15"/>
    <p:sldId id="2592" r:id="rId16"/>
    <p:sldId id="2594" r:id="rId17"/>
    <p:sldId id="2596" r:id="rId18"/>
    <p:sldId id="2597" r:id="rId19"/>
    <p:sldId id="2599" r:id="rId20"/>
    <p:sldId id="2600" r:id="rId21"/>
    <p:sldId id="2601" r:id="rId22"/>
    <p:sldId id="2602" r:id="rId23"/>
    <p:sldId id="2603" r:id="rId24"/>
    <p:sldId id="2588" r:id="rId25"/>
    <p:sldId id="2604" r:id="rId26"/>
    <p:sldId id="2606" r:id="rId27"/>
    <p:sldId id="2607" r:id="rId28"/>
    <p:sldId id="2593" r:id="rId29"/>
    <p:sldId id="2608" r:id="rId30"/>
    <p:sldId id="2610" r:id="rId31"/>
    <p:sldId id="2611" r:id="rId32"/>
    <p:sldId id="2612" r:id="rId33"/>
    <p:sldId id="2613" r:id="rId34"/>
    <p:sldId id="2614" r:id="rId35"/>
    <p:sldId id="2615" r:id="rId36"/>
    <p:sldId id="261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s" id="{C7096EA7-3C19-4043-8044-919E80557B30}">
          <p14:sldIdLst>
            <p14:sldId id="2580"/>
            <p14:sldId id="2581"/>
            <p14:sldId id="2582"/>
            <p14:sldId id="2583"/>
            <p14:sldId id="2584"/>
            <p14:sldId id="2585"/>
            <p14:sldId id="2586"/>
            <p14:sldId id="2587"/>
            <p14:sldId id="2589"/>
            <p14:sldId id="2590"/>
            <p14:sldId id="2591"/>
            <p14:sldId id="2592"/>
            <p14:sldId id="2594"/>
            <p14:sldId id="2596"/>
            <p14:sldId id="2597"/>
            <p14:sldId id="2599"/>
            <p14:sldId id="2600"/>
            <p14:sldId id="2601"/>
            <p14:sldId id="2602"/>
            <p14:sldId id="2603"/>
            <p14:sldId id="2588"/>
            <p14:sldId id="2604"/>
            <p14:sldId id="2606"/>
            <p14:sldId id="2607"/>
            <p14:sldId id="2593"/>
            <p14:sldId id="2608"/>
            <p14:sldId id="2610"/>
            <p14:sldId id="2611"/>
            <p14:sldId id="2612"/>
            <p14:sldId id="2613"/>
            <p14:sldId id="2614"/>
            <p14:sldId id="2615"/>
            <p14:sldId id="2618"/>
          </p14:sldIdLst>
        </p14:section>
        <p14:section name="Optional Layouts" id="{06CC3140-8FC6-084B-A5CE-CF002997860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3D"/>
    <a:srgbClr val="6CC24A"/>
    <a:srgbClr val="0079DF"/>
    <a:srgbClr val="0070C0"/>
    <a:srgbClr val="FFFFFF"/>
    <a:srgbClr val="FFC32D"/>
    <a:srgbClr val="00AFEF"/>
    <a:srgbClr val="90C84B"/>
    <a:srgbClr val="F26B35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62A12-D8D2-FDC9-F5C3-D600E75F0C78}" v="15" dt="2026-07-10T19:29:53.471"/>
    <p1510:client id="{702A0DEA-16E1-8A83-52D1-58437DC4C9A3}" v="2" dt="2026-07-10T19:28:51.553"/>
    <p1510:client id="{95444DA8-5195-C841-800C-B8642087942B}" v="67" dt="2026-07-09T19:33:34.302"/>
    <p1510:client id="{AC9A515C-C925-439E-8A0F-FD0883022584}" v="1" dt="2026-07-10T18:36:24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401" y="180716"/>
            <a:ext cx="11887199" cy="6496568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4D38536-57AB-5EAB-9CE8-9796DAF1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160C0A1-5692-F2A8-A18C-A2194E5352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8" y="2286000"/>
            <a:ext cx="10058400" cy="4023360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FACEC5-4969-F3A0-4BA7-BFFD0245B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10B99AC-155F-3A58-AB62-070ACE105579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464553C6-B8E8-FE32-AF30-0A1591CA3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5D9B330B-7590-B21F-FCF4-74387F173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F40F2BA8-9C33-77BE-CC02-0ED983F5F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Multipl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4E4ACA-29F5-C83F-5764-FD89B1F4E828}"/>
              </a:ext>
            </a:extLst>
          </p:cNvPr>
          <p:cNvSpPr/>
          <p:nvPr userDrawn="1"/>
        </p:nvSpPr>
        <p:spPr>
          <a:xfrm>
            <a:off x="7090064" y="1659491"/>
            <a:ext cx="4587898" cy="4415743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9CCDAF-14B9-0D6E-071B-33A6643E178C}"/>
              </a:ext>
            </a:extLst>
          </p:cNvPr>
          <p:cNvCxnSpPr>
            <a:cxnSpLocks/>
          </p:cNvCxnSpPr>
          <p:nvPr/>
        </p:nvCxnSpPr>
        <p:spPr>
          <a:xfrm>
            <a:off x="-4875379" y="6378417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42">
            <a:extLst>
              <a:ext uri="{FF2B5EF4-FFF2-40B4-BE49-F238E27FC236}">
                <a16:creationId xmlns:a16="http://schemas.microsoft.com/office/drawing/2014/main" id="{C7C7C8E9-FEB4-209E-EAD7-6BC6CB8E9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275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2">
            <a:extLst>
              <a:ext uri="{FF2B5EF4-FFF2-40B4-BE49-F238E27FC236}">
                <a16:creationId xmlns:a16="http://schemas.microsoft.com/office/drawing/2014/main" id="{BC996D52-2E93-F9D8-A886-A01A83DD1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275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2">
            <a:extLst>
              <a:ext uri="{FF2B5EF4-FFF2-40B4-BE49-F238E27FC236}">
                <a16:creationId xmlns:a16="http://schemas.microsoft.com/office/drawing/2014/main" id="{5DC7264E-E2D6-671E-B9C8-A414A85DAE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55771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3689FD6F-655A-D6A8-1737-574978BD91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5771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733429DA-67C0-6FE0-823C-85CE3005BA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9275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2">
            <a:extLst>
              <a:ext uri="{FF2B5EF4-FFF2-40B4-BE49-F238E27FC236}">
                <a16:creationId xmlns:a16="http://schemas.microsoft.com/office/drawing/2014/main" id="{F67AE1BD-0EA2-83E4-1CDD-25AA52342B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9275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2">
            <a:extLst>
              <a:ext uri="{FF2B5EF4-FFF2-40B4-BE49-F238E27FC236}">
                <a16:creationId xmlns:a16="http://schemas.microsoft.com/office/drawing/2014/main" id="{C55217DB-FE37-17F4-A822-C83DA878DC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55771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2">
            <a:extLst>
              <a:ext uri="{FF2B5EF4-FFF2-40B4-BE49-F238E27FC236}">
                <a16:creationId xmlns:a16="http://schemas.microsoft.com/office/drawing/2014/main" id="{5D503262-4B9C-D6DB-D846-CE6423FFF3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5771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A337E456-4BEB-B2DF-0DF4-D0E9B0DBE4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9275" y="5433775"/>
            <a:ext cx="5439151" cy="294800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8FE9EA60-14EE-1EE6-7912-4994FB26F3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9275" y="5792130"/>
            <a:ext cx="5439151" cy="403534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BCFC70CF-89AB-2A62-E0D7-6008642E6B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59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725A4B-76B5-3FBB-9BAA-70260131915B}"/>
              </a:ext>
            </a:extLst>
          </p:cNvPr>
          <p:cNvSpPr/>
          <p:nvPr userDrawn="1"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4630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19" y="1568741"/>
            <a:ext cx="4847159" cy="460345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49CE33-B8B3-2D75-95E4-7E6D376D8E78}"/>
              </a:ext>
            </a:extLst>
          </p:cNvPr>
          <p:cNvSpPr/>
          <p:nvPr userDrawn="1"/>
        </p:nvSpPr>
        <p:spPr>
          <a:xfrm>
            <a:off x="7327686" y="723129"/>
            <a:ext cx="3817856" cy="5411741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4911D5E0-19C5-9584-815B-507E057942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4431" y="723129"/>
            <a:ext cx="6146586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10C0D632-510F-3DE6-4496-83F41BABFB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375794"/>
            <a:ext cx="6146586" cy="4759075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_with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0F5E74-C5CB-EE18-A3E1-8B7B3BE1019D}"/>
              </a:ext>
            </a:extLst>
          </p:cNvPr>
          <p:cNvSpPr/>
          <p:nvPr userDrawn="1"/>
        </p:nvSpPr>
        <p:spPr>
          <a:xfrm>
            <a:off x="830745" y="2070524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DA3E61-FBF4-0B4E-E307-2D0CFB2383AB}"/>
              </a:ext>
            </a:extLst>
          </p:cNvPr>
          <p:cNvSpPr/>
          <p:nvPr userDrawn="1"/>
        </p:nvSpPr>
        <p:spPr>
          <a:xfrm>
            <a:off x="830745" y="2081241"/>
            <a:ext cx="2739716" cy="173022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 Placeholder 42">
            <a:extLst>
              <a:ext uri="{FF2B5EF4-FFF2-40B4-BE49-F238E27FC236}">
                <a16:creationId xmlns:a16="http://schemas.microsoft.com/office/drawing/2014/main" id="{16CD5EB2-C966-9CE5-B2EF-DC57A3EDF5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08941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4D1CD856-FB4D-247B-850C-15FDC2AE30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941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2">
            <a:extLst>
              <a:ext uri="{FF2B5EF4-FFF2-40B4-BE49-F238E27FC236}">
                <a16:creationId xmlns:a16="http://schemas.microsoft.com/office/drawing/2014/main" id="{5EAD42C6-911D-9028-DDDE-ED7EC2EDC6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08941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D564146D-BC49-92E0-396D-89ED83F08F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08941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2">
            <a:extLst>
              <a:ext uri="{FF2B5EF4-FFF2-40B4-BE49-F238E27FC236}">
                <a16:creationId xmlns:a16="http://schemas.microsoft.com/office/drawing/2014/main" id="{D767864E-6A31-8E42-F96B-9D66308275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13279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2">
            <a:extLst>
              <a:ext uri="{FF2B5EF4-FFF2-40B4-BE49-F238E27FC236}">
                <a16:creationId xmlns:a16="http://schemas.microsoft.com/office/drawing/2014/main" id="{B5436DB4-D46F-AB47-30BA-CDFFB6B49F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13279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2">
            <a:extLst>
              <a:ext uri="{FF2B5EF4-FFF2-40B4-BE49-F238E27FC236}">
                <a16:creationId xmlns:a16="http://schemas.microsoft.com/office/drawing/2014/main" id="{D2D2CF00-3BEB-912A-7690-FEBD9090DD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13279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2">
            <a:extLst>
              <a:ext uri="{FF2B5EF4-FFF2-40B4-BE49-F238E27FC236}">
                <a16:creationId xmlns:a16="http://schemas.microsoft.com/office/drawing/2014/main" id="{E164BD6D-AECC-321A-E90D-FF1C014386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113279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768A1-D02A-96FE-29B5-D21CCF781C0D}"/>
              </a:ext>
            </a:extLst>
          </p:cNvPr>
          <p:cNvSpPr/>
          <p:nvPr userDrawn="1"/>
        </p:nvSpPr>
        <p:spPr>
          <a:xfrm>
            <a:off x="830745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9C4F6D-A0FC-D651-701A-2830B673DC51}"/>
              </a:ext>
            </a:extLst>
          </p:cNvPr>
          <p:cNvSpPr/>
          <p:nvPr userDrawn="1"/>
        </p:nvSpPr>
        <p:spPr>
          <a:xfrm>
            <a:off x="6235083" y="2081241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412933-24E0-59C1-F8F1-B61D91DF16C1}"/>
              </a:ext>
            </a:extLst>
          </p:cNvPr>
          <p:cNvSpPr/>
          <p:nvPr userDrawn="1"/>
        </p:nvSpPr>
        <p:spPr>
          <a:xfrm>
            <a:off x="6235083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EF3240BB-1BE2-D3FA-71B3-6B911A3158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1CA91-7871-7EEF-850C-A2E07805476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44126652-E4C7-3337-7D65-36D70EF9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5C7837FF-55AE-5C42-0052-95B901085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5">
              <a:extLst>
                <a:ext uri="{FF2B5EF4-FFF2-40B4-BE49-F238E27FC236}">
                  <a16:creationId xmlns:a16="http://schemas.microsoft.com/office/drawing/2014/main" id="{158A825B-27A9-8B2F-5DA2-60C926A3A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81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/>
      <p:bldP spid="10" grpId="0" animBg="1"/>
      <p:bldP spid="12" grpId="0" animBg="1"/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Top with Text O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399" y="164032"/>
            <a:ext cx="11887199" cy="404670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687536"/>
            <a:ext cx="9973455" cy="9387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5656642"/>
            <a:ext cx="9973455" cy="45720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007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HS with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A245D79-8386-DABE-53EC-D23D2D196FB9}"/>
              </a:ext>
            </a:extLst>
          </p:cNvPr>
          <p:cNvSpPr/>
          <p:nvPr userDrawn="1"/>
        </p:nvSpPr>
        <p:spPr>
          <a:xfrm>
            <a:off x="1316427" y="1655064"/>
            <a:ext cx="3649273" cy="3649272"/>
          </a:xfrm>
          <a:prstGeom prst="ellipse">
            <a:avLst/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F46A82-71BF-F4CF-0CCA-F8EDE46E1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891" y="685800"/>
            <a:ext cx="5910407" cy="175259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C3E55B71-84F9-223B-46EC-202E6DCC1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8946" y="2971800"/>
            <a:ext cx="5910417" cy="32003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1F9AE9-4D1B-F10A-6C35-328127A9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/H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F39E82-A876-DB43-2155-B467EEC7495E}"/>
              </a:ext>
            </a:extLst>
          </p:cNvPr>
          <p:cNvSpPr/>
          <p:nvPr userDrawn="1"/>
        </p:nvSpPr>
        <p:spPr>
          <a:xfrm>
            <a:off x="7010401" y="1721141"/>
            <a:ext cx="4571999" cy="4154370"/>
          </a:xfrm>
          <a:prstGeom prst="roundRect">
            <a:avLst>
              <a:gd name="adj" fmla="val 3969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EFD2888-AFCC-8F6C-23EA-6CC9E518F2B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74430" y="1721141"/>
            <a:ext cx="5977130" cy="415625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D7B2E1-3857-60DC-4A59-90051A146598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695288CE-EA3E-77BC-98EF-17D52D2BB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6906A4B7-5DDC-1476-CFD5-2F5DFFD4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4375CD8A-A423-E39D-3A64-2E26D3323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D01C904B-D90B-04B0-5AA7-E2CF9756D8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1007970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7B80538-E0C0-8B37-2CBC-715464F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C0431DD-A630-224B-A787-6BF3732EE1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B9CDF450-BB1A-E96B-F44C-F881C731657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3608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E2D18C-90AA-6695-2849-42F0DF3B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pisode Title"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EC42AA-27BF-B007-BB04-09C8C9EC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24" y="1821900"/>
            <a:ext cx="10058376" cy="230332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02356A-0FAC-18A7-430E-172D662A1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24" y="4337220"/>
            <a:ext cx="8229593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41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ep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435440-213B-C667-2EBF-8629860DBD4D}"/>
              </a:ext>
            </a:extLst>
          </p:cNvPr>
          <p:cNvSpPr/>
          <p:nvPr userDrawn="1"/>
        </p:nvSpPr>
        <p:spPr>
          <a:xfrm>
            <a:off x="645111" y="1476738"/>
            <a:ext cx="4039848" cy="471694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>
            <a:noFill/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183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95401-05E7-2FB1-B1F7-AA9B27AD52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1" y="0"/>
            <a:ext cx="12223751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E2FF643-8127-476F-F25A-C06D0551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93BF79-CC69-E772-9BF9-DAB9ECC07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8FE52-BA7D-6403-12A9-AB2F150B7C18}"/>
              </a:ext>
            </a:extLst>
          </p:cNvPr>
          <p:cNvCxnSpPr>
            <a:cxnSpLocks/>
          </p:cNvCxnSpPr>
          <p:nvPr/>
        </p:nvCxnSpPr>
        <p:spPr>
          <a:xfrm>
            <a:off x="838200" y="6336472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row of different colors&#10;&#10;AI-generated content may be incorrect.">
            <a:extLst>
              <a:ext uri="{FF2B5EF4-FFF2-40B4-BE49-F238E27FC236}">
                <a16:creationId xmlns:a16="http://schemas.microsoft.com/office/drawing/2014/main" id="{51267AAB-D7A7-4439-B78C-82E20D4F0A1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45066" y="2457681"/>
            <a:ext cx="6867093" cy="19517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86F249-C031-21A6-4EBB-289339D6FBB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97A1ACA9-1A1F-C402-ABCA-CE07E1AF3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348E2D1C-60C8-B3BB-2FD2-73893F612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C29DD7D2-2DD0-8394-2C58-02C9D289F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9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908" r:id="rId2"/>
    <p:sldLayoutId id="2147483960" r:id="rId3"/>
    <p:sldLayoutId id="2147483916" r:id="rId4"/>
    <p:sldLayoutId id="2147483965" r:id="rId5"/>
    <p:sldLayoutId id="2147483967" r:id="rId6"/>
    <p:sldLayoutId id="2147483975" r:id="rId7"/>
    <p:sldLayoutId id="2147483903" r:id="rId8"/>
    <p:sldLayoutId id="2147483923" r:id="rId9"/>
    <p:sldLayoutId id="2147483939" r:id="rId10"/>
    <p:sldLayoutId id="2147483969" r:id="rId11"/>
    <p:sldLayoutId id="214748395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/>
          </a:solidFill>
          <a:latin typeface="Segoe Sans Text ExtraBold" pitchFamily="2" charset="0"/>
          <a:ea typeface="+mj-ea"/>
          <a:cs typeface="Segoe Sans Text ExtraBold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6CC24A"/>
          </p15:clr>
        </p15:guide>
        <p15:guide id="2" pos="3840" userDrawn="1">
          <p15:clr>
            <a:srgbClr val="6CC24A"/>
          </p15:clr>
        </p15:guide>
        <p15:guide id="3" pos="7296" userDrawn="1">
          <p15:clr>
            <a:srgbClr val="6CC24A"/>
          </p15:clr>
        </p15:guide>
        <p15:guide id="4" pos="384" userDrawn="1">
          <p15:clr>
            <a:srgbClr val="6CC24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About the AAISM Exam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00 · Episode 1 — Dr. Michael Solomon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What the certification is</a:t>
            </a:r>
          </a:p>
          <a:p>
            <a:r>
              <a:t>What the exam looks like</a:t>
            </a:r>
          </a:p>
          <a:p>
            <a:r>
              <a:t>What it can do for your career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800">
                <a:latin typeface="Segoe Sans Text"/>
                <a:cs typeface="Segoe Sans Text"/>
              </a:rPr>
              <a:t>What is AAISM?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Practitioner-level credential</a:t>
            </a:r>
          </a:p>
          <a:p>
            <a:r>
              <a:t>Audit, risk &amp; governance pros</a:t>
            </a:r>
          </a:p>
          <a:p>
            <a:r>
              <a:t>AI meets enterprise security</a:t>
            </a:r>
          </a:p>
          <a:p>
            <a:r>
              <a:t>Not purely technical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A risk &amp; control perspective</a:t>
            </a:r>
          </a:p>
          <a:p>
            <a:r>
              <a:t>Evaluate, govern &amp; audit AI</a:t>
            </a:r>
          </a:p>
          <a:p>
            <a:r>
              <a:t>Not build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THE LENS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AAISM</a:t>
            </a:r>
          </a:p>
        </p:txBody>
      </p:sp>
      <p:sp>
        <p:nvSpPr>
          <p:cNvPr id="3" name="Subtitle 2"/>
          <p:cNvSpPr>
            <a:spLocks noGrp="1"/>
          </p:cNvSpPr>
          <p:nvPr>
            <p:ph sz="quarter" idx="14"/>
          </p:nvPr>
        </p:nvSpPr>
        <p:spPr>
          <a:xfrm>
            <a:off x="731519" y="1851770"/>
            <a:ext cx="4847159" cy="4603459"/>
          </a:xfrm>
        </p:spPr>
        <p:txBody>
          <a:bodyPr/>
          <a:lstStyle/>
          <a:p>
            <a:r>
              <a:t>Advanced in AI Security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CISA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RISK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CRISC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CISM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AI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AAISM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An ISACA Credential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Assess risk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Evaluate controls</a:t>
            </a:r>
          </a:p>
          <a:p>
            <a:r>
              <a:rPr sz="2000">
                <a:latin typeface="Segoe Sans Text"/>
                <a:cs typeface="Segoe Sans Text"/>
              </a:rPr>
              <a:t>Interpret frameworks</a:t>
            </a:r>
          </a:p>
          <a:p>
            <a:r>
              <a:rPr sz="2000">
                <a:latin typeface="Segoe Sans Text"/>
                <a:cs typeface="Segoe Sans Text"/>
              </a:rPr>
              <a:t>Advise leadership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WHAT IT COVERS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Internal auditors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IT risk professionals</a:t>
            </a:r>
          </a:p>
          <a:p>
            <a:r>
              <a:rPr sz="2000">
                <a:latin typeface="Segoe Sans Text"/>
                <a:cs typeface="Segoe Sans Text"/>
              </a:rPr>
              <a:t>Security managers</a:t>
            </a:r>
          </a:p>
          <a:p>
            <a:r>
              <a:rPr sz="2000">
                <a:latin typeface="Segoe Sans Text"/>
                <a:cs typeface="Segoe Sans Text"/>
              </a:rPr>
              <a:t>Compliance officers</a:t>
            </a:r>
          </a:p>
          <a:p>
            <a:r>
              <a:rPr sz="2000">
                <a:latin typeface="Segoe Sans Text"/>
                <a:cs typeface="Segoe Sans Text"/>
              </a:rPr>
              <a:t>Consultants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WHO IT'S FOR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How AI introduces risk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Evaluating controls over AI</a:t>
            </a:r>
          </a:p>
          <a:p>
            <a:r>
              <a:rPr sz="2000">
                <a:latin typeface="Segoe Sans Text"/>
                <a:cs typeface="Segoe Sans Text"/>
              </a:rPr>
              <a:t>Applying audit &amp; governance frameworks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WHAT IT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Built on ISACA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Control objectives</a:t>
            </a:r>
          </a:p>
          <a:p>
            <a:r>
              <a:t>Audit evidence</a:t>
            </a:r>
          </a:p>
          <a:p>
            <a:r>
              <a:t>Risk assessment</a:t>
            </a:r>
          </a:p>
          <a:p>
            <a:r>
              <a:t>Governance oversight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From Frameworks to AI Domains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COBIT + IT Audit Framework</a:t>
            </a:r>
          </a:p>
          <a:p>
            <a:r>
              <a:t>AI risk identification</a:t>
            </a:r>
          </a:p>
          <a:p>
            <a:r>
              <a:t>Algorithm audit techniques</a:t>
            </a:r>
          </a:p>
          <a:p>
            <a:r>
              <a:t>Data governance &amp; compliance for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IF YOU HOLD CISA / CISM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The methodology is familiar</a:t>
            </a:r>
          </a:p>
          <a:p>
            <a:r>
              <a:t>New = AI-specific risk &amp; control vocabulary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Boards are asking audit committees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Regulators in the EU, UK &amp; US</a:t>
            </a:r>
          </a:p>
          <a:p>
            <a:r>
              <a:rPr sz="2000">
                <a:latin typeface="Segoe Sans Text"/>
                <a:cs typeface="Segoe Sans Text"/>
              </a:rPr>
              <a:t>Documented AI governance now expected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THE PRESSURE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Up Next — Episode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The exam structure</a:t>
            </a:r>
          </a:p>
          <a:p>
            <a:r>
              <a:t>Domains &amp; question counts</a:t>
            </a:r>
          </a:p>
          <a:p>
            <a:r>
              <a:t>How to prepare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AAISM Exam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00 · Episode 2 — Format · Domains · Scoring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1800">
                <a:latin typeface="Segoe Sans Text"/>
                <a:cs typeface="Segoe Sans Text"/>
              </a:rPr>
              <a:t>Scenario-based, multiple choice</a:t>
            </a:r>
            <a:endParaRPr lang="en-US" sz="1800">
              <a:latin typeface="Segoe Sans Text"/>
              <a:cs typeface="Segoe Sans Text"/>
            </a:endParaRPr>
          </a:p>
          <a:p>
            <a:r>
              <a:rPr sz="1800">
                <a:latin typeface="Segoe Sans Text"/>
                <a:cs typeface="Segoe Sans Text"/>
              </a:rPr>
              <a:t>Authorized test center or online proctor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EXAM LOGISTICS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egoe Sans Text"/>
                <a:cs typeface="Segoe Sans Text"/>
              </a:rPr>
              <a:t>2.5 hours, scenario-based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5329E-C81C-2640-D2B1-D232354857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709622"/>
            <a:ext cx="6146586" cy="44252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egoe Sans Text"/>
                <a:cs typeface="Segoe Sans Text"/>
              </a:rPr>
              <a:t>90 Questions -  150 minutes</a:t>
            </a:r>
          </a:p>
          <a:p>
            <a:r>
              <a:rPr lang="en-US">
                <a:latin typeface="Segoe Sans Text"/>
                <a:cs typeface="Segoe Sans Text"/>
              </a:rPr>
              <a:t>Passing Score: 450 / 800</a:t>
            </a:r>
            <a:endParaRPr lang="en-US"/>
          </a:p>
          <a:p>
            <a:r>
              <a:rPr lang="en-US">
                <a:latin typeface="Segoe Sans Text"/>
                <a:cs typeface="Segoe Sans Text"/>
              </a:rPr>
              <a:t>ISACA scaled scoring</a:t>
            </a:r>
            <a:endParaRPr lang="en-US">
              <a:solidFill>
                <a:srgbClr val="000000"/>
              </a:solidFill>
              <a:latin typeface="Segoe Sans Text"/>
              <a:cs typeface="Segoe Sans Text"/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TESTS JUDGMENT, NOT RECALL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Apply principles to real situations</a:t>
            </a:r>
          </a:p>
          <a:p>
            <a:r>
              <a:t>What should the auditor do?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Three Exam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D1 · Governance &amp; Program Mgmt — 31%</a:t>
            </a:r>
          </a:p>
          <a:p>
            <a:r>
              <a:t>D2 · Risk &amp; Opportunity Mgmt — 31%</a:t>
            </a:r>
          </a:p>
          <a:p>
            <a:r>
              <a:t>D3 · Technologies &amp; Controls — 38%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Governance &amp; program management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Frameworks, roles, accountability</a:t>
            </a:r>
          </a:p>
          <a:p>
            <a:r>
              <a:rPr sz="2000">
                <a:latin typeface="Segoe Sans Text"/>
                <a:cs typeface="Segoe Sans Text"/>
              </a:rPr>
              <a:t>Strategic alignment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DOMAIN 1 · 31%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Risk &amp; opportunity management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AI-specific risk ID, assessment, treatment</a:t>
            </a:r>
          </a:p>
          <a:p>
            <a:r>
              <a:rPr sz="2000">
                <a:latin typeface="Segoe Sans Text"/>
                <a:cs typeface="Segoe Sans Text"/>
              </a:rPr>
              <a:t>Differs from traditional IT 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DOMAIN 2 · 31%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Technologies &amp; controls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Data quality, model validation, access</a:t>
            </a:r>
          </a:p>
          <a:p>
            <a:r>
              <a:rPr sz="2000">
                <a:latin typeface="Segoe Sans Text"/>
                <a:cs typeface="Segoe Sans Text"/>
              </a:rPr>
              <a:t>Monitoring &amp; bias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DOMAIN 3 · 38% (heaviest)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Recurring Patterns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The best first step — sequence &amp; priority</a:t>
            </a:r>
          </a:p>
          <a:p>
            <a:r>
              <a:t>The primary risk — most significant</a:t>
            </a:r>
          </a:p>
          <a:p>
            <a:r>
              <a:t>The most effective control — root cause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CISA or CISSP required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IT audit / risk / governance experience</a:t>
            </a:r>
          </a:p>
          <a:p>
            <a:r>
              <a:rPr sz="2000">
                <a:latin typeface="Segoe Sans Text"/>
                <a:cs typeface="Segoe Sans Text"/>
              </a:rPr>
              <a:t>Infosec / compliance background helps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PREREQUISITE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Create an account at isaca.org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Buy the voucher, schedule the exam</a:t>
            </a:r>
          </a:p>
          <a:p>
            <a:r>
              <a:rPr sz="2000">
                <a:latin typeface="Segoe Sans Text"/>
                <a:cs typeface="Segoe Sans Text"/>
              </a:rPr>
              <a:t>Members get a discounted fee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HOW TO REGISTER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What AAISM Does for Your Career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00 · Episode 3 — Professional Value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AI is outpacing governance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Boards want assurance</a:t>
            </a:r>
          </a:p>
          <a:p>
            <a:r>
              <a:rPr sz="2000">
                <a:latin typeface="Segoe Sans Text"/>
                <a:cs typeface="Segoe Sans Text"/>
              </a:rPr>
              <a:t>Teams lack the vocabulary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THE MARKET GAP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HOW AAISM HELPS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Defensible, ISACA-backed credential</a:t>
            </a:r>
          </a:p>
          <a:p>
            <a:r>
              <a:t>Evaluate AI by risk &amp; control</a:t>
            </a:r>
          </a:p>
          <a:p>
            <a:r>
              <a:t>The gap is widening, not closing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SCOPE→AI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Internal audit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RISK REG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IT risk &amp; compliance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ENGAGE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External audit &amp; consulting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GOV LAYER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Security management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Most Impact In Four Contexts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Risk &amp; compliance — credible vocabulary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Consulting — a differentiator</a:t>
            </a:r>
          </a:p>
          <a:p>
            <a:r>
              <a:rPr sz="2000">
                <a:latin typeface="Segoe Sans Text"/>
                <a:cs typeface="Segoe Sans Text"/>
              </a:rPr>
              <a:t>Security — the governance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WHERE IT LANDS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What AAISM Signals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AI risk in governance terms</a:t>
            </a:r>
          </a:p>
          <a:p>
            <a:r>
              <a:t>A structured, replicable method</a:t>
            </a:r>
          </a:p>
          <a:p>
            <a:r>
              <a:t>A commitment to staying current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Habits to Build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Think like an auditor, not a technician</a:t>
            </a:r>
          </a:p>
          <a:p>
            <a:r>
              <a:t>Connect concepts to scenarios</a:t>
            </a:r>
          </a:p>
          <a:p>
            <a:r>
              <a:t>Use ISACA frameworks as anchors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YOUR ANCHORS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COBIT</a:t>
            </a:r>
          </a:p>
          <a:p>
            <a:r>
              <a:t>IT Audit Framework</a:t>
            </a:r>
          </a:p>
          <a:p>
            <a:r>
              <a:t>AI-specific extensions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ISM_PPT_Template">
  <a:themeElements>
    <a:clrScheme name="MCAPS_Blue">
      <a:dk1>
        <a:srgbClr val="4F4F4F"/>
      </a:dk1>
      <a:lt1>
        <a:srgbClr val="FFFFFF"/>
      </a:lt1>
      <a:dk2>
        <a:srgbClr val="4F4F4F"/>
      </a:dk2>
      <a:lt2>
        <a:srgbClr val="FFF8F3"/>
      </a:lt2>
      <a:accent1>
        <a:srgbClr val="0091DA"/>
      </a:accent1>
      <a:accent2>
        <a:srgbClr val="6CC24A"/>
      </a:accent2>
      <a:accent3>
        <a:srgbClr val="49C5B1"/>
      </a:accent3>
      <a:accent4>
        <a:srgbClr val="D59DD7"/>
      </a:accent4>
      <a:accent5>
        <a:srgbClr val="6CC24A"/>
      </a:accent5>
      <a:accent6>
        <a:srgbClr val="0091DA"/>
      </a:accent6>
      <a:hlink>
        <a:srgbClr val="0077D3"/>
      </a:hlink>
      <a:folHlink>
        <a:srgbClr val="0077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radient_PPT_Template" id="{DD4A2566-3BC9-5A4E-B1A7-C82913F696C9}" vid="{9B7D320E-4ACD-7A46-B913-C9EB59A689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46e879-d081-4053-adba-52e34fa7725d" xsi:nil="true"/>
    <lcf76f155ced4ddcb4097134ff3c332f xmlns="76027dd9-77cd-484f-b6db-8bbe1351c2b5">
      <Terms xmlns="http://schemas.microsoft.com/office/infopath/2007/PartnerControls"/>
    </lcf76f155ced4ddcb4097134ff3c332f>
    <Comments xmlns="76027dd9-77cd-484f-b6db-8bbe1351c2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http://schemas.microsoft.com/office/2006/documentManagement/types"/>
    <ds:schemaRef ds:uri="http://www.w3.org/XML/1998/namespace"/>
    <ds:schemaRef ds:uri="76027dd9-77cd-484f-b6db-8bbe1351c2b5"/>
    <ds:schemaRef ds:uri="http://purl.org/dc/elements/1.1/"/>
    <ds:schemaRef ds:uri="1046e879-d081-4053-adba-52e34fa7725d"/>
    <ds:schemaRef ds:uri="13a0c8d5-cff5-4140-b58f-0947a5552a6a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ADABC1A-3DB4-4388-8FB7-5B14A7711A61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Gradient_PPT_Template</Template>
  <TotalTime>0</TotalTime>
  <Words>559</Words>
  <Application>Microsoft Office PowerPoint</Application>
  <PresentationFormat>Widescreen</PresentationFormat>
  <Paragraphs>137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Segoe Sans Text</vt:lpstr>
      <vt:lpstr>Segoe Sans Text ExtraBold</vt:lpstr>
      <vt:lpstr>AAISM_PPT_Template</vt:lpstr>
      <vt:lpstr>About the AAISM Exam</vt:lpstr>
      <vt:lpstr>Your Orientation</vt:lpstr>
      <vt:lpstr>PowerPoint Presentation</vt:lpstr>
      <vt:lpstr>PowerPoint Presentation</vt:lpstr>
      <vt:lpstr>AAISM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AAISM Exam</vt:lpstr>
      <vt:lpstr>PowerPoint Presentation</vt:lpstr>
      <vt:lpstr>PowerPoint Presentation</vt:lpstr>
      <vt:lpstr>PowerPoint Presentation</vt:lpstr>
      <vt:lpstr>Three Exam Domains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AAISM Does for Your Career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</dc:creator>
  <cp:lastModifiedBy>Dana Barineau</cp:lastModifiedBy>
  <cp:revision>3</cp:revision>
  <cp:lastPrinted>2026-08-10T21:38:07Z</cp:lastPrinted>
  <dcterms:created xsi:type="dcterms:W3CDTF">2025-05-21T23:03:00Z</dcterms:created>
  <dcterms:modified xsi:type="dcterms:W3CDTF">2026-08-10T21:38:19Z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0x010100C634B67D360B774FBA94A353DF812505</vt:lpwstr>
  </property>
</Properties>
</file>